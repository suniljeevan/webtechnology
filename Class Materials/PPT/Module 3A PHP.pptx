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4"/>
  </p:sldMasterIdLst>
  <p:notesMasterIdLst>
    <p:notesMasterId r:id="rId85"/>
  </p:notesMasterIdLst>
  <p:handoutMasterIdLst>
    <p:handoutMasterId r:id="rId86"/>
  </p:handoutMasterIdLst>
  <p:sldIdLst>
    <p:sldId id="256" r:id="rId5"/>
    <p:sldId id="426" r:id="rId6"/>
    <p:sldId id="466" r:id="rId7"/>
    <p:sldId id="467" r:id="rId8"/>
    <p:sldId id="468" r:id="rId9"/>
    <p:sldId id="469" r:id="rId10"/>
    <p:sldId id="530" r:id="rId11"/>
    <p:sldId id="475" r:id="rId12"/>
    <p:sldId id="470" r:id="rId13"/>
    <p:sldId id="472" r:id="rId14"/>
    <p:sldId id="473" r:id="rId15"/>
    <p:sldId id="476" r:id="rId16"/>
    <p:sldId id="496" r:id="rId17"/>
    <p:sldId id="498" r:id="rId18"/>
    <p:sldId id="532" r:id="rId19"/>
    <p:sldId id="531" r:id="rId20"/>
    <p:sldId id="478" r:id="rId21"/>
    <p:sldId id="479" r:id="rId22"/>
    <p:sldId id="482" r:id="rId23"/>
    <p:sldId id="480" r:id="rId24"/>
    <p:sldId id="481" r:id="rId25"/>
    <p:sldId id="484" r:id="rId26"/>
    <p:sldId id="486" r:id="rId27"/>
    <p:sldId id="497" r:id="rId28"/>
    <p:sldId id="483" r:id="rId29"/>
    <p:sldId id="485" r:id="rId30"/>
    <p:sldId id="487" r:id="rId31"/>
    <p:sldId id="500" r:id="rId32"/>
    <p:sldId id="501" r:id="rId33"/>
    <p:sldId id="502" r:id="rId34"/>
    <p:sldId id="503" r:id="rId35"/>
    <p:sldId id="552" r:id="rId36"/>
    <p:sldId id="499" r:id="rId37"/>
    <p:sldId id="488" r:id="rId38"/>
    <p:sldId id="489" r:id="rId39"/>
    <p:sldId id="504" r:id="rId40"/>
    <p:sldId id="490" r:id="rId41"/>
    <p:sldId id="491" r:id="rId42"/>
    <p:sldId id="492" r:id="rId43"/>
    <p:sldId id="493" r:id="rId44"/>
    <p:sldId id="494" r:id="rId45"/>
    <p:sldId id="505" r:id="rId46"/>
    <p:sldId id="506" r:id="rId47"/>
    <p:sldId id="507" r:id="rId48"/>
    <p:sldId id="508" r:id="rId49"/>
    <p:sldId id="509" r:id="rId50"/>
    <p:sldId id="510" r:id="rId51"/>
    <p:sldId id="512" r:id="rId52"/>
    <p:sldId id="513" r:id="rId53"/>
    <p:sldId id="514" r:id="rId54"/>
    <p:sldId id="515" r:id="rId55"/>
    <p:sldId id="516" r:id="rId56"/>
    <p:sldId id="517" r:id="rId57"/>
    <p:sldId id="518" r:id="rId58"/>
    <p:sldId id="519" r:id="rId59"/>
    <p:sldId id="520" r:id="rId60"/>
    <p:sldId id="521" r:id="rId61"/>
    <p:sldId id="522" r:id="rId62"/>
    <p:sldId id="524" r:id="rId63"/>
    <p:sldId id="525" r:id="rId64"/>
    <p:sldId id="528" r:id="rId65"/>
    <p:sldId id="527" r:id="rId66"/>
    <p:sldId id="529" r:id="rId67"/>
    <p:sldId id="542" r:id="rId68"/>
    <p:sldId id="533" r:id="rId69"/>
    <p:sldId id="534" r:id="rId70"/>
    <p:sldId id="535" r:id="rId71"/>
    <p:sldId id="536" r:id="rId72"/>
    <p:sldId id="538" r:id="rId73"/>
    <p:sldId id="539" r:id="rId74"/>
    <p:sldId id="541" r:id="rId75"/>
    <p:sldId id="547" r:id="rId76"/>
    <p:sldId id="543" r:id="rId77"/>
    <p:sldId id="544" r:id="rId78"/>
    <p:sldId id="548" r:id="rId79"/>
    <p:sldId id="550" r:id="rId80"/>
    <p:sldId id="549" r:id="rId81"/>
    <p:sldId id="357" r:id="rId82"/>
    <p:sldId id="551" r:id="rId83"/>
    <p:sldId id="300" r:id="rId8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111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theme" Target="theme/theme1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0" Type="http://schemas.openxmlformats.org/officeDocument/2006/relationships/tableStyles" Target="tableStyles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viewProps" Target="viewProps.xml"/><Relationship Id="rId9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presProps" Target="pres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Deepak S Sakkari Assistant Professor( CSE)" userId="6d73bcb8-5d92-40b8-9132-40f6303b79fc" providerId="ADAL" clId="{6A6CE88C-C1CC-4F3A-B486-05240001B6BF}"/>
    <pc:docChg chg="undo custSel delSld modSld modMainMaster">
      <pc:chgData name="Dr. Deepak S Sakkari Assistant Professor( CSE)" userId="6d73bcb8-5d92-40b8-9132-40f6303b79fc" providerId="ADAL" clId="{6A6CE88C-C1CC-4F3A-B486-05240001B6BF}" dt="2020-08-16T18:15:17.333" v="987" actId="1038"/>
      <pc:docMkLst>
        <pc:docMk/>
      </pc:docMkLst>
      <pc:sldChg chg="modSp">
        <pc:chgData name="Dr. Deepak S Sakkari Assistant Professor( CSE)" userId="6d73bcb8-5d92-40b8-9132-40f6303b79fc" providerId="ADAL" clId="{6A6CE88C-C1CC-4F3A-B486-05240001B6BF}" dt="2020-08-16T17:23:01.850" v="61" actId="404"/>
        <pc:sldMkLst>
          <pc:docMk/>
          <pc:sldMk cId="644196155" sldId="257"/>
        </pc:sldMkLst>
        <pc:spChg chg="mod">
          <ac:chgData name="Dr. Deepak S Sakkari Assistant Professor( CSE)" userId="6d73bcb8-5d92-40b8-9132-40f6303b79fc" providerId="ADAL" clId="{6A6CE88C-C1CC-4F3A-B486-05240001B6BF}" dt="2020-08-16T17:23:01.850" v="61" actId="404"/>
          <ac:spMkLst>
            <pc:docMk/>
            <pc:sldMk cId="644196155" sldId="257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7:29:27.503" v="93" actId="948"/>
        <pc:sldMkLst>
          <pc:docMk/>
          <pc:sldMk cId="799294713" sldId="258"/>
        </pc:sldMkLst>
        <pc:spChg chg="mod">
          <ac:chgData name="Dr. Deepak S Sakkari Assistant Professor( CSE)" userId="6d73bcb8-5d92-40b8-9132-40f6303b79fc" providerId="ADAL" clId="{6A6CE88C-C1CC-4F3A-B486-05240001B6BF}" dt="2020-08-16T17:29:27.503" v="93" actId="948"/>
          <ac:spMkLst>
            <pc:docMk/>
            <pc:sldMk cId="799294713" sldId="258"/>
            <ac:spMk id="3" creationId="{00000000-0000-0000-0000-000000000000}"/>
          </ac:spMkLst>
        </pc:spChg>
      </pc:sldChg>
      <pc:sldChg chg="modSp del mod">
        <pc:chgData name="Dr. Deepak S Sakkari Assistant Professor( CSE)" userId="6d73bcb8-5d92-40b8-9132-40f6303b79fc" providerId="ADAL" clId="{6A6CE88C-C1CC-4F3A-B486-05240001B6BF}" dt="2020-08-16T17:29:41.157" v="94" actId="2696"/>
        <pc:sldMkLst>
          <pc:docMk/>
          <pc:sldMk cId="2963534272" sldId="259"/>
        </pc:sldMkLst>
        <pc:spChg chg="mod">
          <ac:chgData name="Dr. Deepak S Sakkari Assistant Professor( CSE)" userId="6d73bcb8-5d92-40b8-9132-40f6303b79fc" providerId="ADAL" clId="{6A6CE88C-C1CC-4F3A-B486-05240001B6BF}" dt="2020-08-16T17:28:28.561" v="87" actId="21"/>
          <ac:spMkLst>
            <pc:docMk/>
            <pc:sldMk cId="2963534272" sldId="259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7:30:03.381" v="98" actId="20577"/>
        <pc:sldMkLst>
          <pc:docMk/>
          <pc:sldMk cId="3981172752" sldId="260"/>
        </pc:sldMkLst>
        <pc:spChg chg="mod">
          <ac:chgData name="Dr. Deepak S Sakkari Assistant Professor( CSE)" userId="6d73bcb8-5d92-40b8-9132-40f6303b79fc" providerId="ADAL" clId="{6A6CE88C-C1CC-4F3A-B486-05240001B6BF}" dt="2020-08-16T17:30:03.381" v="98" actId="20577"/>
          <ac:spMkLst>
            <pc:docMk/>
            <pc:sldMk cId="3981172752" sldId="260"/>
            <ac:spMk id="3" creationId="{00000000-0000-0000-0000-000000000000}"/>
          </ac:spMkLst>
        </pc:spChg>
      </pc:sldChg>
      <pc:sldChg chg="modSp del">
        <pc:chgData name="Dr. Deepak S Sakkari Assistant Professor( CSE)" userId="6d73bcb8-5d92-40b8-9132-40f6303b79fc" providerId="ADAL" clId="{6A6CE88C-C1CC-4F3A-B486-05240001B6BF}" dt="2020-08-16T17:30:44.627" v="99" actId="2696"/>
        <pc:sldMkLst>
          <pc:docMk/>
          <pc:sldMk cId="3009021097" sldId="261"/>
        </pc:sldMkLst>
        <pc:spChg chg="mod">
          <ac:chgData name="Dr. Deepak S Sakkari Assistant Professor( CSE)" userId="6d73bcb8-5d92-40b8-9132-40f6303b79fc" providerId="ADAL" clId="{6A6CE88C-C1CC-4F3A-B486-05240001B6BF}" dt="2020-08-16T17:24:40.253" v="69" actId="404"/>
          <ac:spMkLst>
            <pc:docMk/>
            <pc:sldMk cId="3009021097" sldId="261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24:56.926" v="72" actId="404"/>
        <pc:sldMkLst>
          <pc:docMk/>
          <pc:sldMk cId="1345660431" sldId="262"/>
        </pc:sldMkLst>
        <pc:spChg chg="mod">
          <ac:chgData name="Dr. Deepak S Sakkari Assistant Professor( CSE)" userId="6d73bcb8-5d92-40b8-9132-40f6303b79fc" providerId="ADAL" clId="{6A6CE88C-C1CC-4F3A-B486-05240001B6BF}" dt="2020-08-16T17:24:56.926" v="72" actId="404"/>
          <ac:spMkLst>
            <pc:docMk/>
            <pc:sldMk cId="1345660431" sldId="262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7:32:48.352" v="105" actId="20577"/>
        <pc:sldMkLst>
          <pc:docMk/>
          <pc:sldMk cId="2264661524" sldId="263"/>
        </pc:sldMkLst>
        <pc:spChg chg="mod">
          <ac:chgData name="Dr. Deepak S Sakkari Assistant Professor( CSE)" userId="6d73bcb8-5d92-40b8-9132-40f6303b79fc" providerId="ADAL" clId="{6A6CE88C-C1CC-4F3A-B486-05240001B6BF}" dt="2020-08-16T17:32:48.352" v="105" actId="20577"/>
          <ac:spMkLst>
            <pc:docMk/>
            <pc:sldMk cId="2264661524" sldId="263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7:33:55.233" v="118" actId="20577"/>
        <pc:sldMkLst>
          <pc:docMk/>
          <pc:sldMk cId="2700791281" sldId="264"/>
        </pc:sldMkLst>
        <pc:spChg chg="mod">
          <ac:chgData name="Dr. Deepak S Sakkari Assistant Professor( CSE)" userId="6d73bcb8-5d92-40b8-9132-40f6303b79fc" providerId="ADAL" clId="{6A6CE88C-C1CC-4F3A-B486-05240001B6BF}" dt="2020-08-16T17:33:55.233" v="118" actId="20577"/>
          <ac:spMkLst>
            <pc:docMk/>
            <pc:sldMk cId="2700791281" sldId="264"/>
            <ac:spMk id="3" creationId="{00000000-0000-0000-0000-000000000000}"/>
          </ac:spMkLst>
        </pc:spChg>
      </pc:sldChg>
      <pc:sldChg chg="modSp del">
        <pc:chgData name="Dr. Deepak S Sakkari Assistant Professor( CSE)" userId="6d73bcb8-5d92-40b8-9132-40f6303b79fc" providerId="ADAL" clId="{6A6CE88C-C1CC-4F3A-B486-05240001B6BF}" dt="2020-08-16T17:34:31.051" v="119" actId="2696"/>
        <pc:sldMkLst>
          <pc:docMk/>
          <pc:sldMk cId="656789598" sldId="265"/>
        </pc:sldMkLst>
        <pc:spChg chg="mod">
          <ac:chgData name="Dr. Deepak S Sakkari Assistant Professor( CSE)" userId="6d73bcb8-5d92-40b8-9132-40f6303b79fc" providerId="ADAL" clId="{6A6CE88C-C1CC-4F3A-B486-05240001B6BF}" dt="2020-08-16T17:33:11.076" v="108" actId="404"/>
          <ac:spMkLst>
            <pc:docMk/>
            <pc:sldMk cId="656789598" sldId="265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34:51.629" v="123" actId="1076"/>
        <pc:sldMkLst>
          <pc:docMk/>
          <pc:sldMk cId="1334666043" sldId="266"/>
        </pc:sldMkLst>
        <pc:spChg chg="mod">
          <ac:chgData name="Dr. Deepak S Sakkari Assistant Professor( CSE)" userId="6d73bcb8-5d92-40b8-9132-40f6303b79fc" providerId="ADAL" clId="{6A6CE88C-C1CC-4F3A-B486-05240001B6BF}" dt="2020-08-16T17:34:45.323" v="122" actId="404"/>
          <ac:spMkLst>
            <pc:docMk/>
            <pc:sldMk cId="1334666043" sldId="266"/>
            <ac:spMk id="7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34:51.629" v="123" actId="1076"/>
          <ac:picMkLst>
            <pc:docMk/>
            <pc:sldMk cId="1334666043" sldId="266"/>
            <ac:picMk id="1025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41:22.280" v="339" actId="1076"/>
        <pc:sldMkLst>
          <pc:docMk/>
          <pc:sldMk cId="3898763255" sldId="267"/>
        </pc:sldMkLst>
        <pc:graphicFrameChg chg="mod modGraphic">
          <ac:chgData name="Dr. Deepak S Sakkari Assistant Professor( CSE)" userId="6d73bcb8-5d92-40b8-9132-40f6303b79fc" providerId="ADAL" clId="{6A6CE88C-C1CC-4F3A-B486-05240001B6BF}" dt="2020-08-16T17:41:22.280" v="339" actId="1076"/>
          <ac:graphicFrameMkLst>
            <pc:docMk/>
            <pc:sldMk cId="3898763255" sldId="267"/>
            <ac:graphicFrameMk id="5" creationId="{00000000-0000-0000-0000-000000000000}"/>
          </ac:graphicFrameMkLst>
        </pc:graphicFrameChg>
      </pc:sldChg>
      <pc:sldChg chg="modSp">
        <pc:chgData name="Dr. Deepak S Sakkari Assistant Professor( CSE)" userId="6d73bcb8-5d92-40b8-9132-40f6303b79fc" providerId="ADAL" clId="{6A6CE88C-C1CC-4F3A-B486-05240001B6BF}" dt="2020-08-16T17:41:32.429" v="342" actId="404"/>
        <pc:sldMkLst>
          <pc:docMk/>
          <pc:sldMk cId="201611570" sldId="268"/>
        </pc:sldMkLst>
        <pc:spChg chg="mod">
          <ac:chgData name="Dr. Deepak S Sakkari Assistant Professor( CSE)" userId="6d73bcb8-5d92-40b8-9132-40f6303b79fc" providerId="ADAL" clId="{6A6CE88C-C1CC-4F3A-B486-05240001B6BF}" dt="2020-08-16T17:41:32.429" v="342" actId="404"/>
          <ac:spMkLst>
            <pc:docMk/>
            <pc:sldMk cId="201611570" sldId="268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1:50.936" v="345" actId="404"/>
        <pc:sldMkLst>
          <pc:docMk/>
          <pc:sldMk cId="3824667293" sldId="269"/>
        </pc:sldMkLst>
        <pc:spChg chg="mod">
          <ac:chgData name="Dr. Deepak S Sakkari Assistant Professor( CSE)" userId="6d73bcb8-5d92-40b8-9132-40f6303b79fc" providerId="ADAL" clId="{6A6CE88C-C1CC-4F3A-B486-05240001B6BF}" dt="2020-08-16T17:41:50.936" v="345" actId="404"/>
          <ac:spMkLst>
            <pc:docMk/>
            <pc:sldMk cId="3824667293" sldId="269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8:15:17.333" v="987" actId="1038"/>
        <pc:sldMkLst>
          <pc:docMk/>
          <pc:sldMk cId="2570284336" sldId="270"/>
        </pc:sldMkLst>
        <pc:spChg chg="mod">
          <ac:chgData name="Dr. Deepak S Sakkari Assistant Professor( CSE)" userId="6d73bcb8-5d92-40b8-9132-40f6303b79fc" providerId="ADAL" clId="{6A6CE88C-C1CC-4F3A-B486-05240001B6BF}" dt="2020-08-16T17:42:42.286" v="352"/>
          <ac:spMkLst>
            <pc:docMk/>
            <pc:sldMk cId="2570284336" sldId="270"/>
            <ac:spMk id="2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8:15:17.333" v="987" actId="1038"/>
          <ac:picMkLst>
            <pc:docMk/>
            <pc:sldMk cId="2570284336" sldId="270"/>
            <ac:picMk id="9" creationId="{00000000-0000-0000-0000-000000000000}"/>
          </ac:picMkLst>
        </pc:picChg>
      </pc:sldChg>
      <pc:sldChg chg="modSp">
        <pc:chgData name="Dr. Deepak S Sakkari Assistant Professor( CSE)" userId="6d73bcb8-5d92-40b8-9132-40f6303b79fc" providerId="ADAL" clId="{6A6CE88C-C1CC-4F3A-B486-05240001B6BF}" dt="2020-08-16T17:44:40.982" v="376" actId="255"/>
        <pc:sldMkLst>
          <pc:docMk/>
          <pc:sldMk cId="564986561" sldId="271"/>
        </pc:sldMkLst>
        <pc:spChg chg="mod">
          <ac:chgData name="Dr. Deepak S Sakkari Assistant Professor( CSE)" userId="6d73bcb8-5d92-40b8-9132-40f6303b79fc" providerId="ADAL" clId="{6A6CE88C-C1CC-4F3A-B486-05240001B6BF}" dt="2020-08-16T17:44:40.982" v="376" actId="255"/>
          <ac:spMkLst>
            <pc:docMk/>
            <pc:sldMk cId="564986561" sldId="271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2:04.443" v="348" actId="404"/>
        <pc:sldMkLst>
          <pc:docMk/>
          <pc:sldMk cId="1620829824" sldId="272"/>
        </pc:sldMkLst>
        <pc:spChg chg="mod">
          <ac:chgData name="Dr. Deepak S Sakkari Assistant Professor( CSE)" userId="6d73bcb8-5d92-40b8-9132-40f6303b79fc" providerId="ADAL" clId="{6A6CE88C-C1CC-4F3A-B486-05240001B6BF}" dt="2020-08-16T17:42:04.443" v="348" actId="404"/>
          <ac:spMkLst>
            <pc:docMk/>
            <pc:sldMk cId="1620829824" sldId="272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3:54.672" v="373" actId="1036"/>
        <pc:sldMkLst>
          <pc:docMk/>
          <pc:sldMk cId="1806056552" sldId="273"/>
        </pc:sldMkLst>
        <pc:spChg chg="mod">
          <ac:chgData name="Dr. Deepak S Sakkari Assistant Professor( CSE)" userId="6d73bcb8-5d92-40b8-9132-40f6303b79fc" providerId="ADAL" clId="{6A6CE88C-C1CC-4F3A-B486-05240001B6BF}" dt="2020-08-16T17:43:54.672" v="373" actId="1036"/>
          <ac:spMkLst>
            <pc:docMk/>
            <pc:sldMk cId="1806056552" sldId="273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3:06.513" v="365" actId="1035"/>
        <pc:sldMkLst>
          <pc:docMk/>
          <pc:sldMk cId="3262299342" sldId="274"/>
        </pc:sldMkLst>
        <pc:spChg chg="mod">
          <ac:chgData name="Dr. Deepak S Sakkari Assistant Professor( CSE)" userId="6d73bcb8-5d92-40b8-9132-40f6303b79fc" providerId="ADAL" clId="{6A6CE88C-C1CC-4F3A-B486-05240001B6BF}" dt="2020-08-16T17:43:06.513" v="365" actId="1035"/>
          <ac:spMkLst>
            <pc:docMk/>
            <pc:sldMk cId="3262299342" sldId="274"/>
            <ac:spMk id="3" creationId="{00000000-0000-0000-0000-000000000000}"/>
          </ac:spMkLst>
        </pc:spChg>
      </pc:sldChg>
      <pc:sldChg chg="del">
        <pc:chgData name="Dr. Deepak S Sakkari Assistant Professor( CSE)" userId="6d73bcb8-5d92-40b8-9132-40f6303b79fc" providerId="ADAL" clId="{6A6CE88C-C1CC-4F3A-B486-05240001B6BF}" dt="2020-08-16T17:43:28.398" v="366" actId="2696"/>
        <pc:sldMkLst>
          <pc:docMk/>
          <pc:sldMk cId="719903367" sldId="275"/>
        </pc:sldMkLst>
      </pc:sldChg>
      <pc:sldChg chg="modSp">
        <pc:chgData name="Dr. Deepak S Sakkari Assistant Professor( CSE)" userId="6d73bcb8-5d92-40b8-9132-40f6303b79fc" providerId="ADAL" clId="{6A6CE88C-C1CC-4F3A-B486-05240001B6BF}" dt="2020-08-16T17:44:51.369" v="378" actId="404"/>
        <pc:sldMkLst>
          <pc:docMk/>
          <pc:sldMk cId="1089540773" sldId="276"/>
        </pc:sldMkLst>
        <pc:spChg chg="mod">
          <ac:chgData name="Dr. Deepak S Sakkari Assistant Professor( CSE)" userId="6d73bcb8-5d92-40b8-9132-40f6303b79fc" providerId="ADAL" clId="{6A6CE88C-C1CC-4F3A-B486-05240001B6BF}" dt="2020-08-16T17:44:51.369" v="378" actId="404"/>
          <ac:spMkLst>
            <pc:docMk/>
            <pc:sldMk cId="1089540773" sldId="276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5:07.183" v="381" actId="404"/>
        <pc:sldMkLst>
          <pc:docMk/>
          <pc:sldMk cId="2289095124" sldId="277"/>
        </pc:sldMkLst>
        <pc:spChg chg="mod">
          <ac:chgData name="Dr. Deepak S Sakkari Assistant Professor( CSE)" userId="6d73bcb8-5d92-40b8-9132-40f6303b79fc" providerId="ADAL" clId="{6A6CE88C-C1CC-4F3A-B486-05240001B6BF}" dt="2020-08-16T17:45:07.183" v="381" actId="404"/>
          <ac:spMkLst>
            <pc:docMk/>
            <pc:sldMk cId="2289095124" sldId="277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5:42.725" v="502" actId="1076"/>
        <pc:sldMkLst>
          <pc:docMk/>
          <pc:sldMk cId="627609005" sldId="278"/>
        </pc:sldMkLst>
        <pc:picChg chg="mod">
          <ac:chgData name="Dr. Deepak S Sakkari Assistant Professor( CSE)" userId="6d73bcb8-5d92-40b8-9132-40f6303b79fc" providerId="ADAL" clId="{6A6CE88C-C1CC-4F3A-B486-05240001B6BF}" dt="2020-08-16T17:45:42.725" v="502" actId="1076"/>
          <ac:picMkLst>
            <pc:docMk/>
            <pc:sldMk cId="627609005" sldId="278"/>
            <ac:picMk id="2053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46:51.247" v="511" actId="20577"/>
        <pc:sldMkLst>
          <pc:docMk/>
          <pc:sldMk cId="3001868645" sldId="279"/>
        </pc:sldMkLst>
        <pc:spChg chg="mod">
          <ac:chgData name="Dr. Deepak S Sakkari Assistant Professor( CSE)" userId="6d73bcb8-5d92-40b8-9132-40f6303b79fc" providerId="ADAL" clId="{6A6CE88C-C1CC-4F3A-B486-05240001B6BF}" dt="2020-08-16T17:46:51.247" v="511" actId="20577"/>
          <ac:spMkLst>
            <pc:docMk/>
            <pc:sldMk cId="3001868645" sldId="279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46:47.816" v="510" actId="1076"/>
          <ac:picMkLst>
            <pc:docMk/>
            <pc:sldMk cId="3001868645" sldId="279"/>
            <ac:picMk id="3075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49:31.679" v="532" actId="1037"/>
        <pc:sldMkLst>
          <pc:docMk/>
          <pc:sldMk cId="3359797835" sldId="280"/>
        </pc:sldMkLst>
        <pc:spChg chg="mod">
          <ac:chgData name="Dr. Deepak S Sakkari Assistant Professor( CSE)" userId="6d73bcb8-5d92-40b8-9132-40f6303b79fc" providerId="ADAL" clId="{6A6CE88C-C1CC-4F3A-B486-05240001B6BF}" dt="2020-08-16T17:49:21.636" v="529" actId="948"/>
          <ac:spMkLst>
            <pc:docMk/>
            <pc:sldMk cId="3359797835" sldId="280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49:31.679" v="532" actId="1037"/>
          <ac:picMkLst>
            <pc:docMk/>
            <pc:sldMk cId="3359797835" sldId="280"/>
            <ac:picMk id="4099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0:36.290" v="541" actId="1076"/>
        <pc:sldMkLst>
          <pc:docMk/>
          <pc:sldMk cId="3154839297" sldId="281"/>
        </pc:sldMkLst>
        <pc:spChg chg="mod">
          <ac:chgData name="Dr. Deepak S Sakkari Assistant Professor( CSE)" userId="6d73bcb8-5d92-40b8-9132-40f6303b79fc" providerId="ADAL" clId="{6A6CE88C-C1CC-4F3A-B486-05240001B6BF}" dt="2020-08-16T17:50:31.162" v="540" actId="404"/>
          <ac:spMkLst>
            <pc:docMk/>
            <pc:sldMk cId="3154839297" sldId="281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0:36.290" v="541" actId="1076"/>
          <ac:picMkLst>
            <pc:docMk/>
            <pc:sldMk cId="3154839297" sldId="281"/>
            <ac:picMk id="5123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1:15.441" v="573" actId="1076"/>
        <pc:sldMkLst>
          <pc:docMk/>
          <pc:sldMk cId="513573365" sldId="282"/>
        </pc:sldMkLst>
        <pc:spChg chg="mod">
          <ac:chgData name="Dr. Deepak S Sakkari Assistant Professor( CSE)" userId="6d73bcb8-5d92-40b8-9132-40f6303b79fc" providerId="ADAL" clId="{6A6CE88C-C1CC-4F3A-B486-05240001B6BF}" dt="2020-08-16T17:50:54.056" v="545" actId="20577"/>
          <ac:spMkLst>
            <pc:docMk/>
            <pc:sldMk cId="513573365" sldId="282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1:15.441" v="573" actId="1076"/>
          <ac:picMkLst>
            <pc:docMk/>
            <pc:sldMk cId="513573365" sldId="282"/>
            <ac:picMk id="6146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1:53.933" v="580" actId="1076"/>
        <pc:sldMkLst>
          <pc:docMk/>
          <pc:sldMk cId="2125104488" sldId="283"/>
        </pc:sldMkLst>
        <pc:spChg chg="mod">
          <ac:chgData name="Dr. Deepak S Sakkari Assistant Professor( CSE)" userId="6d73bcb8-5d92-40b8-9132-40f6303b79fc" providerId="ADAL" clId="{6A6CE88C-C1CC-4F3A-B486-05240001B6BF}" dt="2020-08-16T17:51:32.939" v="576" actId="404"/>
          <ac:spMkLst>
            <pc:docMk/>
            <pc:sldMk cId="2125104488" sldId="283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1:53.933" v="580" actId="1076"/>
          <ac:picMkLst>
            <pc:docMk/>
            <pc:sldMk cId="2125104488" sldId="283"/>
            <ac:picMk id="7170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2:28.860" v="587" actId="1076"/>
        <pc:sldMkLst>
          <pc:docMk/>
          <pc:sldMk cId="3076381061" sldId="284"/>
        </pc:sldMkLst>
        <pc:spChg chg="mod">
          <ac:chgData name="Dr. Deepak S Sakkari Assistant Professor( CSE)" userId="6d73bcb8-5d92-40b8-9132-40f6303b79fc" providerId="ADAL" clId="{6A6CE88C-C1CC-4F3A-B486-05240001B6BF}" dt="2020-08-16T17:52:16.492" v="584" actId="403"/>
          <ac:spMkLst>
            <pc:docMk/>
            <pc:sldMk cId="3076381061" sldId="284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2:28.860" v="587" actId="1076"/>
          <ac:picMkLst>
            <pc:docMk/>
            <pc:sldMk cId="3076381061" sldId="284"/>
            <ac:picMk id="8195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3:37.561" v="631" actId="1076"/>
        <pc:sldMkLst>
          <pc:docMk/>
          <pc:sldMk cId="769505814" sldId="285"/>
        </pc:sldMkLst>
        <pc:spChg chg="mod">
          <ac:chgData name="Dr. Deepak S Sakkari Assistant Professor( CSE)" userId="6d73bcb8-5d92-40b8-9132-40f6303b79fc" providerId="ADAL" clId="{6A6CE88C-C1CC-4F3A-B486-05240001B6BF}" dt="2020-08-16T17:53:22.212" v="596" actId="20577"/>
          <ac:spMkLst>
            <pc:docMk/>
            <pc:sldMk cId="769505814" sldId="285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3:37.561" v="631" actId="1076"/>
          <ac:picMkLst>
            <pc:docMk/>
            <pc:sldMk cId="769505814" sldId="285"/>
            <ac:picMk id="9219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2:49.759" v="592" actId="1076"/>
        <pc:sldMkLst>
          <pc:docMk/>
          <pc:sldMk cId="3602984361" sldId="286"/>
        </pc:sldMkLst>
        <pc:spChg chg="mod">
          <ac:chgData name="Dr. Deepak S Sakkari Assistant Professor( CSE)" userId="6d73bcb8-5d92-40b8-9132-40f6303b79fc" providerId="ADAL" clId="{6A6CE88C-C1CC-4F3A-B486-05240001B6BF}" dt="2020-08-16T17:52:45.065" v="591" actId="404"/>
          <ac:spMkLst>
            <pc:docMk/>
            <pc:sldMk cId="3602984361" sldId="286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2:49.759" v="592" actId="1076"/>
          <ac:picMkLst>
            <pc:docMk/>
            <pc:sldMk cId="3602984361" sldId="286"/>
            <ac:picMk id="9218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4:29.167" v="657" actId="1036"/>
        <pc:sldMkLst>
          <pc:docMk/>
          <pc:sldMk cId="2829986162" sldId="287"/>
        </pc:sldMkLst>
        <pc:spChg chg="mod">
          <ac:chgData name="Dr. Deepak S Sakkari Assistant Professor( CSE)" userId="6d73bcb8-5d92-40b8-9132-40f6303b79fc" providerId="ADAL" clId="{6A6CE88C-C1CC-4F3A-B486-05240001B6BF}" dt="2020-08-16T17:54:13.453" v="653" actId="6549"/>
          <ac:spMkLst>
            <pc:docMk/>
            <pc:sldMk cId="2829986162" sldId="287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4:29.167" v="657" actId="1036"/>
          <ac:picMkLst>
            <pc:docMk/>
            <pc:sldMk cId="2829986162" sldId="287"/>
            <ac:picMk id="10242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5:23.973" v="666" actId="1076"/>
        <pc:sldMkLst>
          <pc:docMk/>
          <pc:sldMk cId="1866790028" sldId="288"/>
        </pc:sldMkLst>
        <pc:spChg chg="mod">
          <ac:chgData name="Dr. Deepak S Sakkari Assistant Professor( CSE)" userId="6d73bcb8-5d92-40b8-9132-40f6303b79fc" providerId="ADAL" clId="{6A6CE88C-C1CC-4F3A-B486-05240001B6BF}" dt="2020-08-16T17:55:16.732" v="665" actId="6549"/>
          <ac:spMkLst>
            <pc:docMk/>
            <pc:sldMk cId="1866790028" sldId="288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5:23.973" v="666" actId="1076"/>
          <ac:picMkLst>
            <pc:docMk/>
            <pc:sldMk cId="1866790028" sldId="288"/>
            <ac:picMk id="11266" creationId="{00000000-0000-0000-0000-000000000000}"/>
          </ac:picMkLst>
        </pc:picChg>
      </pc:sldChg>
      <pc:sldChg chg="addSp modSp mod">
        <pc:chgData name="Dr. Deepak S Sakkari Assistant Professor( CSE)" userId="6d73bcb8-5d92-40b8-9132-40f6303b79fc" providerId="ADAL" clId="{6A6CE88C-C1CC-4F3A-B486-05240001B6BF}" dt="2020-08-16T17:58:28.723" v="747" actId="1035"/>
        <pc:sldMkLst>
          <pc:docMk/>
          <pc:sldMk cId="3266059444" sldId="289"/>
        </pc:sldMkLst>
        <pc:spChg chg="mod">
          <ac:chgData name="Dr. Deepak S Sakkari Assistant Professor( CSE)" userId="6d73bcb8-5d92-40b8-9132-40f6303b79fc" providerId="ADAL" clId="{6A6CE88C-C1CC-4F3A-B486-05240001B6BF}" dt="2020-08-16T17:57:17.871" v="672" actId="255"/>
          <ac:spMkLst>
            <pc:docMk/>
            <pc:sldMk cId="3266059444" sldId="289"/>
            <ac:spMk id="2" creationId="{00000000-0000-0000-0000-000000000000}"/>
          </ac:spMkLst>
        </pc:spChg>
        <pc:spChg chg="mod">
          <ac:chgData name="Dr. Deepak S Sakkari Assistant Professor( CSE)" userId="6d73bcb8-5d92-40b8-9132-40f6303b79fc" providerId="ADAL" clId="{6A6CE88C-C1CC-4F3A-B486-05240001B6BF}" dt="2020-08-16T17:57:45.493" v="677" actId="20577"/>
          <ac:spMkLst>
            <pc:docMk/>
            <pc:sldMk cId="3266059444" sldId="289"/>
            <ac:spMk id="3" creationId="{00000000-0000-0000-0000-000000000000}"/>
          </ac:spMkLst>
        </pc:spChg>
        <pc:picChg chg="add mod">
          <ac:chgData name="Dr. Deepak S Sakkari Assistant Professor( CSE)" userId="6d73bcb8-5d92-40b8-9132-40f6303b79fc" providerId="ADAL" clId="{6A6CE88C-C1CC-4F3A-B486-05240001B6BF}" dt="2020-08-16T17:58:28.723" v="747" actId="1035"/>
          <ac:picMkLst>
            <pc:docMk/>
            <pc:sldMk cId="3266059444" sldId="289"/>
            <ac:picMk id="7" creationId="{4226936F-2BC6-4083-B1A0-1A7E7C42EC5D}"/>
          </ac:picMkLst>
        </pc:picChg>
      </pc:sldChg>
      <pc:sldChg chg="del">
        <pc:chgData name="Dr. Deepak S Sakkari Assistant Professor( CSE)" userId="6d73bcb8-5d92-40b8-9132-40f6303b79fc" providerId="ADAL" clId="{6A6CE88C-C1CC-4F3A-B486-05240001B6BF}" dt="2020-08-16T17:58:42.160" v="748" actId="2696"/>
        <pc:sldMkLst>
          <pc:docMk/>
          <pc:sldMk cId="2059104741" sldId="290"/>
        </pc:sldMkLst>
      </pc:sldChg>
      <pc:sldChg chg="modSp mod">
        <pc:chgData name="Dr. Deepak S Sakkari Assistant Professor( CSE)" userId="6d73bcb8-5d92-40b8-9132-40f6303b79fc" providerId="ADAL" clId="{6A6CE88C-C1CC-4F3A-B486-05240001B6BF}" dt="2020-08-16T17:59:20.322" v="754" actId="1076"/>
        <pc:sldMkLst>
          <pc:docMk/>
          <pc:sldMk cId="3191863920" sldId="291"/>
        </pc:sldMkLst>
        <pc:spChg chg="mod">
          <ac:chgData name="Dr. Deepak S Sakkari Assistant Professor( CSE)" userId="6d73bcb8-5d92-40b8-9132-40f6303b79fc" providerId="ADAL" clId="{6A6CE88C-C1CC-4F3A-B486-05240001B6BF}" dt="2020-08-16T17:59:11.977" v="753" actId="404"/>
          <ac:spMkLst>
            <pc:docMk/>
            <pc:sldMk cId="3191863920" sldId="291"/>
            <ac:spMk id="3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9:20.322" v="754" actId="1076"/>
          <ac:picMkLst>
            <pc:docMk/>
            <pc:sldMk cId="3191863920" sldId="291"/>
            <ac:picMk id="13314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8:10:50.782" v="804" actId="255"/>
        <pc:sldMkLst>
          <pc:docMk/>
          <pc:sldMk cId="2904947208" sldId="292"/>
        </pc:sldMkLst>
        <pc:spChg chg="mod">
          <ac:chgData name="Dr. Deepak S Sakkari Assistant Professor( CSE)" userId="6d73bcb8-5d92-40b8-9132-40f6303b79fc" providerId="ADAL" clId="{6A6CE88C-C1CC-4F3A-B486-05240001B6BF}" dt="2020-08-16T18:10:50.782" v="804" actId="255"/>
          <ac:spMkLst>
            <pc:docMk/>
            <pc:sldMk cId="2904947208" sldId="292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8:01:00.044" v="771" actId="1076"/>
        <pc:sldMkLst>
          <pc:docMk/>
          <pc:sldMk cId="1145221943" sldId="293"/>
        </pc:sldMkLst>
        <pc:spChg chg="mod">
          <ac:chgData name="Dr. Deepak S Sakkari Assistant Professor( CSE)" userId="6d73bcb8-5d92-40b8-9132-40f6303b79fc" providerId="ADAL" clId="{6A6CE88C-C1CC-4F3A-B486-05240001B6BF}" dt="2020-08-16T18:00:50.359" v="769" actId="948"/>
          <ac:spMkLst>
            <pc:docMk/>
            <pc:sldMk cId="1145221943" sldId="293"/>
            <ac:spMk id="3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8:00:54.771" v="770" actId="1076"/>
          <ac:picMkLst>
            <pc:docMk/>
            <pc:sldMk cId="1145221943" sldId="293"/>
            <ac:picMk id="14338" creationId="{00000000-0000-0000-0000-000000000000}"/>
          </ac:picMkLst>
        </pc:picChg>
        <pc:picChg chg="mod">
          <ac:chgData name="Dr. Deepak S Sakkari Assistant Professor( CSE)" userId="6d73bcb8-5d92-40b8-9132-40f6303b79fc" providerId="ADAL" clId="{6A6CE88C-C1CC-4F3A-B486-05240001B6BF}" dt="2020-08-16T18:01:00.044" v="771" actId="1076"/>
          <ac:picMkLst>
            <pc:docMk/>
            <pc:sldMk cId="1145221943" sldId="293"/>
            <ac:picMk id="14340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8:09:57.766" v="796" actId="313"/>
        <pc:sldMkLst>
          <pc:docMk/>
          <pc:sldMk cId="1457111660" sldId="294"/>
        </pc:sldMkLst>
        <pc:spChg chg="mod">
          <ac:chgData name="Dr. Deepak S Sakkari Assistant Professor( CSE)" userId="6d73bcb8-5d92-40b8-9132-40f6303b79fc" providerId="ADAL" clId="{6A6CE88C-C1CC-4F3A-B486-05240001B6BF}" dt="2020-08-16T18:09:57.766" v="796" actId="313"/>
          <ac:spMkLst>
            <pc:docMk/>
            <pc:sldMk cId="1457111660" sldId="294"/>
            <ac:spMk id="3" creationId="{00000000-0000-0000-0000-000000000000}"/>
          </ac:spMkLst>
        </pc:spChg>
      </pc:sldChg>
      <pc:sldChg chg="del">
        <pc:chgData name="Dr. Deepak S Sakkari Assistant Professor( CSE)" userId="6d73bcb8-5d92-40b8-9132-40f6303b79fc" providerId="ADAL" clId="{6A6CE88C-C1CC-4F3A-B486-05240001B6BF}" dt="2020-08-16T18:11:20.117" v="805" actId="2696"/>
        <pc:sldMkLst>
          <pc:docMk/>
          <pc:sldMk cId="3110987420" sldId="295"/>
        </pc:sldMkLst>
      </pc:sldChg>
      <pc:sldChg chg="modSp mod">
        <pc:chgData name="Dr. Deepak S Sakkari Assistant Professor( CSE)" userId="6d73bcb8-5d92-40b8-9132-40f6303b79fc" providerId="ADAL" clId="{6A6CE88C-C1CC-4F3A-B486-05240001B6BF}" dt="2020-08-16T18:11:54.808" v="811" actId="404"/>
        <pc:sldMkLst>
          <pc:docMk/>
          <pc:sldMk cId="2011300504" sldId="296"/>
        </pc:sldMkLst>
        <pc:spChg chg="mod">
          <ac:chgData name="Dr. Deepak S Sakkari Assistant Professor( CSE)" userId="6d73bcb8-5d92-40b8-9132-40f6303b79fc" providerId="ADAL" clId="{6A6CE88C-C1CC-4F3A-B486-05240001B6BF}" dt="2020-08-16T18:11:54.808" v="811" actId="404"/>
          <ac:spMkLst>
            <pc:docMk/>
            <pc:sldMk cId="2011300504" sldId="296"/>
            <ac:spMk id="3" creationId="{00000000-0000-0000-0000-000000000000}"/>
          </ac:spMkLst>
        </pc:spChg>
      </pc:sldChg>
      <pc:sldChg chg="modSp del mod">
        <pc:chgData name="Dr. Deepak S Sakkari Assistant Professor( CSE)" userId="6d73bcb8-5d92-40b8-9132-40f6303b79fc" providerId="ADAL" clId="{6A6CE88C-C1CC-4F3A-B486-05240001B6BF}" dt="2020-08-16T18:12:16.452" v="813" actId="2696"/>
        <pc:sldMkLst>
          <pc:docMk/>
          <pc:sldMk cId="422380363" sldId="297"/>
        </pc:sldMkLst>
        <pc:spChg chg="mod">
          <ac:chgData name="Dr. Deepak S Sakkari Assistant Professor( CSE)" userId="6d73bcb8-5d92-40b8-9132-40f6303b79fc" providerId="ADAL" clId="{6A6CE88C-C1CC-4F3A-B486-05240001B6BF}" dt="2020-08-16T18:11:47.295" v="808" actId="21"/>
          <ac:spMkLst>
            <pc:docMk/>
            <pc:sldMk cId="422380363" sldId="297"/>
            <ac:spMk id="3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8:12:10.728" v="812" actId="1076"/>
          <ac:picMkLst>
            <pc:docMk/>
            <pc:sldMk cId="422380363" sldId="297"/>
            <ac:picMk id="15363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8:12:35.971" v="818" actId="20577"/>
        <pc:sldMkLst>
          <pc:docMk/>
          <pc:sldMk cId="761635623" sldId="298"/>
        </pc:sldMkLst>
        <pc:spChg chg="mod">
          <ac:chgData name="Dr. Deepak S Sakkari Assistant Professor( CSE)" userId="6d73bcb8-5d92-40b8-9132-40f6303b79fc" providerId="ADAL" clId="{6A6CE88C-C1CC-4F3A-B486-05240001B6BF}" dt="2020-08-16T18:12:35.971" v="818" actId="20577"/>
          <ac:spMkLst>
            <pc:docMk/>
            <pc:sldMk cId="761635623" sldId="298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8:13:08.143" v="858" actId="1035"/>
        <pc:sldMkLst>
          <pc:docMk/>
          <pc:sldMk cId="2659602100" sldId="299"/>
        </pc:sldMkLst>
        <pc:picChg chg="mod">
          <ac:chgData name="Dr. Deepak S Sakkari Assistant Professor( CSE)" userId="6d73bcb8-5d92-40b8-9132-40f6303b79fc" providerId="ADAL" clId="{6A6CE88C-C1CC-4F3A-B486-05240001B6BF}" dt="2020-08-16T18:13:08.143" v="858" actId="1035"/>
          <ac:picMkLst>
            <pc:docMk/>
            <pc:sldMk cId="2659602100" sldId="299"/>
            <ac:picMk id="16387" creationId="{00000000-0000-0000-0000-000000000000}"/>
          </ac:picMkLst>
        </pc:picChg>
      </pc:sldChg>
      <pc:sldChg chg="modSp">
        <pc:chgData name="Dr. Deepak S Sakkari Assistant Professor( CSE)" userId="6d73bcb8-5d92-40b8-9132-40f6303b79fc" providerId="ADAL" clId="{6A6CE88C-C1CC-4F3A-B486-05240001B6BF}" dt="2020-08-16T18:14:25.007" v="975" actId="732"/>
        <pc:sldMkLst>
          <pc:docMk/>
          <pc:sldMk cId="1639119821" sldId="300"/>
        </pc:sldMkLst>
        <pc:picChg chg="mod">
          <ac:chgData name="Dr. Deepak S Sakkari Assistant Professor( CSE)" userId="6d73bcb8-5d92-40b8-9132-40f6303b79fc" providerId="ADAL" clId="{6A6CE88C-C1CC-4F3A-B486-05240001B6BF}" dt="2020-08-16T18:14:25.007" v="975" actId="732"/>
          <ac:picMkLst>
            <pc:docMk/>
            <pc:sldMk cId="1639119821" sldId="300"/>
            <ac:picMk id="17410" creationId="{00000000-0000-0000-0000-000000000000}"/>
          </ac:picMkLst>
        </pc:picChg>
      </pc:sldChg>
      <pc:sldMasterChg chg="addSp delSp modSp mod modSldLayout">
        <pc:chgData name="Dr. Deepak S Sakkari Assistant Professor( CSE)" userId="6d73bcb8-5d92-40b8-9132-40f6303b79fc" providerId="ADAL" clId="{6A6CE88C-C1CC-4F3A-B486-05240001B6BF}" dt="2020-08-16T17:22:17.156" v="59" actId="2711"/>
        <pc:sldMasterMkLst>
          <pc:docMk/>
          <pc:sldMasterMk cId="2257922174" sldId="2147483684"/>
        </pc:sldMasterMkLst>
        <pc:spChg chg="del">
          <ac:chgData name="Dr. Deepak S Sakkari Assistant Professor( CSE)" userId="6d73bcb8-5d92-40b8-9132-40f6303b79fc" providerId="ADAL" clId="{6A6CE88C-C1CC-4F3A-B486-05240001B6BF}" dt="2020-08-16T17:18:55.997" v="14" actId="478"/>
          <ac:spMkLst>
            <pc:docMk/>
            <pc:sldMasterMk cId="2257922174" sldId="2147483684"/>
            <ac:spMk id="7" creationId="{00000000-0000-0000-0000-000000000000}"/>
          </ac:spMkLst>
        </pc:spChg>
        <pc:spChg chg="mod">
          <ac:chgData name="Dr. Deepak S Sakkari Assistant Professor( CSE)" userId="6d73bcb8-5d92-40b8-9132-40f6303b79fc" providerId="ADAL" clId="{6A6CE88C-C1CC-4F3A-B486-05240001B6BF}" dt="2020-08-16T17:22:09.695" v="58"/>
          <ac:spMkLst>
            <pc:docMk/>
            <pc:sldMasterMk cId="2257922174" sldId="2147483684"/>
            <ac:spMk id="1026" creationId="{00000000-0000-0000-0000-000000000000}"/>
          </ac:spMkLst>
        </pc:spChg>
        <pc:spChg chg="mod">
          <ac:chgData name="Dr. Deepak S Sakkari Assistant Professor( CSE)" userId="6d73bcb8-5d92-40b8-9132-40f6303b79fc" providerId="ADAL" clId="{6A6CE88C-C1CC-4F3A-B486-05240001B6BF}" dt="2020-08-16T17:22:17.156" v="59" actId="2711"/>
          <ac:spMkLst>
            <pc:docMk/>
            <pc:sldMasterMk cId="2257922174" sldId="2147483684"/>
            <ac:spMk id="1027" creationId="{00000000-0000-0000-0000-000000000000}"/>
          </ac:spMkLst>
        </pc:spChg>
        <pc:picChg chg="add">
          <ac:chgData name="Dr. Deepak S Sakkari Assistant Professor( CSE)" userId="6d73bcb8-5d92-40b8-9132-40f6303b79fc" providerId="ADAL" clId="{6A6CE88C-C1CC-4F3A-B486-05240001B6BF}" dt="2020-08-16T17:18:50.359" v="13" actId="22"/>
          <ac:picMkLst>
            <pc:docMk/>
            <pc:sldMasterMk cId="2257922174" sldId="2147483684"/>
            <ac:picMk id="2" creationId="{D556AC99-D25B-44D7-B4D4-56DFBA9A948D}"/>
          </ac:picMkLst>
        </pc:picChg>
        <pc:cxnChg chg="add mod">
          <ac:chgData name="Dr. Deepak S Sakkari Assistant Professor( CSE)" userId="6d73bcb8-5d92-40b8-9132-40f6303b79fc" providerId="ADAL" clId="{6A6CE88C-C1CC-4F3A-B486-05240001B6BF}" dt="2020-08-16T17:20:46.450" v="41" actId="692"/>
          <ac:cxnSpMkLst>
            <pc:docMk/>
            <pc:sldMasterMk cId="2257922174" sldId="2147483684"/>
            <ac:cxnSpMk id="9" creationId="{3B5F36A5-15D8-4D7C-9B1D-11E3C685F0D5}"/>
          </ac:cxnSpMkLst>
        </pc:cxnChg>
        <pc:sldLayoutChg chg="addSp modSp mod">
          <pc:chgData name="Dr. Deepak S Sakkari Assistant Professor( CSE)" userId="6d73bcb8-5d92-40b8-9132-40f6303b79fc" providerId="ADAL" clId="{6A6CE88C-C1CC-4F3A-B486-05240001B6BF}" dt="2020-08-16T17:18:26.126" v="12" actId="1036"/>
          <pc:sldLayoutMkLst>
            <pc:docMk/>
            <pc:sldMasterMk cId="2257922174" sldId="2147483684"/>
            <pc:sldLayoutMk cId="3379957623" sldId="2147483685"/>
          </pc:sldLayoutMkLst>
          <pc:picChg chg="add mod">
            <ac:chgData name="Dr. Deepak S Sakkari Assistant Professor( CSE)" userId="6d73bcb8-5d92-40b8-9132-40f6303b79fc" providerId="ADAL" clId="{6A6CE88C-C1CC-4F3A-B486-05240001B6BF}" dt="2020-08-16T17:18:26.126" v="12" actId="1036"/>
            <ac:picMkLst>
              <pc:docMk/>
              <pc:sldMasterMk cId="2257922174" sldId="2147483684"/>
              <pc:sldLayoutMk cId="3379957623" sldId="2147483685"/>
              <ac:picMk id="8" creationId="{EE652140-DF33-42B2-90EF-9E9B8553CD93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C24494-34C8-4B85-95EC-EFB8BC02FE7F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D0F90C-8AF4-4E3E-8FFD-30D2A3D62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80529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911B5A-781F-4560-A1CC-D59FB8C1A7F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4ADE7-A6F4-4046-A847-5DCBEEEA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811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24ADE7-A6F4-4046-A847-5DCBEEEA65F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80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AAC5A33-9226-4376-B906-4B0C7752F3F3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652140-DF33-42B2-90EF-9E9B8553CD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551"/>
          <a:stretch/>
        </p:blipFill>
        <p:spPr bwMode="auto">
          <a:xfrm>
            <a:off x="0" y="5616575"/>
            <a:ext cx="9144000" cy="124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79957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24AADF8-674F-4E37-AEDC-92DD750D1173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27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0B81AED-7B70-496A-A12E-823AEFD5C0BB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07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27E8D6D-3A91-4BD0-9248-7F8660A8F09B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5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BBFFE7-CAC9-497A-AAF7-C2922785C649}" type="datetime1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612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1E3908D-C920-449F-B38A-64963E2B48E8}" type="datetime1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03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EFBD9F8-5A17-427A-BB04-9A98943668E8}" type="datetime1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72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12DEC6A-E0EE-4392-B80F-E55C5E1190FC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676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2A688D0-D902-44CB-BD46-3F634243F429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432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95CB118-406F-4C5F-971C-D01C2075A44F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776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891AAB5-29E3-454A-8B27-82FAF9AA8D2C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41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306878"/>
            <a:ext cx="8229600" cy="71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10762"/>
            <a:ext cx="8229600" cy="46804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81075A-DF51-44C7-B71F-F968B902E6D0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56AC99-D25B-44D7-B4D4-56DFBA9A94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551"/>
          <a:stretch/>
        </p:blipFill>
        <p:spPr bwMode="auto">
          <a:xfrm>
            <a:off x="0" y="5616575"/>
            <a:ext cx="9144000" cy="124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5F36A5-15D8-4D7C-9B1D-11E3C685F0D5}"/>
              </a:ext>
            </a:extLst>
          </p:cNvPr>
          <p:cNvCxnSpPr>
            <a:cxnSpLocks/>
          </p:cNvCxnSpPr>
          <p:nvPr userDrawn="1"/>
        </p:nvCxnSpPr>
        <p:spPr>
          <a:xfrm>
            <a:off x="72000" y="1066800"/>
            <a:ext cx="9000000" cy="0"/>
          </a:xfrm>
          <a:prstGeom prst="line">
            <a:avLst/>
          </a:prstGeom>
          <a:ln w="50800" cmpd="thinThick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7922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 kern="1200">
          <a:solidFill>
            <a:schemeClr val="tx1"/>
          </a:solidFill>
          <a:latin typeface="Bookman Old Style" panose="02050604050505020204" pitchFamily="18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rainkart.com/subject/Web-Technology_169/" TargetMode="Externa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hp.net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vatpoint.com/php-if-else#if-else" TargetMode="External"/><Relationship Id="rId2" Type="http://schemas.openxmlformats.org/officeDocument/2006/relationships/hyperlink" Target="https://www.javatpoint.com/php-if-else#i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javatpoint.com/php-if-else#nested-if" TargetMode="External"/><Relationship Id="rId4" Type="http://schemas.openxmlformats.org/officeDocument/2006/relationships/hyperlink" Target="https://www.javatpoint.com/php-if-else#if-else-if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vatpoint.com/html-tutorial" TargetMode="External"/><Relationship Id="rId2" Type="http://schemas.openxmlformats.org/officeDocument/2006/relationships/hyperlink" Target="https://www.javatpoint.com/html-form" TargetMode="Externa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6E4517-6C23-48B3-9024-02BD16E62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99F73C4-29F8-4839-BE55-9531647113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82460" y="0"/>
            <a:ext cx="7779079" cy="130935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5994CEF-AC9F-45F1-B856-7E13245F08BF}"/>
              </a:ext>
            </a:extLst>
          </p:cNvPr>
          <p:cNvSpPr txBox="1">
            <a:spLocks/>
          </p:cNvSpPr>
          <p:nvPr/>
        </p:nvSpPr>
        <p:spPr bwMode="auto">
          <a:xfrm>
            <a:off x="0" y="1329546"/>
            <a:ext cx="9144000" cy="12192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none" lIns="63500" tIns="25400" rIns="63500" bIns="25400" numCol="1" anchor="t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400" b="1">
                <a:latin typeface="Bookman Old Style" panose="02050604050505020204" pitchFamily="18" charset="0"/>
                <a:ea typeface="+mj-ea"/>
                <a:cs typeface="+mj-cs"/>
              </a:defRPr>
            </a:lvl1pPr>
            <a:lvl2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3429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6858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0287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3716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IN" sz="2800" dirty="0">
                <a:hlinkClick r:id="rId6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CSE2067 - Web Technologies</a:t>
            </a:r>
          </a:p>
          <a:p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67D772C-CE7C-4E6F-8FFF-BDAD62483336}"/>
              </a:ext>
            </a:extLst>
          </p:cNvPr>
          <p:cNvSpPr txBox="1">
            <a:spLocks/>
          </p:cNvSpPr>
          <p:nvPr/>
        </p:nvSpPr>
        <p:spPr bwMode="auto">
          <a:xfrm>
            <a:off x="706474" y="5613718"/>
            <a:ext cx="7772400" cy="899624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square" lIns="63500" tIns="25400" rIns="63500" bIns="2540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152400" indent="-152400" algn="l" rtl="0" eaLnBrk="0" fontAlgn="base" hangingPunct="0">
              <a:lnSpc>
                <a:spcPct val="75000"/>
              </a:lnSpc>
              <a:spcBef>
                <a:spcPct val="65000"/>
              </a:spcBef>
              <a:spcAft>
                <a:spcPct val="0"/>
              </a:spcAft>
              <a:buSzPct val="100000"/>
              <a:buFont typeface="Arial" charset="0"/>
              <a:buChar char="•"/>
              <a:defRPr sz="1800" b="1">
                <a:solidFill>
                  <a:schemeClr val="tx1"/>
                </a:solidFill>
                <a:latin typeface="Bookman Old Style" panose="02050604050505020204" pitchFamily="18" charset="0"/>
                <a:ea typeface="+mn-ea"/>
                <a:cs typeface="+mn-cs"/>
              </a:defRPr>
            </a:lvl1pPr>
            <a:lvl2pPr marL="514350" indent="-142875" algn="l" rtl="0" eaLnBrk="0" fontAlgn="base" hangingPunct="0">
              <a:lnSpc>
                <a:spcPct val="85000"/>
              </a:lnSpc>
              <a:spcBef>
                <a:spcPct val="40000"/>
              </a:spcBef>
              <a:spcAft>
                <a:spcPct val="0"/>
              </a:spcAft>
              <a:buSzPct val="100000"/>
              <a:buFont typeface="Courier New" pitchFamily="49" charset="0"/>
              <a:buChar char="o"/>
              <a:defRPr sz="1800" b="1">
                <a:solidFill>
                  <a:schemeClr val="tx1"/>
                </a:solidFill>
                <a:latin typeface="Bookman Old Style" panose="02050604050505020204" pitchFamily="18" charset="0"/>
              </a:defRPr>
            </a:lvl2pPr>
            <a:lvl3pPr marL="942975" indent="-257175" algn="l" rtl="0" eaLnBrk="0" fontAlgn="base" hangingPunct="0">
              <a:lnSpc>
                <a:spcPct val="85000"/>
              </a:lnSpc>
              <a:spcBef>
                <a:spcPct val="40000"/>
              </a:spcBef>
              <a:spcAft>
                <a:spcPct val="0"/>
              </a:spcAft>
              <a:buSzPct val="100000"/>
              <a:buFont typeface="Wingdings" pitchFamily="2" charset="2"/>
              <a:buChar char="Ø"/>
              <a:defRPr sz="1800" b="1">
                <a:solidFill>
                  <a:schemeClr val="tx1"/>
                </a:solidFill>
                <a:latin typeface="Bookman Old Style" panose="02050604050505020204" pitchFamily="18" charset="0"/>
              </a:defRPr>
            </a:lvl3pPr>
            <a:lvl4pPr marL="12858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500">
                <a:solidFill>
                  <a:schemeClr val="tx1"/>
                </a:solidFill>
                <a:latin typeface="Bookman Old Style" panose="02050604050505020204" pitchFamily="18" charset="0"/>
              </a:defRPr>
            </a:lvl4pPr>
            <a:lvl5pPr marL="16287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Bookman Old Style" panose="02050604050505020204" pitchFamily="18" charset="0"/>
              </a:defRPr>
            </a:lvl5pPr>
            <a:lvl6pPr marL="19716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6pPr>
            <a:lvl7pPr marL="23145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7pPr>
            <a:lvl8pPr marL="26574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8pPr>
            <a:lvl9pPr marL="30003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marL="0" indent="0" 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en-IN" sz="2000" kern="0" dirty="0"/>
              <a:t>Department of Computer Science Engineering</a:t>
            </a:r>
          </a:p>
          <a:p>
            <a:pPr marL="0" indent="0" 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en-IN" sz="3600" kern="0" dirty="0"/>
              <a:t>School of Engineering</a:t>
            </a:r>
          </a:p>
        </p:txBody>
      </p:sp>
    </p:spTree>
    <p:extLst>
      <p:ext uri="{BB962C8B-B14F-4D97-AF65-F5344CB8AC3E}">
        <p14:creationId xmlns:p14="http://schemas.microsoft.com/office/powerpoint/2010/main" val="3470910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/>
              <a:t>Module III - Syllabus 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422176"/>
          </a:xfrm>
        </p:spPr>
        <p:txBody>
          <a:bodyPr>
            <a:noAutofit/>
          </a:bodyPr>
          <a:lstStyle/>
          <a:p>
            <a:pPr marL="0" indent="0" algn="just">
              <a:spcBef>
                <a:spcPts val="910"/>
              </a:spcBef>
              <a:spcAft>
                <a:spcPts val="700"/>
              </a:spcAft>
              <a:buNone/>
            </a:pPr>
            <a:r>
              <a:rPr lang="en-US" sz="2800" b="1" dirty="0">
                <a:solidFill>
                  <a:srgbClr val="00B050"/>
                </a:solidFill>
                <a:latin typeface="+mj-lt"/>
              </a:rPr>
              <a:t>MODULE III: PHP	[L-10hrs.,P- 10hrs.]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0000"/>
                </a:solidFill>
                <a:latin typeface="+mj-lt"/>
              </a:rPr>
              <a:t>PHP</a:t>
            </a:r>
            <a:r>
              <a:rPr lang="en-US" sz="1800" b="1" kern="100" dirty="0">
                <a:effectLst/>
                <a:latin typeface="Times New Roman" panose="02020603050405020304" pitchFamily="18" charset="0"/>
                <a:ea typeface="Noto Serif CJK SC"/>
                <a:cs typeface="Lohit Devanagari"/>
              </a:rPr>
              <a:t>: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Noto Serif CJK SC"/>
                <a:cs typeface="Lohit Devanagari"/>
              </a:rPr>
              <a:t> </a:t>
            </a:r>
            <a:r>
              <a:rPr lang="en-US" sz="2400" dirty="0">
                <a:latin typeface="+mj-lt"/>
              </a:rPr>
              <a:t>Introduction to server-side Development with PHP, Arrays, and </a:t>
            </a:r>
            <a:r>
              <a:rPr lang="en-US" sz="2400" dirty="0" err="1">
                <a:latin typeface="+mj-lt"/>
              </a:rPr>
              <a:t>Superglobals</a:t>
            </a:r>
            <a:r>
              <a:rPr lang="en-US" sz="2400" dirty="0">
                <a:latin typeface="+mj-lt"/>
              </a:rPr>
              <a:t> Arrays, $GET and $ POST, Super global Arrays, $_SERVER Array, $_Files Array, Reading/Writing Files, PHP Classes and Objects, Object, Classes and Objects in PHP, Object Oriented Design, Working with Databases, SQL, Database APIs, Managing a MySQL Database. Accessing MySQL in PHP</a:t>
            </a:r>
            <a:endParaRPr lang="en-IN" sz="2400" dirty="0">
              <a:latin typeface="+mj-lt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+mj-lt"/>
              </a:rPr>
              <a:t> </a:t>
            </a:r>
            <a:endParaRPr lang="en-IN" sz="2400" dirty="0">
              <a:latin typeface="+mj-lt"/>
            </a:endParaRPr>
          </a:p>
          <a:p>
            <a:pPr algn="just">
              <a:lnSpc>
                <a:spcPct val="150000"/>
              </a:lnSpc>
              <a:spcBef>
                <a:spcPts val="20"/>
              </a:spcBef>
            </a:pPr>
            <a:endParaRPr lang="en-IN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96290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009731"/>
            <a:ext cx="8991600" cy="342217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a acronym for “</a:t>
            </a:r>
            <a:r>
              <a:rPr lang="en-GB" altLang="el-GR" sz="2200" b="1" dirty="0">
                <a:solidFill>
                  <a:srgbClr val="FF0000"/>
                </a:solidFill>
              </a:rPr>
              <a:t>PHP: Hypertext </a:t>
            </a:r>
            <a:r>
              <a:rPr lang="en-GB" altLang="el-GR" sz="2200" b="1" dirty="0" err="1">
                <a:solidFill>
                  <a:srgbClr val="FF0000"/>
                </a:solidFill>
              </a:rPr>
              <a:t>Preprocessor</a:t>
            </a:r>
            <a:r>
              <a:rPr lang="en-GB" altLang="el-GR" sz="2200" b="1" dirty="0">
                <a:solidFill>
                  <a:srgbClr val="FF0000"/>
                </a:solidFill>
              </a:rPr>
              <a:t>” 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a server-side scripting language and executed on the server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supports many databases (MySQL, Informix, Oracle, Sybase, Solid, PostgreSQL, Generic ODBC, etc.)</a:t>
            </a:r>
            <a:r>
              <a:rPr lang="ar-SA" altLang="el-GR" sz="2200" dirty="0"/>
              <a:t>‏</a:t>
            </a:r>
            <a:endParaRPr lang="en-GB" altLang="el-GR" sz="2200" dirty="0"/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open source software and free to download.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sz="2200" dirty="0"/>
              <a:t>PHP was created by </a:t>
            </a:r>
            <a:r>
              <a:rPr lang="en-US" sz="2200" b="1" dirty="0">
                <a:solidFill>
                  <a:srgbClr val="FF0000"/>
                </a:solidFill>
              </a:rPr>
              <a:t>Rasmus </a:t>
            </a:r>
            <a:r>
              <a:rPr lang="en-US" sz="2200" b="1" dirty="0" err="1">
                <a:solidFill>
                  <a:srgbClr val="FF0000"/>
                </a:solidFill>
              </a:rPr>
              <a:t>Lerdorf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dirty="0"/>
              <a:t>in 1994 but appeared in the market in 1995. </a:t>
            </a: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1953222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534400" cy="342217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runs on different platforms (Windows, Linux, Unix, etc.)</a:t>
            </a:r>
            <a:r>
              <a:rPr lang="ar-SA" altLang="el-GR" sz="2200" dirty="0"/>
              <a:t>‏</a:t>
            </a:r>
            <a:endParaRPr lang="en-GB" altLang="el-GR" sz="2200" dirty="0"/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compatible with almost all servers used today (Apache, IIS, etc.)</a:t>
            </a:r>
            <a:r>
              <a:rPr lang="ar-SA" altLang="el-GR" sz="2200" dirty="0"/>
              <a:t>‏</a:t>
            </a:r>
            <a:endParaRPr lang="en-GB" altLang="el-GR" sz="2200" dirty="0"/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FREE to download from the official PHP resource: </a:t>
            </a:r>
            <a:r>
              <a:rPr lang="en-GB" altLang="el-GR" sz="2200" dirty="0">
                <a:hlinkClick r:id="rId2"/>
              </a:rPr>
              <a:t>www.php.net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easy to learn and runs efficiently on the server side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1649173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991600" cy="3422176"/>
          </a:xfrm>
        </p:spPr>
        <p:txBody>
          <a:bodyPr>
            <a:noAutofit/>
          </a:bodyPr>
          <a:lstStyle/>
          <a:p>
            <a:pPr marL="0" indent="0" eaLnBrk="1">
              <a:buNone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Some info on MySQL which we will cover in the next...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is a database server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is ideal for both small and large applications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supports standard SQL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compiles on a number of platforms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is free to download and use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3494393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latin typeface="+mj-lt"/>
              </a:rPr>
              <a:t>Why use PHP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763000" cy="3422176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2000" dirty="0"/>
              <a:t>PHP is a server-side scripting language, which is used to design the dynamic web applications with MySQL database.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PHP supports several protocols such as </a:t>
            </a:r>
            <a:r>
              <a:rPr lang="en-US" sz="2000" dirty="0">
                <a:solidFill>
                  <a:srgbClr val="FF0000"/>
                </a:solidFill>
              </a:rPr>
              <a:t>HTTP, POP3, SNMP, LDAP, IMAP</a:t>
            </a:r>
            <a:r>
              <a:rPr lang="en-US" sz="2000" dirty="0"/>
              <a:t>, and many more.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Using PHP language, you can control the user to access some pages of your website.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PHP can handle the forms, such as - collect the data from users using forms, save it into the database, and return useful information to the user. </a:t>
            </a:r>
            <a:r>
              <a:rPr lang="en-US" sz="2000" dirty="0">
                <a:solidFill>
                  <a:srgbClr val="FF0000"/>
                </a:solidFill>
              </a:rPr>
              <a:t>For example - Registration form</a:t>
            </a:r>
            <a:endParaRPr lang="en-GB" altLang="el-GR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1348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latin typeface="+mj-lt"/>
              </a:rPr>
              <a:t>What Can PHP Do?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" y="963511"/>
            <a:ext cx="8763000" cy="342217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PHP can generate dynamic page content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create, open, read, write, delete, and close files on the server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collect data through forms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send and receive cookies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add, delete, modify data in your database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be used to control user-access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encrypt data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751761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Syntax</a:t>
            </a:r>
            <a:endParaRPr lang="en-US" sz="320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686800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Basic PHP Syntax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el-GR" sz="2400" dirty="0"/>
              <a:t>PHP pages contain HTML with embedded code that does "something”.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PHP script can be placed anywhere in the document.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PHP script starts with &lt;?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ends with ?&gt;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U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// Start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PHP code goes here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?&gt;   //End</a:t>
            </a:r>
            <a:endParaRPr lang="en-IN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326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C44035-A629-C2BE-E6C1-F62465A8D6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6800" y="1473200"/>
            <a:ext cx="7315199" cy="4114800"/>
          </a:xfrm>
        </p:spPr>
      </p:pic>
    </p:spTree>
    <p:extLst>
      <p:ext uri="{BB962C8B-B14F-4D97-AF65-F5344CB8AC3E}">
        <p14:creationId xmlns:p14="http://schemas.microsoft.com/office/powerpoint/2010/main" val="1993480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FE2EDF4-A938-D3C3-164E-F7A2CBFEE27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936229"/>
            <a:ext cx="8382000" cy="3773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8B97E4-E2EC-B953-1F11-56466B7DA968}"/>
              </a:ext>
            </a:extLst>
          </p:cNvPr>
          <p:cNvSpPr txBox="1"/>
          <p:nvPr/>
        </p:nvSpPr>
        <p:spPr>
          <a:xfrm>
            <a:off x="304800" y="1147941"/>
            <a:ext cx="8534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PHP code is executed on the server, and the result is returned to the browser as plain HTML</a:t>
            </a:r>
          </a:p>
        </p:txBody>
      </p:sp>
    </p:spTree>
    <p:extLst>
      <p:ext uri="{BB962C8B-B14F-4D97-AF65-F5344CB8AC3E}">
        <p14:creationId xmlns:p14="http://schemas.microsoft.com/office/powerpoint/2010/main" val="1804063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Getting Started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760" y="1143000"/>
            <a:ext cx="8804640" cy="3422176"/>
          </a:xfrm>
        </p:spPr>
        <p:txBody>
          <a:bodyPr>
            <a:noAutofit/>
          </a:bodyPr>
          <a:lstStyle/>
          <a:p>
            <a:pPr algn="just"/>
            <a:r>
              <a:rPr lang="en-US" sz="2400" dirty="0"/>
              <a:t>To install PHP, we will suggest you to install AMP (Apache, MySQL, PHP) software stack. There are many AMP options available in the market that are given below: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WAMP for Windows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LAMP for Linux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MAMP for Mac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SAMP for Solaris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XAMPP </a:t>
            </a:r>
            <a:r>
              <a:rPr lang="en-US" sz="2400" dirty="0"/>
              <a:t>(Cross, Apache, MySQL, PHP, Perl) for Cross Platform: It includes some other components too such as FileZilla, OpenSSL, </a:t>
            </a:r>
            <a:r>
              <a:rPr lang="en-US" sz="2400" dirty="0" err="1"/>
              <a:t>Webalizer</a:t>
            </a:r>
            <a:r>
              <a:rPr lang="en-US" sz="2400" dirty="0"/>
              <a:t>, Mercury Mail, etc.</a:t>
            </a:r>
          </a:p>
          <a:p>
            <a:pPr marL="0" indent="0" eaLnBrk="1">
              <a:lnSpc>
                <a:spcPct val="150000"/>
              </a:lnSpc>
              <a:spcAft>
                <a:spcPct val="0"/>
              </a:spcAft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3479273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Hello World</a:t>
            </a:r>
            <a:endParaRPr lang="en-US" sz="320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rgbClr val="FF0000"/>
                </a:solidFill>
              </a:rPr>
              <a:t> Executing first PHP script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/>
              <a:t>First Install the </a:t>
            </a:r>
            <a:r>
              <a:rPr lang="en-IN" sz="2400" dirty="0" err="1"/>
              <a:t>Xampp</a:t>
            </a:r>
            <a:r>
              <a:rPr lang="en-IN" sz="2400" dirty="0"/>
              <a:t> software</a:t>
            </a:r>
            <a:r>
              <a:rPr lang="en-IN" sz="2400" dirty="0" smtClean="0"/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 smtClean="0"/>
              <a:t>Open XAMPP </a:t>
            </a:r>
            <a:r>
              <a:rPr lang="en-IN" sz="2400" dirty="0" err="1" smtClean="0"/>
              <a:t>ControlPanel</a:t>
            </a:r>
            <a:r>
              <a:rPr lang="en-IN" sz="2400" dirty="0" smtClean="0"/>
              <a:t>.</a:t>
            </a:r>
            <a:endParaRPr lang="en-IN" sz="2400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/>
              <a:t> Start </a:t>
            </a:r>
            <a:r>
              <a:rPr lang="en-IN" sz="2400" b="1" dirty="0">
                <a:solidFill>
                  <a:srgbClr val="FF0000"/>
                </a:solidFill>
              </a:rPr>
              <a:t>Apache and </a:t>
            </a:r>
            <a:r>
              <a:rPr lang="en-IN" sz="2400" b="1" dirty="0" err="1">
                <a:solidFill>
                  <a:srgbClr val="FF0000"/>
                </a:solidFill>
              </a:rPr>
              <a:t>MysQL</a:t>
            </a:r>
            <a:r>
              <a:rPr lang="en-IN" sz="2400" b="1" dirty="0">
                <a:solidFill>
                  <a:srgbClr val="FF0000"/>
                </a:solidFill>
              </a:rPr>
              <a:t> </a:t>
            </a:r>
            <a:r>
              <a:rPr lang="en-IN" sz="2400" dirty="0"/>
              <a:t>modules.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/>
              <a:t> Go to </a:t>
            </a:r>
            <a:r>
              <a:rPr lang="en-IN" sz="2400" b="1" dirty="0" err="1">
                <a:solidFill>
                  <a:srgbClr val="FF0000"/>
                </a:solidFill>
              </a:rPr>
              <a:t>Xampp</a:t>
            </a:r>
            <a:r>
              <a:rPr lang="en-IN" sz="2400" b="1" dirty="0">
                <a:solidFill>
                  <a:srgbClr val="FF0000"/>
                </a:solidFill>
              </a:rPr>
              <a:t> </a:t>
            </a:r>
            <a:r>
              <a:rPr lang="en-IN" sz="2400" b="1" dirty="0">
                <a:solidFill>
                  <a:srgbClr val="FF0000"/>
                </a:solidFill>
                <a:sym typeface="Wingdings" panose="05000000000000000000" pitchFamily="2" charset="2"/>
              </a:rPr>
              <a:t> </a:t>
            </a:r>
            <a:r>
              <a:rPr lang="en-IN" sz="2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htdocs</a:t>
            </a:r>
            <a:endParaRPr lang="en-IN" sz="2400" b="1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sym typeface="Wingdings" panose="05000000000000000000" pitchFamily="2" charset="2"/>
              </a:rPr>
              <a:t> Create the PHP script and save it using </a:t>
            </a:r>
            <a:r>
              <a:rPr lang="en-IN" sz="2400" b="1" dirty="0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r>
              <a:rPr lang="en-IN" sz="2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php</a:t>
            </a:r>
            <a:r>
              <a:rPr lang="en-IN" sz="2400" b="1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IN" sz="2400" dirty="0">
                <a:sym typeface="Wingdings" panose="05000000000000000000" pitchFamily="2" charset="2"/>
              </a:rPr>
              <a:t>extension.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sym typeface="Wingdings" panose="05000000000000000000" pitchFamily="2" charset="2"/>
              </a:rPr>
              <a:t> </a:t>
            </a:r>
            <a:r>
              <a:rPr lang="en-IN" sz="2400" dirty="0" smtClean="0">
                <a:sym typeface="Wingdings" panose="05000000000000000000" pitchFamily="2" charset="2"/>
              </a:rPr>
              <a:t>Execution: Open </a:t>
            </a:r>
            <a:r>
              <a:rPr lang="en-IN" sz="2400" dirty="0">
                <a:sym typeface="Wingdings" panose="05000000000000000000" pitchFamily="2" charset="2"/>
              </a:rPr>
              <a:t>the browser and type:  </a:t>
            </a:r>
            <a:r>
              <a:rPr lang="en-IN" sz="2400" b="1" dirty="0">
                <a:solidFill>
                  <a:srgbClr val="FF0000"/>
                </a:solidFill>
                <a:sym typeface="Wingdings" panose="05000000000000000000" pitchFamily="2" charset="2"/>
              </a:rPr>
              <a:t>localhost/</a:t>
            </a:r>
            <a:r>
              <a:rPr lang="en-IN" sz="2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first.php</a:t>
            </a:r>
            <a:endParaRPr lang="en-IN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496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Hello World</a:t>
            </a:r>
            <a:endParaRPr lang="en-US" sz="3200" dirty="0">
              <a:latin typeface="+mj-lt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648E388-AC8E-ECA9-DF3E-AF15FB99D68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8554" y="2743200"/>
            <a:ext cx="5662612" cy="2693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38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// </a:t>
            </a:r>
            <a:r>
              <a:rPr lang="en-US" sz="2400" dirty="0"/>
              <a:t>PHP files have extension ".</a:t>
            </a:r>
            <a:r>
              <a:rPr lang="en-US" sz="2400" dirty="0" err="1"/>
              <a:t>php</a:t>
            </a:r>
            <a:r>
              <a:rPr lang="en-US" sz="2400" dirty="0"/>
              <a:t>“ </a:t>
            </a:r>
            <a:r>
              <a:rPr lang="en-IN" sz="2400" dirty="0"/>
              <a:t>(</a:t>
            </a:r>
            <a:r>
              <a:rPr lang="en-IN" sz="2400" b="1" dirty="0" err="1">
                <a:solidFill>
                  <a:srgbClr val="FF0000"/>
                </a:solidFill>
              </a:rPr>
              <a:t>first.php</a:t>
            </a:r>
            <a:r>
              <a:rPr lang="en-IN" sz="2400" dirty="0"/>
              <a:t>)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// Write the following code inside a notepad file and save it in </a:t>
            </a:r>
            <a:r>
              <a:rPr lang="en-US" sz="2400" b="1" dirty="0" err="1">
                <a:solidFill>
                  <a:srgbClr val="FF0000"/>
                </a:solidFill>
              </a:rPr>
              <a:t>htdocs</a:t>
            </a:r>
            <a:r>
              <a:rPr lang="en-US" sz="2400" dirty="0"/>
              <a:t> folder</a:t>
            </a:r>
          </a:p>
        </p:txBody>
      </p:sp>
    </p:spTree>
    <p:extLst>
      <p:ext uri="{BB962C8B-B14F-4D97-AF65-F5344CB8AC3E}">
        <p14:creationId xmlns:p14="http://schemas.microsoft.com/office/powerpoint/2010/main" val="445279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dirty="0"/>
              <a:t>PHP echo and print Statements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3058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and print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more or less the same.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differences are small:</a:t>
            </a:r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echo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</a:t>
            </a:r>
            <a:r>
              <a:rPr lang="en-US" sz="28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return value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while print has a return </a:t>
            </a:r>
            <a:r>
              <a:rPr lang="en-US" sz="28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 of 1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it can be used in expressions.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take multiple parameters (although such usage is rare) while print can take one argument.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is marginally faster than print.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4955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dirty="0"/>
              <a:t>PHP echo and print Statements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3124200" cy="3688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$name="John";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$name;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//or        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($name);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0654C1-CF54-6962-353E-6E533A356E5E}"/>
              </a:ext>
            </a:extLst>
          </p:cNvPr>
          <p:cNvSpPr txBox="1"/>
          <p:nvPr/>
        </p:nvSpPr>
        <p:spPr>
          <a:xfrm>
            <a:off x="4800600" y="1295400"/>
            <a:ext cx="4572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$name="John";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 $name;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//or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 ($name);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</a:p>
        </p:txBody>
      </p:sp>
    </p:spTree>
    <p:extLst>
      <p:ext uri="{BB962C8B-B14F-4D97-AF65-F5344CB8AC3E}">
        <p14:creationId xmlns:p14="http://schemas.microsoft.com/office/powerpoint/2010/main" val="4279979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Comments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eaLnBrk="1">
              <a:spcAft>
                <a:spcPct val="0"/>
              </a:spcAft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</a:tabLst>
            </a:pPr>
            <a:r>
              <a:rPr lang="en-GB" altLang="el-GR" sz="2800" dirty="0"/>
              <a:t>In PHP, we use </a:t>
            </a:r>
            <a:r>
              <a:rPr lang="en-GB" altLang="el-GR" sz="2800" b="1" dirty="0">
                <a:solidFill>
                  <a:srgbClr val="0000FF"/>
                </a:solidFill>
              </a:rPr>
              <a:t>//</a:t>
            </a:r>
            <a:r>
              <a:rPr lang="en-GB" altLang="el-GR" sz="2800" dirty="0"/>
              <a:t>  or </a:t>
            </a:r>
            <a:r>
              <a:rPr lang="en-GB" altLang="el-GR" sz="2800" b="1" dirty="0">
                <a:solidFill>
                  <a:srgbClr val="0000FF"/>
                </a:solidFill>
              </a:rPr>
              <a:t>#</a:t>
            </a:r>
            <a:r>
              <a:rPr lang="en-GB" altLang="el-GR" sz="2800" dirty="0"/>
              <a:t> to make a single-line comment or </a:t>
            </a:r>
            <a:r>
              <a:rPr lang="en-GB" altLang="el-GR" sz="2800" b="1" dirty="0">
                <a:solidFill>
                  <a:srgbClr val="0000FF"/>
                </a:solidFill>
              </a:rPr>
              <a:t>/*</a:t>
            </a:r>
            <a:r>
              <a:rPr lang="en-GB" altLang="el-GR" sz="2800" dirty="0"/>
              <a:t> and </a:t>
            </a:r>
            <a:r>
              <a:rPr lang="en-GB" altLang="el-GR" sz="2800" b="1" dirty="0">
                <a:solidFill>
                  <a:srgbClr val="0000FF"/>
                </a:solidFill>
              </a:rPr>
              <a:t>*/</a:t>
            </a:r>
            <a:r>
              <a:rPr lang="en-GB" altLang="el-GR" sz="2800" dirty="0"/>
              <a:t> to make a large comment block.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A761C73-C634-3B09-99DF-102005354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397766"/>
            <a:ext cx="3851275" cy="40386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17627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2597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800" dirty="0"/>
              <a:t>Variables are used for storing values, like text strings, numbers or arrays.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800" dirty="0"/>
              <a:t>All variables in PHP start with a </a:t>
            </a:r>
            <a:r>
              <a:rPr lang="en-GB" altLang="el-GR" sz="2800" b="1" dirty="0">
                <a:solidFill>
                  <a:srgbClr val="FF0000"/>
                </a:solidFill>
              </a:rPr>
              <a:t>$</a:t>
            </a:r>
            <a:r>
              <a:rPr lang="en-GB" altLang="el-GR" sz="2800" dirty="0"/>
              <a:t> sign symbol.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800" dirty="0"/>
              <a:t>The correct way of declaring a variable in PHP: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2CC86F-79A5-0CEA-30ED-F65A1545E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4041358"/>
            <a:ext cx="4859337" cy="137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54445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27937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In PHP, a variable does not need to be declared before adding a value to it.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you do not have to tell PHP which data type the variable is.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PHP automatically converts the variable to the correct data type, depending on its value.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62AA8886-E3DF-EF99-8B3D-9653DBFDEB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4876" y="3810000"/>
            <a:ext cx="4468812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13676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4457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b="1" u="sng" dirty="0">
                <a:solidFill>
                  <a:srgbClr val="FF0000"/>
                </a:solidFill>
              </a:rPr>
              <a:t>RULES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A variable name must start with a letter or an underscore </a:t>
            </a:r>
            <a:r>
              <a:rPr lang="en-GB" altLang="el-GR" sz="2400" dirty="0">
                <a:solidFill>
                  <a:srgbClr val="FF0000"/>
                </a:solidFill>
              </a:rPr>
              <a:t>"_“ </a:t>
            </a:r>
            <a:r>
              <a:rPr lang="en-GB" altLang="el-GR" sz="2400" dirty="0"/>
              <a:t>not a number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A variable name can only contain alpha-numeric characters, underscores </a:t>
            </a:r>
            <a:r>
              <a:rPr lang="en-GB" altLang="el-GR" sz="2400" dirty="0">
                <a:solidFill>
                  <a:srgbClr val="FF0000"/>
                </a:solidFill>
              </a:rPr>
              <a:t>(a-z, A-Z, 0-9, and _ )</a:t>
            </a:r>
            <a:r>
              <a:rPr lang="ar-SA" altLang="el-GR" sz="2400" dirty="0">
                <a:solidFill>
                  <a:srgbClr val="FF0000"/>
                </a:solidFill>
              </a:rPr>
              <a:t>‏</a:t>
            </a:r>
            <a:endParaRPr lang="en-GB" altLang="el-GR" sz="2400" dirty="0">
              <a:solidFill>
                <a:srgbClr val="FF0000"/>
              </a:solidFill>
            </a:endParaRP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A variable name should not contain spaces. If a variable name is more than one word, it should be separated with an underscore ($</a:t>
            </a:r>
            <a:r>
              <a:rPr lang="en-GB" altLang="el-GR" sz="2400" dirty="0" err="1"/>
              <a:t>my_string</a:t>
            </a:r>
            <a:r>
              <a:rPr lang="en-GB" altLang="el-GR" sz="2400" dirty="0"/>
              <a:t>) or with capitalization ($</a:t>
            </a:r>
            <a:r>
              <a:rPr lang="en-GB" altLang="el-GR" sz="2400" dirty="0" err="1"/>
              <a:t>myString</a:t>
            </a:r>
            <a:r>
              <a:rPr lang="en-GB" altLang="el-GR" sz="2400" dirty="0"/>
              <a:t>)</a:t>
            </a:r>
            <a:r>
              <a:rPr lang="ar-SA" altLang="el-GR" sz="2400" dirty="0"/>
              <a:t>‏</a:t>
            </a: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1819626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sz="2000" dirty="0"/>
              <a:t>// Defining new variables and printing their values</a:t>
            </a:r>
          </a:p>
          <a:p>
            <a:pPr marL="0" indent="0">
              <a:buNone/>
            </a:pPr>
            <a:r>
              <a:rPr lang="en-IN" sz="2000" dirty="0"/>
              <a:t>&lt;html&gt;</a:t>
            </a:r>
          </a:p>
          <a:p>
            <a:pPr marL="0" indent="0">
              <a:buNone/>
            </a:pPr>
            <a:r>
              <a:rPr lang="en-IN" sz="2000" dirty="0"/>
              <a:t>&lt;body&gt;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&lt;?</a:t>
            </a:r>
            <a:r>
              <a:rPr lang="en-IN" sz="2000" b="1" dirty="0" err="1">
                <a:highlight>
                  <a:srgbClr val="FFFF00"/>
                </a:highlight>
              </a:rPr>
              <a:t>php</a:t>
            </a:r>
            <a:endParaRPr lang="en-IN" sz="2000" b="1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$txt = "Hello world!";  // defining variable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$x = 5;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$y = 10.5;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$txt;  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"&lt;</a:t>
            </a:r>
            <a:r>
              <a:rPr lang="en-IN" sz="2000" b="1" dirty="0" err="1">
                <a:highlight>
                  <a:srgbClr val="FFFF00"/>
                </a:highlight>
              </a:rPr>
              <a:t>br</a:t>
            </a:r>
            <a:r>
              <a:rPr lang="en-IN" sz="2000" b="1" dirty="0">
                <a:highlight>
                  <a:srgbClr val="FFFF00"/>
                </a:highlight>
              </a:rPr>
              <a:t>&gt;";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$x;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"&lt;</a:t>
            </a:r>
            <a:r>
              <a:rPr lang="en-IN" sz="2000" b="1" dirty="0" err="1">
                <a:highlight>
                  <a:srgbClr val="FFFF00"/>
                </a:highlight>
              </a:rPr>
              <a:t>br</a:t>
            </a:r>
            <a:r>
              <a:rPr lang="en-IN" sz="2000" b="1" dirty="0">
                <a:highlight>
                  <a:srgbClr val="FFFF00"/>
                </a:highlight>
              </a:rPr>
              <a:t>&gt;";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$y;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?&gt;</a:t>
            </a:r>
          </a:p>
          <a:p>
            <a:pPr marL="0" indent="0">
              <a:buNone/>
            </a:pPr>
            <a:r>
              <a:rPr lang="en-IN" sz="2000" dirty="0"/>
              <a:t>&lt;/body&gt;</a:t>
            </a:r>
          </a:p>
          <a:p>
            <a:pPr marL="0" indent="0">
              <a:buNone/>
            </a:pPr>
            <a:r>
              <a:rPr lang="en-IN" sz="2000" dirty="0"/>
              <a:t>&lt;/html&gt;</a:t>
            </a:r>
            <a:endParaRPr lang="en-GB" altLang="el-GR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F1CC61-1118-4A0C-AA9E-9ECC2BA0FC96}"/>
              </a:ext>
            </a:extLst>
          </p:cNvPr>
          <p:cNvSpPr txBox="1"/>
          <p:nvPr/>
        </p:nvSpPr>
        <p:spPr>
          <a:xfrm>
            <a:off x="5105400" y="3810000"/>
            <a:ext cx="1752600" cy="92333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Hello world!</a:t>
            </a:r>
            <a:r>
              <a:rPr lang="en-IN" b="1" dirty="0"/>
              <a:t/>
            </a:r>
            <a:br>
              <a:rPr lang="en-IN" b="1" dirty="0"/>
            </a:br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r>
              <a:rPr lang="en-IN" b="1" dirty="0"/>
              <a:t/>
            </a:r>
            <a:br>
              <a:rPr lang="en-IN" b="1" dirty="0"/>
            </a:br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10.5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4161707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PHP variables: local and global</a:t>
            </a:r>
          </a:p>
          <a:p>
            <a:pPr marL="0" indent="0">
              <a:buNone/>
            </a:pPr>
            <a:r>
              <a:rPr lang="en-IN" dirty="0"/>
              <a:t>&lt;html&gt;</a:t>
            </a:r>
          </a:p>
          <a:p>
            <a:pPr marL="0" indent="0">
              <a:buNone/>
            </a:pPr>
            <a:r>
              <a:rPr lang="en-IN" dirty="0"/>
              <a:t>&lt;body&gt;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FFFF00"/>
                </a:highlight>
              </a:rPr>
              <a:t>&lt;? </a:t>
            </a:r>
            <a:r>
              <a:rPr lang="en-IN" b="1" dirty="0" err="1">
                <a:highlight>
                  <a:srgbClr val="FFFF00"/>
                </a:highlight>
              </a:rPr>
              <a:t>php</a:t>
            </a:r>
            <a:endParaRPr lang="en-IN" b="1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b="1" dirty="0">
                <a:highlight>
                  <a:srgbClr val="FFFF00"/>
                </a:highlight>
              </a:rPr>
              <a:t>$x = 5; // global scope</a:t>
            </a:r>
          </a:p>
          <a:p>
            <a:pPr marL="0" indent="0">
              <a:buNone/>
            </a:pPr>
            <a:endParaRPr lang="en-IN" b="1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b="1" dirty="0">
                <a:highlight>
                  <a:srgbClr val="00FF00"/>
                </a:highlight>
              </a:rPr>
              <a:t>function Test() {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00"/>
                </a:highlight>
              </a:rPr>
              <a:t>  // using x inside this function will generate an error 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00"/>
                </a:highlight>
              </a:rPr>
              <a:t>  echo "&lt;p&gt;Variable x inside function is: $x&lt;/p&gt;";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00"/>
                </a:highlight>
              </a:rPr>
              <a:t>} </a:t>
            </a:r>
          </a:p>
          <a:p>
            <a:pPr marL="0" indent="0">
              <a:buNone/>
            </a:pPr>
            <a:endParaRPr lang="en-IN" b="1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b="1" dirty="0">
                <a:highlight>
                  <a:srgbClr val="00FFFF"/>
                </a:highlight>
              </a:rPr>
              <a:t>Test();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FF"/>
                </a:highlight>
              </a:rPr>
              <a:t>echo "&lt;p&gt;Variable x outside function is: $x&lt;/p&gt;";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FF"/>
                </a:highlight>
              </a:rPr>
              <a:t>?&gt;</a:t>
            </a:r>
          </a:p>
          <a:p>
            <a:pPr marL="0" indent="0">
              <a:buNone/>
            </a:pPr>
            <a:r>
              <a:rPr lang="en-IN" dirty="0"/>
              <a:t>&lt;/body&gt;</a:t>
            </a:r>
          </a:p>
          <a:p>
            <a:pPr marL="0" indent="0">
              <a:buNone/>
            </a:pPr>
            <a:r>
              <a:rPr lang="en-IN" dirty="0"/>
              <a:t>&lt;/html&gt;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9068B-CEB9-51B6-4017-1139FEA561CE}"/>
              </a:ext>
            </a:extLst>
          </p:cNvPr>
          <p:cNvSpPr txBox="1"/>
          <p:nvPr/>
        </p:nvSpPr>
        <p:spPr>
          <a:xfrm>
            <a:off x="3810000" y="1600200"/>
            <a:ext cx="5105400" cy="120032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Notice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: Undefined variable: x in </a:t>
            </a: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C:\xampp\htdocs\first.php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on line </a:t>
            </a: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Variable x inside function is:</a:t>
            </a:r>
          </a:p>
          <a:p>
            <a:pPr algn="l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Variable x outside function is: 5</a:t>
            </a:r>
          </a:p>
        </p:txBody>
      </p:sp>
    </p:spTree>
    <p:extLst>
      <p:ext uri="{BB962C8B-B14F-4D97-AF65-F5344CB8AC3E}">
        <p14:creationId xmlns:p14="http://schemas.microsoft.com/office/powerpoint/2010/main" val="790057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PHP variables: local and global</a:t>
            </a:r>
          </a:p>
          <a:p>
            <a:pPr marL="0" indent="0">
              <a:buNone/>
            </a:pPr>
            <a:r>
              <a:rPr lang="en-IN" dirty="0"/>
              <a:t>&lt;html&gt;</a:t>
            </a:r>
          </a:p>
          <a:p>
            <a:pPr marL="0" indent="0">
              <a:buNone/>
            </a:pPr>
            <a:r>
              <a:rPr lang="en-IN" dirty="0"/>
              <a:t>&lt;body&gt;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FFFF00"/>
                </a:highlight>
              </a:rPr>
              <a:t>&lt;? </a:t>
            </a:r>
            <a:r>
              <a:rPr lang="en-IN" b="1" dirty="0" err="1">
                <a:highlight>
                  <a:srgbClr val="FFFF00"/>
                </a:highlight>
              </a:rPr>
              <a:t>php</a:t>
            </a:r>
            <a:endParaRPr lang="en-IN" b="1" dirty="0">
              <a:highlight>
                <a:srgbClr val="FFFF00"/>
              </a:highlight>
            </a:endParaRPr>
          </a:p>
          <a:p>
            <a:r>
              <a:rPr lang="en-US" b="1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function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Test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   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  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echo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"&lt;p&gt;Variable x inside function is: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&lt;/p&gt;"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} 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Test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echo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"&lt;p&gt;Variable x outside function is: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&lt;/p&gt;"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?&gt;</a:t>
            </a:r>
            <a:endParaRPr lang="en-US" b="1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IN" dirty="0"/>
              <a:t>&lt;/body&gt;</a:t>
            </a:r>
          </a:p>
          <a:p>
            <a:pPr marL="0" indent="0">
              <a:buNone/>
            </a:pPr>
            <a:r>
              <a:rPr lang="en-IN" dirty="0"/>
              <a:t>&lt;/html&gt;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35C39-B3C9-265E-6BFA-39EFC216EFC5}"/>
              </a:ext>
            </a:extLst>
          </p:cNvPr>
          <p:cNvSpPr txBox="1"/>
          <p:nvPr/>
        </p:nvSpPr>
        <p:spPr>
          <a:xfrm>
            <a:off x="2895600" y="4743986"/>
            <a:ext cx="45720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Variable x inside function is: 5</a:t>
            </a:r>
          </a:p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Variable x outside function is: 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131D87-6F64-AD71-39FB-3CA5E4FC041A}"/>
              </a:ext>
            </a:extLst>
          </p:cNvPr>
          <p:cNvSpPr txBox="1"/>
          <p:nvPr/>
        </p:nvSpPr>
        <p:spPr>
          <a:xfrm>
            <a:off x="5181600" y="1676400"/>
            <a:ext cx="37302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print('Variable x inside function is:'.$x);</a:t>
            </a:r>
          </a:p>
        </p:txBody>
      </p:sp>
    </p:spTree>
    <p:extLst>
      <p:ext uri="{BB962C8B-B14F-4D97-AF65-F5344CB8AC3E}">
        <p14:creationId xmlns:p14="http://schemas.microsoft.com/office/powerpoint/2010/main" val="1794777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76003" y="1143000"/>
            <a:ext cx="8763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PHP variables: local and global</a:t>
            </a:r>
          </a:p>
          <a:p>
            <a:pPr marL="0" indent="0">
              <a:buNone/>
            </a:pPr>
            <a:r>
              <a:rPr lang="en-IN" dirty="0"/>
              <a:t>&lt;html&gt;</a:t>
            </a:r>
          </a:p>
          <a:p>
            <a:pPr marL="0" indent="0">
              <a:buNone/>
            </a:pPr>
            <a:r>
              <a:rPr lang="en-IN" dirty="0"/>
              <a:t>&lt;body&gt;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FFFF00"/>
                </a:highlight>
              </a:rPr>
              <a:t>&lt;? </a:t>
            </a:r>
            <a:r>
              <a:rPr lang="en-IN" b="1" dirty="0" err="1">
                <a:highlight>
                  <a:srgbClr val="FFFF00"/>
                </a:highlight>
              </a:rPr>
              <a:t>php</a:t>
            </a:r>
            <a:endParaRPr lang="en-IN" b="1" dirty="0">
              <a:highlight>
                <a:srgbClr val="FFFF00"/>
              </a:highlight>
            </a:endParaRPr>
          </a:p>
          <a:p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 </a:t>
            </a:r>
          </a:p>
          <a:p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$y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</a:t>
            </a:r>
            <a:r>
              <a:rPr lang="en-US" b="1" dirty="0">
                <a:solidFill>
                  <a:srgbClr val="0000F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function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Test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0000F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global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</a:t>
            </a:r>
            <a:r>
              <a:rPr lang="en-US" b="1" dirty="0" err="1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x</a:t>
            </a:r>
            <a:r>
              <a:rPr lang="en-US" b="1" dirty="0" err="1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,</a:t>
            </a:r>
            <a:r>
              <a:rPr lang="en-US" b="1" dirty="0" err="1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$y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;   //Access global variable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$y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+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 } 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echo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"&lt;p&gt;Sum of Number: </a:t>
            </a:r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&lt;/p&gt;"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?&gt;</a:t>
            </a:r>
            <a:endParaRPr lang="en-US" b="1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IN" dirty="0"/>
              <a:t>&lt;/body&gt;</a:t>
            </a:r>
          </a:p>
          <a:p>
            <a:pPr marL="0" indent="0">
              <a:buNone/>
            </a:pPr>
            <a:r>
              <a:rPr lang="en-IN" dirty="0"/>
              <a:t>&lt;/html&gt;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131D87-6F64-AD71-39FB-3CA5E4FC041A}"/>
              </a:ext>
            </a:extLst>
          </p:cNvPr>
          <p:cNvSpPr txBox="1"/>
          <p:nvPr/>
        </p:nvSpPr>
        <p:spPr>
          <a:xfrm>
            <a:off x="5181600" y="1676400"/>
            <a:ext cx="37302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7062A6-7D6C-FAE9-E7F6-5B861581F50E}"/>
              </a:ext>
            </a:extLst>
          </p:cNvPr>
          <p:cNvSpPr txBox="1"/>
          <p:nvPr/>
        </p:nvSpPr>
        <p:spPr>
          <a:xfrm>
            <a:off x="5791200" y="5181600"/>
            <a:ext cx="243132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Sum of 2 numbers: 11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485539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PHP variables: static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Normally, when a function is completed/executed, all of its variables are deleted. However, sometimes we want a local variable NOT to be deleted. We need it for a further job.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103A8-ED67-5BFE-41ED-CE541D0913A0}"/>
              </a:ext>
            </a:extLst>
          </p:cNvPr>
          <p:cNvSpPr txBox="1"/>
          <p:nvPr/>
        </p:nvSpPr>
        <p:spPr>
          <a:xfrm>
            <a:off x="393492" y="2575679"/>
            <a:ext cx="4586990" cy="31393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b="1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IN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IN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myTest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myTest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myTest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myTest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EBFFE-2666-D9E4-46AF-572292C995C0}"/>
              </a:ext>
            </a:extLst>
          </p:cNvPr>
          <p:cNvSpPr txBox="1"/>
          <p:nvPr/>
        </p:nvSpPr>
        <p:spPr>
          <a:xfrm>
            <a:off x="5410200" y="4084022"/>
            <a:ext cx="762000" cy="36933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0 1 2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99047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Concatenation 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The concatenation operator (.)  is used to put two string values together.</a:t>
            </a:r>
          </a:p>
          <a:p>
            <a:pPr marL="285750" indent="-28575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To concatenate two string variables together, use the concatenation operator: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C94D2-FBCA-6B1E-70F6-EF50477860F6}"/>
              </a:ext>
            </a:extLst>
          </p:cNvPr>
          <p:cNvSpPr txBox="1"/>
          <p:nvPr/>
        </p:nvSpPr>
        <p:spPr>
          <a:xfrm>
            <a:off x="762000" y="3400430"/>
            <a:ext cx="5029200" cy="193899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en-IN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sz="2400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IN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"good"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r>
              <a:rPr lang="en-IN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$y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IN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"morning"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2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$y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E22C7-0CC1-0E7D-CF67-F10C68342005}"/>
              </a:ext>
            </a:extLst>
          </p:cNvPr>
          <p:cNvSpPr txBox="1"/>
          <p:nvPr/>
        </p:nvSpPr>
        <p:spPr>
          <a:xfrm>
            <a:off x="6019800" y="4932615"/>
            <a:ext cx="1683479" cy="36933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good morning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358186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– Html code 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&lt;body&gt;</a:t>
            </a: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&lt;h1&gt;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  HTML</a:t>
            </a:r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&lt;/h1&gt;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&lt;p&gt;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US" sz="2400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there."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$answer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"The answer is 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$answer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what "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"was the question again?"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&lt;/p&gt;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&lt;p&gt;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Yes another paragraph.</a:t>
            </a:r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&lt;/p&gt;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&lt;/body&gt;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B02DFF-0B4E-A909-5935-59D3B1D92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1600200"/>
            <a:ext cx="3724795" cy="1209844"/>
          </a:xfrm>
          <a:prstGeom prst="rect">
            <a:avLst/>
          </a:prstGeom>
          <a:ln>
            <a:solidFill>
              <a:schemeClr val="bg2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572336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Data Types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CFCCC9-91C0-C62C-EFD8-D8F07FD81357}"/>
              </a:ext>
            </a:extLst>
          </p:cNvPr>
          <p:cNvSpPr txBox="1"/>
          <p:nvPr/>
        </p:nvSpPr>
        <p:spPr>
          <a:xfrm>
            <a:off x="455950" y="1295400"/>
            <a:ext cx="845944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Variables can store data of different types, and different data types can do different things.</a:t>
            </a:r>
          </a:p>
          <a:p>
            <a:pPr algn="l"/>
            <a:endParaRPr lang="en-US" sz="2400" dirty="0">
              <a:latin typeface="Bookman Old Style" panose="02050604050505020204" pitchFamily="18" charset="0"/>
              <a:ea typeface="+mj-ea"/>
              <a:cs typeface="+mj-cs"/>
            </a:endParaRPr>
          </a:p>
          <a:p>
            <a:pPr marL="0" indent="0" algn="l">
              <a:buNone/>
            </a:pPr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PHP supports the following data types: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String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Integer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Float (floating point numbers - also called double)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Boolean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Array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Object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NULL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Resource</a:t>
            </a:r>
          </a:p>
        </p:txBody>
      </p:sp>
    </p:spTree>
    <p:extLst>
      <p:ext uri="{BB962C8B-B14F-4D97-AF65-F5344CB8AC3E}">
        <p14:creationId xmlns:p14="http://schemas.microsoft.com/office/powerpoint/2010/main" val="2341085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String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CFCCC9-91C0-C62C-EFD8-D8F07FD81357}"/>
              </a:ext>
            </a:extLst>
          </p:cNvPr>
          <p:cNvSpPr txBox="1"/>
          <p:nvPr/>
        </p:nvSpPr>
        <p:spPr>
          <a:xfrm>
            <a:off x="457200" y="1143000"/>
            <a:ext cx="8459449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A string is a sequence of characters, like "Hello world!".</a:t>
            </a:r>
          </a:p>
          <a:p>
            <a:pPr algn="l"/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A string can be any text inside quotes. </a:t>
            </a:r>
          </a:p>
          <a:p>
            <a:pPr algn="l"/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To use single or double quotes</a:t>
            </a:r>
          </a:p>
          <a:p>
            <a:r>
              <a:rPr lang="en-IN" sz="2400" b="1" u="sng" dirty="0">
                <a:latin typeface="Bookman Old Style" panose="02050604050505020204" pitchFamily="18" charset="0"/>
                <a:ea typeface="+mj-ea"/>
                <a:cs typeface="+mj-cs"/>
              </a:rPr>
              <a:t>Example</a:t>
            </a:r>
          </a:p>
          <a:p>
            <a:pPr marL="0" indent="0" algn="l">
              <a:buNone/>
            </a:pPr>
            <a: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  <a:t>&lt;?</a:t>
            </a:r>
            <a:r>
              <a:rPr lang="es-ES" sz="2400" dirty="0" err="1">
                <a:latin typeface="Bookman Old Style" panose="02050604050505020204" pitchFamily="18" charset="0"/>
                <a:ea typeface="+mj-ea"/>
                <a:cs typeface="+mj-cs"/>
              </a:rPr>
              <a:t>php</a:t>
            </a:r>
            <a: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  <a:t/>
            </a:r>
            <a:b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$x = "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Hello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 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world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!";</a:t>
            </a:r>
            <a:b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$y = '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Hello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 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world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!';</a:t>
            </a:r>
            <a:b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echo $x;</a:t>
            </a:r>
            <a:b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echo "&lt;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br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&gt;";</a:t>
            </a:r>
            <a:b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echo $y;</a:t>
            </a:r>
            <a: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  <a:t/>
            </a:r>
            <a:b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36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US" sz="36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749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Integer 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CFCCC9-91C0-C62C-EFD8-D8F07FD81357}"/>
              </a:ext>
            </a:extLst>
          </p:cNvPr>
          <p:cNvSpPr txBox="1"/>
          <p:nvPr/>
        </p:nvSpPr>
        <p:spPr>
          <a:xfrm>
            <a:off x="457200" y="1143000"/>
            <a:ext cx="8459449" cy="341632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integer data type is a non-decimal number between                -2,147,483,648 and 2,147,483,647.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 the following example $x is an integer.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PHP </a:t>
            </a:r>
            <a:r>
              <a:rPr lang="en-US" sz="2400" b="0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function returns the data type and value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400" b="0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$x = </a:t>
            </a: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5985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($x);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B63476-8529-FEA1-8A0E-E777D7BF5E84}"/>
              </a:ext>
            </a:extLst>
          </p:cNvPr>
          <p:cNvSpPr txBox="1"/>
          <p:nvPr/>
        </p:nvSpPr>
        <p:spPr>
          <a:xfrm>
            <a:off x="4953000" y="3244334"/>
            <a:ext cx="1066800" cy="369332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int(5985)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522469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float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CFCCC9-91C0-C62C-EFD8-D8F07FD81357}"/>
              </a:ext>
            </a:extLst>
          </p:cNvPr>
          <p:cNvSpPr txBox="1"/>
          <p:nvPr/>
        </p:nvSpPr>
        <p:spPr>
          <a:xfrm>
            <a:off x="457200" y="1143000"/>
            <a:ext cx="8459449" cy="30469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float (floating point number) is a number with a decimal point or a number in exponential form.</a:t>
            </a:r>
          </a:p>
          <a:p>
            <a:pPr algn="l"/>
            <a:endParaRPr lang="en-US" sz="2400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IN" sz="2400" b="0" i="0" u="sng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400" b="0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$x = </a:t>
            </a: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10.365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($x);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BED80-E002-2B01-42DF-19E165143244}"/>
              </a:ext>
            </a:extLst>
          </p:cNvPr>
          <p:cNvSpPr txBox="1"/>
          <p:nvPr/>
        </p:nvSpPr>
        <p:spPr>
          <a:xfrm>
            <a:off x="419100" y="4156260"/>
            <a:ext cx="830580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Bookman Old Style" panose="02050604050505020204" pitchFamily="18" charset="0"/>
                <a:ea typeface="+mj-ea"/>
                <a:cs typeface="+mj-cs"/>
              </a:rPr>
              <a:t>Boolean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Boolean represents two possible states: TRUE or FALSE.</a:t>
            </a:r>
          </a:p>
          <a:p>
            <a:pPr marL="0" indent="0">
              <a:buNone/>
            </a:pPr>
            <a:r>
              <a:rPr lang="en-IN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$x = true;</a:t>
            </a:r>
            <a:br>
              <a:rPr lang="en-IN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$y = false;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0370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066E1D-5ADF-1073-9677-4D2CC881CCE9}"/>
              </a:ext>
            </a:extLst>
          </p:cNvPr>
          <p:cNvSpPr txBox="1"/>
          <p:nvPr/>
        </p:nvSpPr>
        <p:spPr>
          <a:xfrm>
            <a:off x="266700" y="1120676"/>
            <a:ext cx="8763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array stores multiple values in one single variable.</a:t>
            </a:r>
          </a:p>
          <a:p>
            <a:pPr marL="0" indent="0">
              <a:buNone/>
            </a:pP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400" b="0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$cars = </a:t>
            </a:r>
            <a:r>
              <a:rPr lang="en-IN" sz="2400" b="0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2400" b="0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IN" sz="2400" b="0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Volvo"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IN" sz="2400" b="0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"BMW"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IN" sz="2400" b="0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"Toyota</a:t>
            </a:r>
            <a:r>
              <a:rPr lang="en-IN" sz="2400" b="0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($cars);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F7B4B-0947-70D0-FD48-9F5F9BBD10CE}"/>
              </a:ext>
            </a:extLst>
          </p:cNvPr>
          <p:cNvSpPr txBox="1"/>
          <p:nvPr/>
        </p:nvSpPr>
        <p:spPr>
          <a:xfrm>
            <a:off x="148860" y="3429000"/>
            <a:ext cx="8763000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800" b="1" dirty="0">
                <a:latin typeface="Bookman Old Style" panose="02050604050505020204" pitchFamily="18" charset="0"/>
                <a:ea typeface="+mj-ea"/>
                <a:cs typeface="+mj-cs"/>
              </a:rPr>
              <a:t>NULL Value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Null is a special data type which can have only one value: NULL.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variable of data type NULL is a variable that has no value assigned to it.</a:t>
            </a:r>
            <a:r>
              <a:rPr lang="en-IN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</a:t>
            </a: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&lt;?</a:t>
            </a:r>
            <a:r>
              <a:rPr lang="en-IN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$x = "Hello world!";</a:t>
            </a:r>
            <a:b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$x = null;</a:t>
            </a:r>
          </a:p>
          <a:p>
            <a:pPr marL="0" indent="0">
              <a:buNone/>
            </a:pP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</a:t>
            </a:r>
            <a:r>
              <a:rPr lang="en-IN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($x);         ?&gt;</a:t>
            </a:r>
          </a:p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FED35-4EB8-484B-BCF9-B08551EE4D7F}"/>
              </a:ext>
            </a:extLst>
          </p:cNvPr>
          <p:cNvSpPr txBox="1"/>
          <p:nvPr/>
        </p:nvSpPr>
        <p:spPr>
          <a:xfrm>
            <a:off x="2971800" y="2782669"/>
            <a:ext cx="6023340" cy="64633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array(3) { [0]=&gt; string(5) "Volvo" [1]=&gt; string(3) "BMW" [2]=&gt; string(6) "Toyota" }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6886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 smtClean="0"/>
              <a:t>Ro read value from user – </a:t>
            </a:r>
            <a:r>
              <a:rPr lang="en-GB" altLang="el-GR" dirty="0" err="1" smtClean="0"/>
              <a:t>readline</a:t>
            </a:r>
            <a:r>
              <a:rPr lang="en-GB" altLang="el-GR" dirty="0" smtClean="0"/>
              <a:t>()</a:t>
            </a:r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066E1D-5ADF-1073-9677-4D2CC881CCE9}"/>
              </a:ext>
            </a:extLst>
          </p:cNvPr>
          <p:cNvSpPr txBox="1"/>
          <p:nvPr/>
        </p:nvSpPr>
        <p:spPr>
          <a:xfrm>
            <a:off x="389021" y="1546285"/>
            <a:ext cx="8763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F7B4B-0947-70D0-FD48-9F5F9BBD10CE}"/>
              </a:ext>
            </a:extLst>
          </p:cNvPr>
          <p:cNvSpPr txBox="1"/>
          <p:nvPr/>
        </p:nvSpPr>
        <p:spPr>
          <a:xfrm>
            <a:off x="228600" y="1866996"/>
            <a:ext cx="8763000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800" b="1" dirty="0" smtClean="0">
                <a:latin typeface="Bookman Old Style" panose="02050604050505020204" pitchFamily="18" charset="0"/>
                <a:ea typeface="+mj-ea"/>
                <a:cs typeface="+mj-cs"/>
              </a:rPr>
              <a:t>$s = </a:t>
            </a:r>
            <a:r>
              <a:rPr lang="en-US" sz="2800" b="1" dirty="0" err="1" smtClean="0">
                <a:latin typeface="Bookman Old Style" panose="02050604050505020204" pitchFamily="18" charset="0"/>
                <a:ea typeface="+mj-ea"/>
                <a:cs typeface="+mj-cs"/>
              </a:rPr>
              <a:t>readline</a:t>
            </a:r>
            <a:r>
              <a:rPr lang="en-US" sz="2800" b="1" dirty="0" smtClean="0">
                <a:latin typeface="Bookman Old Style" panose="02050604050505020204" pitchFamily="18" charset="0"/>
                <a:ea typeface="+mj-ea"/>
                <a:cs typeface="+mj-cs"/>
              </a:rPr>
              <a:t>(‘enter string’);</a:t>
            </a:r>
          </a:p>
          <a:p>
            <a:endParaRPr lang="en-US" sz="2800" b="1" dirty="0">
              <a:latin typeface="Bookman Old Style" panose="02050604050505020204" pitchFamily="18" charset="0"/>
              <a:ea typeface="+mj-ea"/>
              <a:cs typeface="+mj-cs"/>
            </a:endParaRPr>
          </a:p>
          <a:p>
            <a:r>
              <a:rPr lang="en-US" sz="2800" b="1" dirty="0" smtClean="0">
                <a:latin typeface="Bookman Old Style" panose="02050604050505020204" pitchFamily="18" charset="0"/>
                <a:ea typeface="+mj-ea"/>
                <a:cs typeface="+mj-cs"/>
              </a:rPr>
              <a:t>$a = (</a:t>
            </a:r>
            <a:r>
              <a:rPr lang="en-US" sz="2800" b="1" dirty="0" err="1" smtClean="0">
                <a:latin typeface="Bookman Old Style" panose="02050604050505020204" pitchFamily="18" charset="0"/>
                <a:ea typeface="+mj-ea"/>
                <a:cs typeface="+mj-cs"/>
              </a:rPr>
              <a:t>int</a:t>
            </a:r>
            <a:r>
              <a:rPr lang="en-US" sz="2800" b="1" dirty="0" smtClean="0">
                <a:latin typeface="Bookman Old Style" panose="02050604050505020204" pitchFamily="18" charset="0"/>
                <a:ea typeface="+mj-ea"/>
                <a:cs typeface="+mj-cs"/>
              </a:rPr>
              <a:t>)</a:t>
            </a:r>
            <a:r>
              <a:rPr lang="en-US" sz="2800" b="1" dirty="0" err="1" smtClean="0">
                <a:latin typeface="Bookman Old Style" panose="02050604050505020204" pitchFamily="18" charset="0"/>
                <a:ea typeface="+mj-ea"/>
                <a:cs typeface="+mj-cs"/>
              </a:rPr>
              <a:t>readline</a:t>
            </a:r>
            <a:r>
              <a:rPr lang="en-US" sz="2800" b="1" dirty="0" smtClean="0">
                <a:latin typeface="Bookman Old Style" panose="02050604050505020204" pitchFamily="18" charset="0"/>
                <a:ea typeface="+mj-ea"/>
                <a:cs typeface="+mj-cs"/>
              </a:rPr>
              <a:t>(‘Enter an integer’);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1207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Operators</a:t>
            </a:r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9A687-A30C-F9D9-BFF0-02BA5B8E3242}"/>
              </a:ext>
            </a:extLst>
          </p:cNvPr>
          <p:cNvSpPr txBox="1"/>
          <p:nvPr/>
        </p:nvSpPr>
        <p:spPr>
          <a:xfrm>
            <a:off x="457200" y="1295400"/>
            <a:ext cx="7391400" cy="445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Arithmetic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Logical or Relational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Comparison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Conditional or Ternary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Increment/Decrement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 Operators</a:t>
            </a:r>
          </a:p>
        </p:txBody>
      </p:sp>
    </p:spTree>
    <p:extLst>
      <p:ext uri="{BB962C8B-B14F-4D97-AF65-F5344CB8AC3E}">
        <p14:creationId xmlns:p14="http://schemas.microsoft.com/office/powerpoint/2010/main" val="3597652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Operators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1E84B1-5568-4889-6BA4-4A974EA7F832}"/>
              </a:ext>
            </a:extLst>
          </p:cNvPr>
          <p:cNvSpPr txBox="1"/>
          <p:nvPr/>
        </p:nvSpPr>
        <p:spPr>
          <a:xfrm>
            <a:off x="447207" y="1397675"/>
            <a:ext cx="359139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1.Arithmetic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+ = Addition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- = Subtraction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* = Multiplication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/ = Division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% = Modulo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** = Exponentiation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67054B-9F68-C28C-01EE-6A770BE31187}"/>
              </a:ext>
            </a:extLst>
          </p:cNvPr>
          <p:cNvSpPr txBox="1"/>
          <p:nvPr/>
        </p:nvSpPr>
        <p:spPr>
          <a:xfrm>
            <a:off x="304800" y="385317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2.Assignment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  = equal to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95B77F-080F-3F26-EC98-9BAD1867D218}"/>
              </a:ext>
            </a:extLst>
          </p:cNvPr>
          <p:cNvSpPr txBox="1"/>
          <p:nvPr/>
        </p:nvSpPr>
        <p:spPr>
          <a:xfrm>
            <a:off x="4113550" y="1397596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3.Array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+ 		= Union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== 	= Equality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=== 	= Identity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!= 	= Inequality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&lt;&gt; 	= Inequality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!== 	= Non-identity</a:t>
            </a:r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303541-BB1E-9FAE-6D80-5D2FC16370A9}"/>
              </a:ext>
            </a:extLst>
          </p:cNvPr>
          <p:cNvSpPr txBox="1"/>
          <p:nvPr/>
        </p:nvSpPr>
        <p:spPr>
          <a:xfrm>
            <a:off x="4605728" y="3798048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4.Bitwise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&amp; 	= and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^ 	=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xor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| 	= not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&lt;&lt; 	= shift left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&gt;&gt; 	= shift right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7028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Operators</a:t>
            </a:r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9A687-A30C-F9D9-BFF0-02BA5B8E3242}"/>
              </a:ext>
            </a:extLst>
          </p:cNvPr>
          <p:cNvSpPr txBox="1"/>
          <p:nvPr/>
        </p:nvSpPr>
        <p:spPr>
          <a:xfrm>
            <a:off x="457200" y="1295400"/>
            <a:ext cx="7391400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i="0" dirty="0">
              <a:solidFill>
                <a:srgbClr val="273239"/>
              </a:solidFill>
              <a:effectLst/>
              <a:latin typeface="urw-di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ED72D5-D6B8-3E23-2242-9F729EDFF61D}"/>
              </a:ext>
            </a:extLst>
          </p:cNvPr>
          <p:cNvSpPr txBox="1"/>
          <p:nvPr/>
        </p:nvSpPr>
        <p:spPr>
          <a:xfrm>
            <a:off x="457200" y="1295400"/>
            <a:ext cx="4572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5.Comparison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==  	=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=== 	= identical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!=  	= not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!== 	= not identical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&lt;&gt; 	= not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 	= less than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&lt;= 	=less than or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&gt; 	= greater than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&gt;= 	= greater than or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&lt;=&gt; 	= spaceship operator </a:t>
            </a:r>
          </a:p>
          <a:p>
            <a:r>
              <a:rPr lang="en-US" dirty="0">
                <a:solidFill>
                  <a:srgbClr val="000000"/>
                </a:solidFill>
                <a:latin typeface="Fira Mono" panose="020B0509050000020004" pitchFamily="49" charset="0"/>
              </a:rPr>
              <a:t>         </a:t>
            </a: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(-1,0,1)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CE972-DE9A-26B4-6C01-BD0EC4038989}"/>
              </a:ext>
            </a:extLst>
          </p:cNvPr>
          <p:cNvSpPr txBox="1"/>
          <p:nvPr/>
        </p:nvSpPr>
        <p:spPr>
          <a:xfrm>
            <a:off x="4686300" y="1295400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rgbClr val="000000"/>
                </a:solidFill>
                <a:latin typeface="Fira Mono" panose="020B0509050000020004" pitchFamily="49" charset="0"/>
              </a:rPr>
              <a:t>6</a:t>
            </a: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.Incrementing/Decrementing Operator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++$a = </a:t>
            </a:r>
            <a:r>
              <a:rPr lang="en-IN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PreIncrement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$a++ = </a:t>
            </a:r>
            <a:r>
              <a:rPr lang="en-IN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PostIncrement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--$a = </a:t>
            </a:r>
            <a:r>
              <a:rPr lang="en-IN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PreDecrement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$a-- = </a:t>
            </a:r>
            <a:r>
              <a:rPr lang="en-IN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Postdecrement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999554-0404-4F10-5C2E-BC63C2B600D0}"/>
              </a:ext>
            </a:extLst>
          </p:cNvPr>
          <p:cNvSpPr txBox="1"/>
          <p:nvPr/>
        </p:nvSpPr>
        <p:spPr>
          <a:xfrm>
            <a:off x="5029200" y="3719717"/>
            <a:ext cx="463196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Fira Mono" panose="020B0509050000020004" pitchFamily="49" charset="0"/>
              </a:rPr>
              <a:t>7</a:t>
            </a: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.Logical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&amp;&amp; 	= And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|| 	= 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! 		= Not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and 	= And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xor</a:t>
            </a: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	=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Xor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or 	= Or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3890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Operators</a:t>
            </a:r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9A687-A30C-F9D9-BFF0-02BA5B8E3242}"/>
              </a:ext>
            </a:extLst>
          </p:cNvPr>
          <p:cNvSpPr txBox="1"/>
          <p:nvPr/>
        </p:nvSpPr>
        <p:spPr>
          <a:xfrm>
            <a:off x="457200" y="1295400"/>
            <a:ext cx="7391400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i="0" dirty="0">
              <a:solidFill>
                <a:srgbClr val="273239"/>
              </a:solidFill>
              <a:effectLst/>
              <a:latin typeface="urw-di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E8AB7E-DBEC-A532-763F-8324BC2C5815}"/>
              </a:ext>
            </a:extLst>
          </p:cNvPr>
          <p:cNvSpPr txBox="1"/>
          <p:nvPr/>
        </p:nvSpPr>
        <p:spPr>
          <a:xfrm>
            <a:off x="228600" y="1502186"/>
            <a:ext cx="8153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8. string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. 		=  concatenation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.= 	=concatenating assignment operator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17077F-5436-D076-3516-12F3CEEF50E0}"/>
              </a:ext>
            </a:extLst>
          </p:cNvPr>
          <p:cNvSpPr txBox="1"/>
          <p:nvPr/>
        </p:nvSpPr>
        <p:spPr>
          <a:xfrm>
            <a:off x="266700" y="3962400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9. Ternary or Conditional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  ?: 		= Ternary operator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2873F4-3EE6-C3B7-10EB-FF80DA5DF581}"/>
              </a:ext>
            </a:extLst>
          </p:cNvPr>
          <p:cNvSpPr txBox="1"/>
          <p:nvPr/>
        </p:nvSpPr>
        <p:spPr>
          <a:xfrm>
            <a:off x="2895600" y="2496800"/>
            <a:ext cx="2057400" cy="12003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dirty="0"/>
              <a:t>$txt1 = "Hello";</a:t>
            </a:r>
          </a:p>
          <a:p>
            <a:r>
              <a:rPr lang="en-IN" dirty="0"/>
              <a:t>$txt2 = " world!";</a:t>
            </a:r>
          </a:p>
          <a:p>
            <a:r>
              <a:rPr lang="en-IN" dirty="0"/>
              <a:t>$txt1 .= $txt2;</a:t>
            </a:r>
          </a:p>
          <a:p>
            <a:r>
              <a:rPr lang="en-IN" dirty="0"/>
              <a:t>echo $txt1;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640EDAA-23A6-2DA0-497C-9A6A90501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615082"/>
              </p:ext>
            </p:extLst>
          </p:nvPr>
        </p:nvGraphicFramePr>
        <p:xfrm>
          <a:off x="4572000" y="4507315"/>
          <a:ext cx="4305300" cy="1638300"/>
        </p:xfrm>
        <a:graphic>
          <a:graphicData uri="http://schemas.openxmlformats.org/drawingml/2006/table">
            <a:tbl>
              <a:tblPr/>
              <a:tblGrid>
                <a:gridCol w="4305300">
                  <a:extLst>
                    <a:ext uri="{9D8B030D-6E8A-4147-A177-3AD203B41FA5}">
                      <a16:colId xmlns:a16="http://schemas.microsoft.com/office/drawing/2014/main" val="3690066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&lt;?</a:t>
                      </a:r>
                      <a:r>
                        <a:rPr lang="en-US" sz="1800" b="0" i="0" dirty="0" err="1">
                          <a:effectLst/>
                          <a:latin typeface="Consolas" panose="020B0609020204030204" pitchFamily="49" charset="0"/>
                        </a:rPr>
                        <a:t>php</a:t>
                      </a:r>
                      <a:endParaRPr lang="en-US" sz="1800" b="0" i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  $a = 10;</a:t>
                      </a:r>
                    </a:p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  $b = $a &gt; 15 ? 20 : 5;</a:t>
                      </a:r>
                    </a:p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  print ("Value of b is " . $b);</a:t>
                      </a:r>
                    </a:p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?&gt;</a:t>
                      </a:r>
                    </a:p>
                  </a:txBody>
                  <a:tcPr marL="95250" marR="95250" marT="133350" marB="1333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302948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F1E9E9DB-C497-3B22-6620-65371CA40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4975" y="2841625"/>
            <a:ext cx="268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273239"/>
                </a:solidFill>
                <a:effectLst/>
                <a:latin typeface="urw-din"/>
              </a:rPr>
              <a:t/>
            </a: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273239"/>
                </a:solidFill>
                <a:effectLst/>
                <a:latin typeface="urw-din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273239"/>
              </a:solidFill>
              <a:effectLst/>
              <a:latin typeface="urw-din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06C6CA0-5FAE-1B95-A927-946785BF3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801" y="5473744"/>
            <a:ext cx="1981200" cy="335961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txBody>
          <a:bodyPr vert="horz" wrap="square" lIns="0" tIns="0" rIns="0" bIns="8887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273239"/>
                </a:solidFill>
                <a:effectLst/>
                <a:latin typeface="Consolas" panose="020B0609020204030204" pitchFamily="49" charset="0"/>
              </a:rPr>
              <a:t>Value of b is 5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8399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609599" y="1397675"/>
            <a:ext cx="7612921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/>
              <a:t>PHP if else statement is used to test condition.</a:t>
            </a:r>
          </a:p>
          <a:p>
            <a:pPr algn="just">
              <a:lnSpc>
                <a:spcPct val="150000"/>
              </a:lnSpc>
            </a:pPr>
            <a:endParaRPr lang="en-US" sz="2400" dirty="0"/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if</a:t>
            </a:r>
            <a:endParaRPr lang="en-US" sz="2400" b="1" dirty="0"/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if-else</a:t>
            </a:r>
            <a:endParaRPr lang="en-US" sz="2400" b="1" dirty="0"/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if-else-if</a:t>
            </a:r>
            <a:endParaRPr lang="en-US" sz="2400" b="1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b="1" dirty="0">
                <a:hlinkClick r:id="rId5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nested if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714883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7612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dirty="0">
                <a:solidFill>
                  <a:srgbClr val="FF0000"/>
                </a:solidFill>
              </a:rPr>
              <a:t>PHP If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9670D-3BD7-C33A-21B3-AFF08C531F38}"/>
              </a:ext>
            </a:extLst>
          </p:cNvPr>
          <p:cNvSpPr txBox="1"/>
          <p:nvPr/>
        </p:nvSpPr>
        <p:spPr>
          <a:xfrm>
            <a:off x="509665" y="1834409"/>
            <a:ext cx="860060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32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$</a:t>
            </a:r>
            <a:r>
              <a:rPr lang="en-IN" sz="3200" b="0" i="0" dirty="0" err="1">
                <a:solidFill>
                  <a:srgbClr val="000000"/>
                </a:solidFill>
                <a:effectLst/>
                <a:latin typeface="inter-regular"/>
              </a:rPr>
              <a:t>num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=12;  </a:t>
            </a:r>
          </a:p>
          <a:p>
            <a:pPr algn="just"/>
            <a:r>
              <a:rPr lang="en-IN" sz="32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($</a:t>
            </a:r>
            <a:r>
              <a:rPr lang="en-IN" sz="3200" b="0" i="0" dirty="0" err="1">
                <a:solidFill>
                  <a:srgbClr val="000000"/>
                </a:solidFill>
                <a:effectLst/>
                <a:latin typeface="inter-regular"/>
              </a:rPr>
              <a:t>num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&lt;100){  </a:t>
            </a:r>
          </a:p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3200" b="0" i="0" dirty="0">
                <a:solidFill>
                  <a:srgbClr val="0000FF"/>
                </a:solidFill>
                <a:effectLst/>
                <a:latin typeface="inter-regular"/>
              </a:rPr>
              <a:t>"$</a:t>
            </a:r>
            <a:r>
              <a:rPr lang="en-IN" sz="3200" b="0" i="0" dirty="0" err="1">
                <a:solidFill>
                  <a:srgbClr val="0000FF"/>
                </a:solidFill>
                <a:effectLst/>
                <a:latin typeface="inter-regular"/>
              </a:rPr>
              <a:t>num</a:t>
            </a:r>
            <a:r>
              <a:rPr lang="en-IN" sz="3200" b="0" i="0" dirty="0">
                <a:solidFill>
                  <a:srgbClr val="0000FF"/>
                </a:solidFill>
                <a:effectLst/>
                <a:latin typeface="inter-regular"/>
              </a:rPr>
              <a:t> is less than 100"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30C27A-1C44-DCEF-5B7A-EC66D1ABF6C6}"/>
              </a:ext>
            </a:extLst>
          </p:cNvPr>
          <p:cNvSpPr txBox="1"/>
          <p:nvPr/>
        </p:nvSpPr>
        <p:spPr>
          <a:xfrm>
            <a:off x="3962400" y="4992469"/>
            <a:ext cx="213360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12 is less than 100</a:t>
            </a:r>
          </a:p>
        </p:txBody>
      </p:sp>
    </p:spTree>
    <p:extLst>
      <p:ext uri="{BB962C8B-B14F-4D97-AF65-F5344CB8AC3E}">
        <p14:creationId xmlns:p14="http://schemas.microsoft.com/office/powerpoint/2010/main" val="521992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7612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dirty="0">
                <a:solidFill>
                  <a:srgbClr val="FF0000"/>
                </a:solidFill>
              </a:rPr>
              <a:t>PHP If else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9670D-3BD7-C33A-21B3-AFF08C531F38}"/>
              </a:ext>
            </a:extLst>
          </p:cNvPr>
          <p:cNvSpPr txBox="1"/>
          <p:nvPr/>
        </p:nvSpPr>
        <p:spPr>
          <a:xfrm>
            <a:off x="547141" y="1828800"/>
            <a:ext cx="8600607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$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num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=12;  </a:t>
            </a:r>
          </a:p>
          <a:p>
            <a:pPr algn="just"/>
            <a:r>
              <a:rPr lang="en-IN" sz="24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($num%2==0){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"$</a:t>
            </a:r>
            <a:r>
              <a:rPr lang="en-IN" sz="2400" b="0" i="0" dirty="0" err="1">
                <a:solidFill>
                  <a:srgbClr val="0000FF"/>
                </a:solidFill>
                <a:effectLst/>
                <a:latin typeface="inter-regular"/>
              </a:rPr>
              <a:t>num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 is even number"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}</a:t>
            </a:r>
          </a:p>
          <a:p>
            <a:pPr algn="just"/>
            <a:r>
              <a:rPr lang="en-IN" sz="24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{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"$</a:t>
            </a:r>
            <a:r>
              <a:rPr lang="en-IN" sz="2400" b="0" i="0" dirty="0" err="1">
                <a:solidFill>
                  <a:srgbClr val="0000FF"/>
                </a:solidFill>
                <a:effectLst/>
                <a:latin typeface="inter-regular"/>
              </a:rPr>
              <a:t>num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 is odd number"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?&gt;</a:t>
            </a:r>
          </a:p>
          <a:p>
            <a:pPr algn="just"/>
            <a:endParaRPr lang="en-IN" sz="3200" b="0" i="0" dirty="0">
              <a:solidFill>
                <a:srgbClr val="000000"/>
              </a:solidFill>
              <a:effectLst/>
              <a:latin typeface="inter-regula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9F8D25-84C0-CED6-A255-12FAEEE8CAF4}"/>
              </a:ext>
            </a:extLst>
          </p:cNvPr>
          <p:cNvSpPr txBox="1"/>
          <p:nvPr/>
        </p:nvSpPr>
        <p:spPr>
          <a:xfrm>
            <a:off x="4339860" y="5385672"/>
            <a:ext cx="236574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12 is even number</a:t>
            </a:r>
          </a:p>
        </p:txBody>
      </p:sp>
    </p:spTree>
    <p:extLst>
      <p:ext uri="{BB962C8B-B14F-4D97-AF65-F5344CB8AC3E}">
        <p14:creationId xmlns:p14="http://schemas.microsoft.com/office/powerpoint/2010/main" val="857917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761292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dirty="0">
                <a:solidFill>
                  <a:srgbClr val="FF0000"/>
                </a:solidFill>
              </a:rPr>
              <a:t>PHP If-else-if Statement</a:t>
            </a:r>
          </a:p>
          <a:p>
            <a:pPr algn="just"/>
            <a:endParaRPr lang="en-IN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9670D-3BD7-C33A-21B3-AFF08C531F38}"/>
              </a:ext>
            </a:extLst>
          </p:cNvPr>
          <p:cNvSpPr txBox="1"/>
          <p:nvPr/>
        </p:nvSpPr>
        <p:spPr>
          <a:xfrm>
            <a:off x="271697" y="1533484"/>
            <a:ext cx="4300304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0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$marks=69;  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($marks&lt;33){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"fail"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($marks&gt;=34 &amp;&amp; $marks&lt;50) {    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"D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($marks&gt;=50 &amp;&amp; $marks&lt;65) {   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"C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($marks&gt;=65 &amp;&amp; $marks&lt;80) {    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"B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</a:t>
            </a:r>
          </a:p>
          <a:p>
            <a:pPr algn="just"/>
            <a:r>
              <a:rPr lang="en-IN" sz="2000" dirty="0">
                <a:solidFill>
                  <a:srgbClr val="000000"/>
                </a:solidFill>
                <a:latin typeface="inter-regular"/>
              </a:rPr>
              <a:t>}</a:t>
            </a:r>
            <a:endParaRPr lang="en-IN" sz="2000" b="0" i="0" dirty="0">
              <a:solidFill>
                <a:srgbClr val="000000"/>
              </a:solidFill>
              <a:effectLst/>
              <a:latin typeface="inter-regular"/>
            </a:endParaRPr>
          </a:p>
          <a:p>
            <a:pPr algn="just"/>
            <a:r>
              <a:rPr lang="en-IN" sz="16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endParaRPr lang="en-IN" sz="3200" b="0" i="0" dirty="0">
              <a:solidFill>
                <a:srgbClr val="000000"/>
              </a:solidFill>
              <a:effectLst/>
              <a:latin typeface="inter-regular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9F45BD-5141-0DFC-4442-12A3BEC29FB1}"/>
              </a:ext>
            </a:extLst>
          </p:cNvPr>
          <p:cNvSpPr txBox="1"/>
          <p:nvPr/>
        </p:nvSpPr>
        <p:spPr>
          <a:xfrm>
            <a:off x="4679015" y="1518494"/>
            <a:ext cx="4572000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($marks&gt;=80 &amp;&amp; $marks&lt;90) {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"A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($marks&gt;=90 &amp;&amp; $marks&lt;100) {    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"A+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{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"Invalid input"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F5C654-BE0C-966F-2C1A-79A0D2AC629D}"/>
              </a:ext>
            </a:extLst>
          </p:cNvPr>
          <p:cNvSpPr txBox="1"/>
          <p:nvPr/>
        </p:nvSpPr>
        <p:spPr>
          <a:xfrm>
            <a:off x="5906541" y="5682169"/>
            <a:ext cx="1332459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B Grade</a:t>
            </a:r>
          </a:p>
        </p:txBody>
      </p:sp>
    </p:spTree>
    <p:extLst>
      <p:ext uri="{BB962C8B-B14F-4D97-AF65-F5344CB8AC3E}">
        <p14:creationId xmlns:p14="http://schemas.microsoft.com/office/powerpoint/2010/main" val="3795380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7612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dirty="0">
                <a:solidFill>
                  <a:srgbClr val="FF0000"/>
                </a:solidFill>
              </a:rPr>
              <a:t>PHP Switch  Statement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3FB553-FDFB-4DF7-D03F-83E2190BF5C6}"/>
              </a:ext>
            </a:extLst>
          </p:cNvPr>
          <p:cNvSpPr txBox="1"/>
          <p:nvPr/>
        </p:nvSpPr>
        <p:spPr>
          <a:xfrm>
            <a:off x="762000" y="1564661"/>
            <a:ext cx="85344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/>
              <a:t>&lt;?</a:t>
            </a:r>
            <a:r>
              <a:rPr lang="en-IN" sz="2000" dirty="0" err="1"/>
              <a:t>php</a:t>
            </a:r>
            <a:endParaRPr lang="en-IN" sz="2000" dirty="0"/>
          </a:p>
          <a:p>
            <a:pPr>
              <a:lnSpc>
                <a:spcPct val="150000"/>
              </a:lnSpc>
            </a:pPr>
            <a:r>
              <a:rPr lang="en-IN" sz="2000" b="1" dirty="0">
                <a:highlight>
                  <a:srgbClr val="FFFF00"/>
                </a:highlight>
              </a:rPr>
              <a:t>$</a:t>
            </a:r>
            <a:r>
              <a:rPr lang="en-IN" sz="2000" b="1" dirty="0" err="1">
                <a:highlight>
                  <a:srgbClr val="FFFF00"/>
                </a:highlight>
              </a:rPr>
              <a:t>favcolor</a:t>
            </a:r>
            <a:r>
              <a:rPr lang="en-IN" sz="2000" b="1" dirty="0">
                <a:highlight>
                  <a:srgbClr val="FFFF00"/>
                </a:highlight>
              </a:rPr>
              <a:t> </a:t>
            </a:r>
            <a:r>
              <a:rPr lang="en-IN" sz="2000" b="1" dirty="0"/>
              <a:t>= "red";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switch </a:t>
            </a:r>
            <a:r>
              <a:rPr lang="en-IN" sz="2000" b="1" dirty="0">
                <a:highlight>
                  <a:srgbClr val="FFFF00"/>
                </a:highlight>
              </a:rPr>
              <a:t>($</a:t>
            </a:r>
            <a:r>
              <a:rPr lang="en-IN" sz="2000" b="1" dirty="0" err="1">
                <a:highlight>
                  <a:srgbClr val="FFFF00"/>
                </a:highlight>
              </a:rPr>
              <a:t>favcolor</a:t>
            </a:r>
            <a:r>
              <a:rPr lang="en-IN" sz="2000" b="1" dirty="0"/>
              <a:t>) {</a:t>
            </a:r>
          </a:p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FF0000"/>
                </a:solidFill>
              </a:rPr>
              <a:t>  case "red":        echo "Your favourite </a:t>
            </a:r>
            <a:r>
              <a:rPr lang="en-IN" sz="2000" b="1" dirty="0" err="1">
                <a:solidFill>
                  <a:srgbClr val="FF0000"/>
                </a:solidFill>
              </a:rPr>
              <a:t>color</a:t>
            </a:r>
            <a:r>
              <a:rPr lang="en-IN" sz="2000" b="1" dirty="0">
                <a:solidFill>
                  <a:srgbClr val="FF0000"/>
                </a:solidFill>
              </a:rPr>
              <a:t> is red!";     break;</a:t>
            </a:r>
          </a:p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FF0000"/>
                </a:solidFill>
              </a:rPr>
              <a:t>  case "blue":      echo "Your favourite </a:t>
            </a:r>
            <a:r>
              <a:rPr lang="en-IN" sz="2000" b="1" dirty="0" err="1">
                <a:solidFill>
                  <a:srgbClr val="FF0000"/>
                </a:solidFill>
              </a:rPr>
              <a:t>color</a:t>
            </a:r>
            <a:r>
              <a:rPr lang="en-IN" sz="2000" b="1" dirty="0">
                <a:solidFill>
                  <a:srgbClr val="FF0000"/>
                </a:solidFill>
              </a:rPr>
              <a:t> is blue!";     break;</a:t>
            </a:r>
          </a:p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FF0000"/>
                </a:solidFill>
              </a:rPr>
              <a:t>  default:              echo “Wrong Choice ";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}</a:t>
            </a:r>
          </a:p>
          <a:p>
            <a:r>
              <a:rPr lang="en-IN" sz="2000" dirty="0"/>
              <a:t>?&gt;</a:t>
            </a:r>
          </a:p>
        </p:txBody>
      </p:sp>
    </p:spTree>
    <p:extLst>
      <p:ext uri="{BB962C8B-B14F-4D97-AF65-F5344CB8AC3E}">
        <p14:creationId xmlns:p14="http://schemas.microsoft.com/office/powerpoint/2010/main" val="1622015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Loop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8607061" cy="3543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dirty="0">
                <a:solidFill>
                  <a:srgbClr val="FF0000"/>
                </a:solidFill>
              </a:rPr>
              <a:t>In PHP, we have the following loop types:</a:t>
            </a:r>
          </a:p>
          <a:p>
            <a:pPr algn="just"/>
            <a:endParaRPr lang="en-US" sz="2400" b="1" dirty="0">
              <a:solidFill>
                <a:srgbClr val="FF0000"/>
              </a:solidFill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while </a:t>
            </a:r>
            <a:r>
              <a:rPr lang="en-US" sz="2000" b="1" dirty="0"/>
              <a:t>- loops through a block of code as long as the specified condition is true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do...while </a:t>
            </a:r>
            <a:r>
              <a:rPr lang="en-US" sz="2000" b="1" dirty="0"/>
              <a:t>- loops through a block of code once, and then repeats the loop as long as the specified condition is true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for - </a:t>
            </a:r>
            <a:r>
              <a:rPr lang="en-US" sz="2000" b="1" dirty="0"/>
              <a:t>loops through a block of code a specified number of times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foreach - </a:t>
            </a:r>
            <a:r>
              <a:rPr lang="en-US" sz="2000" b="1" dirty="0"/>
              <a:t>loops through a block of code for each element in an array</a:t>
            </a:r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3868982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Loop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308339" y="1119251"/>
            <a:ext cx="388266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PHP while Loop</a:t>
            </a:r>
          </a:p>
          <a:p>
            <a:pPr algn="just"/>
            <a:endParaRPr lang="en-US" sz="2400" b="1" dirty="0"/>
          </a:p>
          <a:p>
            <a:pPr algn="just"/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/>
            <a:r>
              <a:rPr lang="en-US" sz="2000" b="1" dirty="0"/>
              <a:t>$x = 1;</a:t>
            </a:r>
          </a:p>
          <a:p>
            <a:pPr algn="just"/>
            <a:endParaRPr lang="en-US" sz="2000" b="1" dirty="0"/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while($x &lt;= 5) </a:t>
            </a:r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{</a:t>
            </a:r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  echo "The number is: $x &lt;</a:t>
            </a:r>
            <a:r>
              <a:rPr lang="en-US" sz="2000" b="1" dirty="0" err="1">
                <a:solidFill>
                  <a:srgbClr val="C00000"/>
                </a:solidFill>
              </a:rPr>
              <a:t>br</a:t>
            </a:r>
            <a:r>
              <a:rPr lang="en-US" sz="2000" b="1" dirty="0">
                <a:solidFill>
                  <a:srgbClr val="C00000"/>
                </a:solidFill>
              </a:rPr>
              <a:t>&gt;";</a:t>
            </a:r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  $x++;</a:t>
            </a:r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}</a:t>
            </a:r>
          </a:p>
          <a:p>
            <a:pPr algn="just"/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20DC9-D1AD-1C2A-72E1-AB564F9E203C}"/>
              </a:ext>
            </a:extLst>
          </p:cNvPr>
          <p:cNvSpPr txBox="1"/>
          <p:nvPr/>
        </p:nvSpPr>
        <p:spPr>
          <a:xfrm>
            <a:off x="4495800" y="1114208"/>
            <a:ext cx="4339861" cy="43704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PHP </a:t>
            </a:r>
            <a:r>
              <a:rPr lang="en-IN" sz="2400" b="1" i="0" dirty="0" err="1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do..while</a:t>
            </a:r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 Loop</a:t>
            </a:r>
          </a:p>
          <a:p>
            <a:pPr algn="just"/>
            <a:endParaRPr lang="en-US" sz="2400" b="1" dirty="0"/>
          </a:p>
          <a:p>
            <a:pPr algn="just"/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/>
            <a:r>
              <a:rPr lang="en-US" sz="2000" b="1" dirty="0"/>
              <a:t>$x = 1;</a:t>
            </a:r>
          </a:p>
          <a:p>
            <a:pPr algn="just"/>
            <a:endParaRPr lang="en-US" sz="2000" b="1" dirty="0"/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do {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  echo "The number is: $x &lt;</a:t>
            </a:r>
            <a:r>
              <a:rPr lang="en-US" sz="2000" b="1" dirty="0" err="1">
                <a:solidFill>
                  <a:srgbClr val="C00000"/>
                </a:solidFill>
              </a:rPr>
              <a:t>br</a:t>
            </a:r>
            <a:r>
              <a:rPr lang="en-US" sz="2000" b="1" dirty="0">
                <a:solidFill>
                  <a:srgbClr val="C00000"/>
                </a:solidFill>
              </a:rPr>
              <a:t>&gt;";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  $x++;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} while ($x &lt;= 5);</a:t>
            </a:r>
          </a:p>
          <a:p>
            <a:pPr algn="just">
              <a:lnSpc>
                <a:spcPct val="150000"/>
              </a:lnSpc>
            </a:pPr>
            <a:endParaRPr lang="en-US" sz="2000" b="1" dirty="0">
              <a:solidFill>
                <a:srgbClr val="C00000"/>
              </a:solidFill>
            </a:endParaRPr>
          </a:p>
          <a:p>
            <a:pPr algn="just"/>
            <a:r>
              <a:rPr lang="en-US" sz="2000" b="1" dirty="0"/>
              <a:t>?&gt;</a:t>
            </a:r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10377899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Loop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308339" y="1119251"/>
            <a:ext cx="4187461" cy="2712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PHP</a:t>
            </a:r>
            <a:r>
              <a:rPr lang="en-IN" sz="2400" b="1" i="1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 for </a:t>
            </a:r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Loop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for ($x = 0; $x &lt;= 10; $x++) {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  echo "The number is: $x &lt;</a:t>
            </a:r>
            <a:r>
              <a:rPr lang="en-US" sz="2000" b="1" dirty="0" err="1">
                <a:solidFill>
                  <a:srgbClr val="C00000"/>
                </a:solidFill>
              </a:rPr>
              <a:t>br</a:t>
            </a:r>
            <a:r>
              <a:rPr lang="en-US" sz="2000" b="1" dirty="0">
                <a:solidFill>
                  <a:srgbClr val="C00000"/>
                </a:solidFill>
              </a:rPr>
              <a:t>&gt;";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}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20DC9-D1AD-1C2A-72E1-AB564F9E203C}"/>
              </a:ext>
            </a:extLst>
          </p:cNvPr>
          <p:cNvSpPr txBox="1"/>
          <p:nvPr/>
        </p:nvSpPr>
        <p:spPr>
          <a:xfrm>
            <a:off x="3349053" y="3124200"/>
            <a:ext cx="5791199" cy="29854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PHP </a:t>
            </a:r>
            <a:r>
              <a:rPr lang="en-IN" sz="2400" b="1" i="1" dirty="0">
                <a:solidFill>
                  <a:srgbClr val="00B050"/>
                </a:solidFill>
                <a:latin typeface="Segoe UI" panose="020B0502040204020203" pitchFamily="34" charset="0"/>
              </a:rPr>
              <a:t>foreach</a:t>
            </a:r>
            <a:r>
              <a:rPr lang="en-IN" sz="2400" b="0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 </a:t>
            </a:r>
            <a:r>
              <a:rPr lang="en-IN" sz="2400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Loop</a:t>
            </a:r>
          </a:p>
          <a:p>
            <a:pPr algn="just"/>
            <a:endParaRPr lang="en-US" sz="2400" b="1" dirty="0"/>
          </a:p>
          <a:p>
            <a:pPr algn="just"/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/>
            <a:r>
              <a:rPr lang="en-US" sz="2000" b="1" dirty="0"/>
              <a:t>$colors = array("red", "green", "blue", "yellow");</a:t>
            </a:r>
          </a:p>
          <a:p>
            <a:pPr algn="just"/>
            <a:endParaRPr lang="en-US" sz="2000" b="1" dirty="0"/>
          </a:p>
          <a:p>
            <a:pPr algn="just"/>
            <a:r>
              <a:rPr lang="en-US" sz="2000" b="1" dirty="0"/>
              <a:t>foreach </a:t>
            </a:r>
            <a:r>
              <a:rPr lang="en-US" sz="2000" b="1" dirty="0">
                <a:solidFill>
                  <a:srgbClr val="FF0000"/>
                </a:solidFill>
              </a:rPr>
              <a:t>($colors</a:t>
            </a:r>
            <a:r>
              <a:rPr lang="en-US" sz="2000" b="1" dirty="0"/>
              <a:t> as </a:t>
            </a:r>
            <a:r>
              <a:rPr lang="en-US" sz="2000" b="1" dirty="0">
                <a:solidFill>
                  <a:srgbClr val="FF0000"/>
                </a:solidFill>
              </a:rPr>
              <a:t>$value</a:t>
            </a:r>
            <a:r>
              <a:rPr lang="en-US" sz="2000" b="1" dirty="0"/>
              <a:t>) {</a:t>
            </a:r>
          </a:p>
          <a:p>
            <a:pPr algn="just"/>
            <a:r>
              <a:rPr lang="en-US" sz="2000" b="1" dirty="0"/>
              <a:t>  echo “ $value &lt;</a:t>
            </a:r>
            <a:r>
              <a:rPr lang="en-US" sz="2000" b="1" dirty="0" err="1"/>
              <a:t>br</a:t>
            </a:r>
            <a:r>
              <a:rPr lang="en-US" sz="2000" b="1" dirty="0"/>
              <a:t>&gt;";</a:t>
            </a:r>
          </a:p>
          <a:p>
            <a:pPr algn="just"/>
            <a:r>
              <a:rPr lang="en-US" sz="2000" b="1" dirty="0"/>
              <a:t>}</a:t>
            </a:r>
          </a:p>
          <a:p>
            <a:pPr algn="just"/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B2A9DA-EB84-2589-7094-4EB5FF0B1F52}"/>
              </a:ext>
            </a:extLst>
          </p:cNvPr>
          <p:cNvSpPr txBox="1"/>
          <p:nvPr/>
        </p:nvSpPr>
        <p:spPr>
          <a:xfrm>
            <a:off x="8077200" y="4910553"/>
            <a:ext cx="1063052" cy="120032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red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green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blue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yellow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403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Loop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308339" y="1119251"/>
            <a:ext cx="4187461" cy="2712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PHP</a:t>
            </a:r>
            <a:r>
              <a:rPr lang="en-IN" sz="2400" b="1" i="1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 for </a:t>
            </a:r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Loop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for ($x = 0; $x &lt;= 10; $x++) {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  echo "The number is: $x &lt;</a:t>
            </a:r>
            <a:r>
              <a:rPr lang="en-US" sz="2000" b="1" dirty="0" err="1">
                <a:solidFill>
                  <a:srgbClr val="C00000"/>
                </a:solidFill>
              </a:rPr>
              <a:t>br</a:t>
            </a:r>
            <a:r>
              <a:rPr lang="en-US" sz="2000" b="1" dirty="0">
                <a:solidFill>
                  <a:srgbClr val="C00000"/>
                </a:solidFill>
              </a:rPr>
              <a:t>&gt;";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}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20DC9-D1AD-1C2A-72E1-AB564F9E203C}"/>
              </a:ext>
            </a:extLst>
          </p:cNvPr>
          <p:cNvSpPr txBox="1"/>
          <p:nvPr/>
        </p:nvSpPr>
        <p:spPr>
          <a:xfrm>
            <a:off x="3349053" y="3124200"/>
            <a:ext cx="5791199" cy="29854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PHP </a:t>
            </a:r>
            <a:r>
              <a:rPr lang="en-IN" sz="2400" b="1" i="1" dirty="0">
                <a:solidFill>
                  <a:srgbClr val="00B050"/>
                </a:solidFill>
                <a:latin typeface="Segoe UI" panose="020B0502040204020203" pitchFamily="34" charset="0"/>
              </a:rPr>
              <a:t>foreach</a:t>
            </a:r>
            <a:r>
              <a:rPr lang="en-IN" sz="2400" b="0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 </a:t>
            </a:r>
            <a:r>
              <a:rPr lang="en-IN" sz="2400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Loop</a:t>
            </a:r>
          </a:p>
          <a:p>
            <a:pPr algn="just"/>
            <a:endParaRPr lang="en-US" sz="2400" b="1" dirty="0"/>
          </a:p>
          <a:p>
            <a:pPr algn="just"/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/>
            <a:r>
              <a:rPr lang="en-US" sz="2000" b="1" dirty="0"/>
              <a:t>$colors = array("red", "green", "blue", "yellow");</a:t>
            </a:r>
          </a:p>
          <a:p>
            <a:pPr algn="just"/>
            <a:endParaRPr lang="en-US" sz="2000" b="1" dirty="0"/>
          </a:p>
          <a:p>
            <a:pPr algn="just"/>
            <a:r>
              <a:rPr lang="en-US" sz="2000" b="1" dirty="0"/>
              <a:t>foreach </a:t>
            </a:r>
            <a:r>
              <a:rPr lang="en-US" sz="2000" b="1" dirty="0">
                <a:solidFill>
                  <a:srgbClr val="FF0000"/>
                </a:solidFill>
              </a:rPr>
              <a:t>($colors</a:t>
            </a:r>
            <a:r>
              <a:rPr lang="en-US" sz="2000" b="1" dirty="0"/>
              <a:t> as </a:t>
            </a:r>
            <a:r>
              <a:rPr lang="en-US" sz="2000" b="1" dirty="0">
                <a:solidFill>
                  <a:srgbClr val="FF0000"/>
                </a:solidFill>
              </a:rPr>
              <a:t>$value</a:t>
            </a:r>
            <a:r>
              <a:rPr lang="en-US" sz="2000" b="1" dirty="0"/>
              <a:t>) {</a:t>
            </a:r>
          </a:p>
          <a:p>
            <a:pPr algn="just"/>
            <a:r>
              <a:rPr lang="en-US" sz="2000" b="1" dirty="0"/>
              <a:t>  echo “ $value &lt;</a:t>
            </a:r>
            <a:r>
              <a:rPr lang="en-US" sz="2000" b="1" dirty="0" err="1"/>
              <a:t>br</a:t>
            </a:r>
            <a:r>
              <a:rPr lang="en-US" sz="2000" b="1" dirty="0"/>
              <a:t>&gt;";</a:t>
            </a:r>
          </a:p>
          <a:p>
            <a:pPr algn="just"/>
            <a:r>
              <a:rPr lang="en-US" sz="2000" b="1" dirty="0"/>
              <a:t>}</a:t>
            </a:r>
          </a:p>
          <a:p>
            <a:pPr algn="just"/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B2A9DA-EB84-2589-7094-4EB5FF0B1F52}"/>
              </a:ext>
            </a:extLst>
          </p:cNvPr>
          <p:cNvSpPr txBox="1"/>
          <p:nvPr/>
        </p:nvSpPr>
        <p:spPr>
          <a:xfrm>
            <a:off x="8077200" y="4910553"/>
            <a:ext cx="1063052" cy="120032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red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green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blue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yellow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99409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10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PHP function is a </a:t>
            </a:r>
            <a:r>
              <a:rPr lang="en-US" sz="2800" dirty="0">
                <a:solidFill>
                  <a:srgbClr val="FF0000"/>
                </a:solidFill>
              </a:rPr>
              <a:t>piece of code </a:t>
            </a:r>
            <a:r>
              <a:rPr lang="en-US" sz="2800" dirty="0"/>
              <a:t>that can be </a:t>
            </a:r>
            <a:r>
              <a:rPr lang="en-US" sz="2800" dirty="0">
                <a:solidFill>
                  <a:srgbClr val="FF0000"/>
                </a:solidFill>
              </a:rPr>
              <a:t>reused many times</a:t>
            </a:r>
            <a:r>
              <a:rPr lang="en-US" sz="2800" dirty="0"/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It can take input as argument list and return value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just"/>
            <a:r>
              <a:rPr lang="en-US" sz="2800" b="0" i="0" u="sng" dirty="0">
                <a:solidFill>
                  <a:srgbClr val="610B4B"/>
                </a:solidFill>
                <a:effectLst/>
              </a:rPr>
              <a:t>Syntax</a:t>
            </a:r>
          </a:p>
          <a:p>
            <a:pPr algn="just"/>
            <a:r>
              <a:rPr lang="en-US" sz="2800" b="1" i="0" dirty="0">
                <a:solidFill>
                  <a:srgbClr val="006699"/>
                </a:solidFill>
                <a:effectLst/>
              </a:rPr>
              <a:t>function</a:t>
            </a:r>
            <a:r>
              <a:rPr lang="en-US" sz="28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2800" b="0" i="0" dirty="0" err="1">
                <a:solidFill>
                  <a:srgbClr val="000000"/>
                </a:solidFill>
                <a:effectLst/>
              </a:rPr>
              <a:t>functionname</a:t>
            </a:r>
            <a:r>
              <a:rPr lang="en-US" sz="2800" b="0" i="0" dirty="0">
                <a:solidFill>
                  <a:srgbClr val="000000"/>
                </a:solidFill>
                <a:effectLst/>
              </a:rPr>
              <a:t>(){  </a:t>
            </a:r>
          </a:p>
          <a:p>
            <a:pPr algn="just"/>
            <a:r>
              <a:rPr lang="en-US" sz="2800" b="0" i="0" dirty="0">
                <a:solidFill>
                  <a:srgbClr val="008200"/>
                </a:solidFill>
                <a:effectLst/>
              </a:rPr>
              <a:t>//code to be executed</a:t>
            </a:r>
            <a:r>
              <a:rPr lang="en-US" sz="2800" b="0" i="0" dirty="0">
                <a:solidFill>
                  <a:srgbClr val="000000"/>
                </a:solidFill>
                <a:effectLst/>
              </a:rPr>
              <a:t>  </a:t>
            </a: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</a:rPr>
              <a:t>}  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B20AD8-9D60-EAEC-CC61-C99B58A3B1CF}"/>
              </a:ext>
            </a:extLst>
          </p:cNvPr>
          <p:cNvSpPr txBox="1"/>
          <p:nvPr/>
        </p:nvSpPr>
        <p:spPr>
          <a:xfrm>
            <a:off x="4724400" y="2895600"/>
            <a:ext cx="3886200" cy="273921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IN" sz="2800" u="sng" dirty="0">
                <a:solidFill>
                  <a:srgbClr val="610B4B"/>
                </a:solidFill>
              </a:rPr>
              <a:t>Example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4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(){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"Hello PHP Function"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();</a:t>
            </a:r>
            <a:r>
              <a:rPr lang="en-IN" sz="2400" b="0" i="0" dirty="0">
                <a:solidFill>
                  <a:srgbClr val="008200"/>
                </a:solidFill>
                <a:effectLst/>
                <a:latin typeface="inter-regular"/>
              </a:rPr>
              <a:t>//calling function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</p:spTree>
    <p:extLst>
      <p:ext uri="{BB962C8B-B14F-4D97-AF65-F5344CB8AC3E}">
        <p14:creationId xmlns:p14="http://schemas.microsoft.com/office/powerpoint/2010/main" val="49209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389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pass the information in PHP function through arguments which is separated by comma.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333333"/>
                </a:solidFill>
                <a:effectLst/>
              </a:rPr>
              <a:t>PHP supports :</a:t>
            </a:r>
          </a:p>
          <a:p>
            <a:pPr marL="1258888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b="1" i="0" dirty="0">
                <a:solidFill>
                  <a:srgbClr val="FF0000"/>
                </a:solidFill>
                <a:effectLst/>
              </a:rPr>
              <a:t>Call by Value</a:t>
            </a:r>
            <a:r>
              <a:rPr lang="en-US" sz="2800" b="0" i="0" dirty="0">
                <a:solidFill>
                  <a:srgbClr val="FF0000"/>
                </a:solidFill>
                <a:effectLst/>
              </a:rPr>
              <a:t> (default),</a:t>
            </a:r>
          </a:p>
          <a:p>
            <a:pPr marL="1258888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b="1" i="0" dirty="0">
                <a:solidFill>
                  <a:srgbClr val="FF0000"/>
                </a:solidFill>
                <a:effectLst/>
              </a:rPr>
              <a:t>Call by Reference</a:t>
            </a:r>
          </a:p>
          <a:p>
            <a:pPr marL="1258888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b="1" i="0" dirty="0">
                <a:solidFill>
                  <a:srgbClr val="FF0000"/>
                </a:solidFill>
                <a:effectLst/>
              </a:rPr>
              <a:t>Default argument values</a:t>
            </a:r>
            <a:r>
              <a:rPr lang="en-US" sz="2800" b="0" i="0" dirty="0">
                <a:solidFill>
                  <a:srgbClr val="FF0000"/>
                </a:solidFill>
                <a:effectLst/>
              </a:rPr>
              <a:t> </a:t>
            </a:r>
            <a:endParaRPr lang="en-IN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9776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Call By Value</a:t>
            </a:r>
          </a:p>
          <a:p>
            <a:pPr algn="just"/>
            <a:endParaRPr lang="en-US" sz="2800" b="0" i="0" dirty="0">
              <a:solidFill>
                <a:srgbClr val="000000"/>
              </a:solidFill>
              <a:effectLst/>
              <a:latin typeface="inter-regular"/>
            </a:endParaRP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US" sz="28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($</a:t>
            </a:r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name,$age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){  </a:t>
            </a: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"Hello $name, you are $age years old &lt;</a:t>
            </a:r>
            <a:r>
              <a:rPr lang="en-US" sz="2800" b="0" i="0" dirty="0" err="1">
                <a:solidFill>
                  <a:srgbClr val="0000FF"/>
                </a:solidFill>
                <a:effectLst/>
                <a:latin typeface="inter-regular"/>
              </a:rPr>
              <a:t>br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/&gt;"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"Sai"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,27);  </a:t>
            </a:r>
          </a:p>
          <a:p>
            <a:pPr algn="just"/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"Vimal"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,29);  </a:t>
            </a:r>
          </a:p>
          <a:p>
            <a:pPr algn="just"/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"John"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,23);  </a:t>
            </a: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333333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F1DF35-DDD3-0C6D-72CF-9D68F977BEE8}"/>
              </a:ext>
            </a:extLst>
          </p:cNvPr>
          <p:cNvSpPr txBox="1"/>
          <p:nvPr/>
        </p:nvSpPr>
        <p:spPr>
          <a:xfrm>
            <a:off x="4429593" y="4495800"/>
            <a:ext cx="3792928" cy="92333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Hello Sai, you are 27 years old</a:t>
            </a:r>
          </a:p>
          <a:p>
            <a:r>
              <a:rPr lang="en-IN" b="1" dirty="0"/>
              <a:t>Hello Vimal, you are 29 years old</a:t>
            </a:r>
          </a:p>
          <a:p>
            <a:r>
              <a:rPr lang="en-IN" b="1" dirty="0"/>
              <a:t>Hello John, you are 23 years old</a:t>
            </a:r>
          </a:p>
        </p:txBody>
      </p:sp>
    </p:spTree>
    <p:extLst>
      <p:ext uri="{BB962C8B-B14F-4D97-AF65-F5344CB8AC3E}">
        <p14:creationId xmlns:p14="http://schemas.microsoft.com/office/powerpoint/2010/main" val="925394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Call By Reference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333333"/>
                </a:solidFill>
                <a:effectLst/>
                <a:latin typeface="inter-regular"/>
              </a:rPr>
              <a:t>To pass value as a reference, you need to use ampersand (&amp;) symbol before the argument name.</a:t>
            </a:r>
          </a:p>
          <a:p>
            <a:endParaRPr lang="en-US" sz="2000" b="1" dirty="0">
              <a:solidFill>
                <a:srgbClr val="333333"/>
              </a:solidFill>
              <a:latin typeface="inter-regular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333333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70228F-ACF3-D3FC-0683-D2505371E42E}"/>
              </a:ext>
            </a:extLst>
          </p:cNvPr>
          <p:cNvSpPr txBox="1"/>
          <p:nvPr/>
        </p:nvSpPr>
        <p:spPr>
          <a:xfrm>
            <a:off x="1219200" y="2895600"/>
            <a:ext cx="457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adder(&amp;$str2)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{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   $str2 .= 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'Call By Reference'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$str = 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'Hello '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adder($str);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echo $str;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9F6B81-2250-7AC7-0275-81E99AD2C686}"/>
              </a:ext>
            </a:extLst>
          </p:cNvPr>
          <p:cNvSpPr txBox="1"/>
          <p:nvPr/>
        </p:nvSpPr>
        <p:spPr>
          <a:xfrm>
            <a:off x="4339860" y="4953000"/>
            <a:ext cx="3051540" cy="369332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Hello Call By Reference</a:t>
            </a:r>
          </a:p>
        </p:txBody>
      </p:sp>
    </p:spTree>
    <p:extLst>
      <p:ext uri="{BB962C8B-B14F-4D97-AF65-F5344CB8AC3E}">
        <p14:creationId xmlns:p14="http://schemas.microsoft.com/office/powerpoint/2010/main" val="1050627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Default Argument Value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333333"/>
                </a:solidFill>
                <a:effectLst/>
                <a:latin typeface="inter-regular"/>
              </a:rPr>
              <a:t>don't specify any argument, it will take the default argument.</a:t>
            </a:r>
          </a:p>
          <a:p>
            <a:endParaRPr lang="en-US" sz="2000" b="1" dirty="0">
              <a:solidFill>
                <a:srgbClr val="333333"/>
              </a:solidFill>
              <a:latin typeface="inter-regular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333333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35BA71-09E5-8E3F-25CF-1FB59C053CDA}"/>
              </a:ext>
            </a:extLst>
          </p:cNvPr>
          <p:cNvSpPr txBox="1"/>
          <p:nvPr/>
        </p:nvSpPr>
        <p:spPr>
          <a:xfrm>
            <a:off x="4432092" y="2286000"/>
            <a:ext cx="4572000" cy="37379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($name=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"SAI"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){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"Hello $name&lt;</a:t>
            </a:r>
            <a:r>
              <a:rPr lang="en-IN" sz="2000" b="1" i="0" dirty="0" err="1">
                <a:solidFill>
                  <a:srgbClr val="0000FF"/>
                </a:solidFill>
                <a:effectLst/>
                <a:latin typeface="inter-regular"/>
              </a:rPr>
              <a:t>br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/&gt;"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"Rajesh"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);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();</a:t>
            </a:r>
            <a:r>
              <a:rPr lang="en-IN" sz="2000" b="1" i="0" dirty="0">
                <a:solidFill>
                  <a:srgbClr val="008200"/>
                </a:solidFill>
                <a:effectLst/>
                <a:latin typeface="inter-regular"/>
              </a:rPr>
              <a:t>//passing no value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"John"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);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AB8D89-E16B-6BDB-BEE4-D1780E62AA0B}"/>
              </a:ext>
            </a:extLst>
          </p:cNvPr>
          <p:cNvSpPr txBox="1"/>
          <p:nvPr/>
        </p:nvSpPr>
        <p:spPr>
          <a:xfrm>
            <a:off x="490928" y="3889733"/>
            <a:ext cx="1718872" cy="92333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Hello Rajesh</a:t>
            </a:r>
          </a:p>
          <a:p>
            <a:r>
              <a:rPr lang="en-IN" b="1" dirty="0"/>
              <a:t>Hello SAI</a:t>
            </a:r>
          </a:p>
          <a:p>
            <a:r>
              <a:rPr lang="en-IN" b="1" dirty="0"/>
              <a:t>Hello John</a:t>
            </a:r>
          </a:p>
        </p:txBody>
      </p:sp>
    </p:spTree>
    <p:extLst>
      <p:ext uri="{BB962C8B-B14F-4D97-AF65-F5344CB8AC3E}">
        <p14:creationId xmlns:p14="http://schemas.microsoft.com/office/powerpoint/2010/main" val="1627396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Returning Value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333333"/>
                </a:solidFill>
                <a:effectLst/>
                <a:latin typeface="inter-regular"/>
              </a:rPr>
              <a:t>PHP function that returns value.</a:t>
            </a:r>
            <a:endParaRPr lang="en-US" sz="2000" b="1" dirty="0">
              <a:solidFill>
                <a:srgbClr val="333333"/>
              </a:solidFill>
              <a:latin typeface="inter-regular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333333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742A9-4BDA-A118-4F91-059EA5643D76}"/>
              </a:ext>
            </a:extLst>
          </p:cNvPr>
          <p:cNvSpPr txBox="1"/>
          <p:nvPr/>
        </p:nvSpPr>
        <p:spPr>
          <a:xfrm>
            <a:off x="762000" y="2551837"/>
            <a:ext cx="4572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endParaRPr lang="en-US" sz="2400" b="0" i="0" dirty="0">
              <a:solidFill>
                <a:srgbClr val="000000"/>
              </a:solidFill>
              <a:effectLst/>
              <a:latin typeface="inter-regular"/>
            </a:endParaRPr>
          </a:p>
          <a:p>
            <a:pPr algn="just"/>
            <a:r>
              <a:rPr lang="en-US" sz="24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 cube($n){  </a:t>
            </a:r>
          </a:p>
          <a:p>
            <a:pPr algn="just"/>
            <a:r>
              <a:rPr lang="en-US" sz="2400" b="1" i="0" dirty="0">
                <a:solidFill>
                  <a:srgbClr val="006699"/>
                </a:solidFill>
                <a:effectLst/>
                <a:latin typeface="inter-regular"/>
              </a:rPr>
              <a:t>return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 $n*$n*$n;  </a:t>
            </a:r>
          </a:p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endParaRPr lang="en-US" sz="2400" b="0" i="0" dirty="0">
              <a:solidFill>
                <a:srgbClr val="000000"/>
              </a:solidFill>
              <a:effectLst/>
              <a:latin typeface="inter-regular"/>
            </a:endParaRPr>
          </a:p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US" sz="2400" b="0" i="0" dirty="0">
                <a:solidFill>
                  <a:srgbClr val="0000FF"/>
                </a:solidFill>
                <a:effectLst/>
                <a:latin typeface="inter-regular"/>
              </a:rPr>
              <a:t>"Cube of 3 is: 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.cube(3);  </a:t>
            </a:r>
          </a:p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87263-2653-DBD3-6A09-29BB7135C2DD}"/>
              </a:ext>
            </a:extLst>
          </p:cNvPr>
          <p:cNvSpPr txBox="1"/>
          <p:nvPr/>
        </p:nvSpPr>
        <p:spPr>
          <a:xfrm>
            <a:off x="5334000" y="4800600"/>
            <a:ext cx="213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highlight>
                  <a:srgbClr val="FFFF00"/>
                </a:highlight>
              </a:rPr>
              <a:t>Cube of 3 is: 27</a:t>
            </a:r>
          </a:p>
        </p:txBody>
      </p:sp>
    </p:spTree>
    <p:extLst>
      <p:ext uri="{BB962C8B-B14F-4D97-AF65-F5344CB8AC3E}">
        <p14:creationId xmlns:p14="http://schemas.microsoft.com/office/powerpoint/2010/main" val="3234754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Parameterized Example 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2E66FE-915A-31D6-31D3-590ABBE0E783}"/>
              </a:ext>
            </a:extLst>
          </p:cNvPr>
          <p:cNvSpPr txBox="1"/>
          <p:nvPr/>
        </p:nvSpPr>
        <p:spPr>
          <a:xfrm>
            <a:off x="685799" y="1828800"/>
            <a:ext cx="753672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&lt;html&gt;  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&lt;head&gt;  &lt;title&gt;Parameter Addition </a:t>
            </a:r>
            <a:r>
              <a:rPr lang="en-US" b="1" i="0" dirty="0">
                <a:solidFill>
                  <a:srgbClr val="006699"/>
                </a:solidFill>
                <a:effectLst/>
                <a:latin typeface="inter-regular"/>
              </a:rPr>
              <a:t>and</a:t>
            </a:r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 Subtraction Example&lt;/title&gt;  &lt;/head&gt;  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&lt;body&gt;  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         </a:t>
            </a:r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</a:t>
            </a:r>
            <a:r>
              <a:rPr lang="en-US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add($x, $y) {       </a:t>
            </a:r>
            <a:r>
              <a:rPr lang="en-US" b="1" i="0" dirty="0">
                <a:solidFill>
                  <a:srgbClr val="008200"/>
                </a:solidFill>
                <a:effectLst/>
                <a:latin typeface="inter-regular"/>
              </a:rPr>
              <a:t>//Adding two numbers</a:t>
            </a:r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         $sum = $x + $y;  </a:t>
            </a:r>
          </a:p>
          <a:p>
            <a:pPr algn="just"/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         echo </a:t>
            </a:r>
            <a:r>
              <a:rPr lang="en-US" b="1" i="0" dirty="0">
                <a:solidFill>
                  <a:srgbClr val="0000FF"/>
                </a:solidFill>
                <a:effectLst/>
                <a:latin typeface="inter-regular"/>
              </a:rPr>
              <a:t>"Sum of two numbers is = $sum &lt;</a:t>
            </a:r>
            <a:r>
              <a:rPr lang="en-US" b="1" i="0" dirty="0" err="1">
                <a:solidFill>
                  <a:srgbClr val="0000FF"/>
                </a:solidFill>
                <a:effectLst/>
                <a:latin typeface="inter-regular"/>
              </a:rPr>
              <a:t>br</a:t>
            </a:r>
            <a:r>
              <a:rPr lang="en-US" b="1" i="0" dirty="0">
                <a:solidFill>
                  <a:srgbClr val="0000FF"/>
                </a:solidFill>
                <a:effectLst/>
                <a:latin typeface="inter-regular"/>
              </a:rPr>
              <a:t>&gt;&lt;</a:t>
            </a:r>
            <a:r>
              <a:rPr lang="en-US" b="1" i="0" dirty="0" err="1">
                <a:solidFill>
                  <a:srgbClr val="0000FF"/>
                </a:solidFill>
                <a:effectLst/>
                <a:latin typeface="inter-regular"/>
              </a:rPr>
              <a:t>br</a:t>
            </a:r>
            <a:r>
              <a:rPr lang="en-US" b="1" i="0" dirty="0">
                <a:solidFill>
                  <a:srgbClr val="0000FF"/>
                </a:solidFill>
                <a:effectLst/>
                <a:latin typeface="inter-regular"/>
              </a:rPr>
              <a:t>&gt;"</a:t>
            </a:r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      }   </a:t>
            </a:r>
          </a:p>
          <a:p>
            <a:pPr algn="just"/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      add(467, 943);  </a:t>
            </a:r>
          </a:p>
          <a:p>
            <a:pPr algn="just"/>
            <a:r>
              <a:rPr lang="en-IN" b="0" i="0" dirty="0">
                <a:solidFill>
                  <a:srgbClr val="000000"/>
                </a:solidFill>
                <a:effectLst/>
                <a:latin typeface="inter-regular"/>
              </a:rPr>
              <a:t> ?&gt;  </a:t>
            </a:r>
          </a:p>
          <a:p>
            <a:pPr algn="just"/>
            <a:r>
              <a:rPr lang="en-IN" b="0" i="0" dirty="0">
                <a:solidFill>
                  <a:srgbClr val="000000"/>
                </a:solidFill>
                <a:effectLst/>
                <a:latin typeface="inter-regular"/>
              </a:rPr>
              <a:t>&lt;/body&gt;  </a:t>
            </a:r>
          </a:p>
          <a:p>
            <a:pPr algn="just"/>
            <a:r>
              <a:rPr lang="en-IN" b="0" i="0" dirty="0">
                <a:solidFill>
                  <a:srgbClr val="000000"/>
                </a:solidFill>
                <a:effectLst/>
                <a:latin typeface="inter-regular"/>
              </a:rPr>
              <a:t>&lt;/html&gt;  </a:t>
            </a:r>
          </a:p>
          <a:p>
            <a:pPr algn="just"/>
            <a:endParaRPr lang="en-US" b="0" i="0" dirty="0">
              <a:solidFill>
                <a:srgbClr val="000000"/>
              </a:solidFill>
              <a:effectLst/>
              <a:latin typeface="inter-regular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31A7E1-A9EF-BBAF-5A1C-FA2848939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4442383"/>
            <a:ext cx="4182059" cy="12288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32036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Parameterized Example 2 – using forms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9FCAF5-F7E3-8D26-7C96-C3DC0228EC6F}"/>
              </a:ext>
            </a:extLst>
          </p:cNvPr>
          <p:cNvSpPr txBox="1"/>
          <p:nvPr/>
        </p:nvSpPr>
        <p:spPr>
          <a:xfrm>
            <a:off x="533400" y="1905000"/>
            <a:ext cx="86868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IN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IN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$y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   {  </a:t>
            </a:r>
          </a:p>
          <a:p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$sum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$y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r>
              <a:rPr lang="en-IN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"Sum = 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$sum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IN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IN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 </a:t>
            </a:r>
          </a:p>
          <a:p>
            <a:r>
              <a:rPr lang="en-IN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isset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$_POST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dirty="0">
                <a:solidFill>
                  <a:srgbClr val="A31515"/>
                </a:solidFill>
                <a:latin typeface="Consolas" panose="020B0609020204030204" pitchFamily="49" charset="0"/>
              </a:rPr>
              <a:t>‘submit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]))  {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$_POST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'first'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$_POST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'second'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    </a:t>
            </a:r>
          </a:p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&lt;form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"post"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Enter first number: 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&lt;input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"number"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"first"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/&gt;&lt;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Enter second number: 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&lt;input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"number"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"second"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/&gt;&lt;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&lt;input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IN" dirty="0">
                <a:solidFill>
                  <a:srgbClr val="0000FF"/>
                </a:solidFill>
                <a:latin typeface="Consolas" panose="020B0609020204030204" pitchFamily="49" charset="0"/>
              </a:rPr>
              <a:t>submit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"ADDITION"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/&gt;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&lt;/form&gt;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6CA90F-8BE9-18AE-C897-C60699120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985" y="2140828"/>
            <a:ext cx="3153215" cy="1629002"/>
          </a:xfrm>
          <a:prstGeom prst="rect">
            <a:avLst/>
          </a:prstGeom>
          <a:ln>
            <a:solidFill>
              <a:schemeClr val="tx2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42015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b="0" i="0" dirty="0">
                <a:solidFill>
                  <a:srgbClr val="610B38"/>
                </a:solidFill>
                <a:effectLst/>
                <a:latin typeface="erdana"/>
              </a:rPr>
              <a:t>An array stores multiple values in one single variable:</a:t>
            </a:r>
          </a:p>
          <a:p>
            <a:pPr algn="just"/>
            <a:endParaRPr lang="en-US" sz="2800" b="0" i="0" dirty="0">
              <a:solidFill>
                <a:srgbClr val="610B38"/>
              </a:solidFill>
              <a:effectLst/>
              <a:latin typeface="erdana"/>
            </a:endParaRPr>
          </a:p>
          <a:p>
            <a:pPr algn="just"/>
            <a:r>
              <a:rPr lang="en-US" sz="2800" b="0" i="0" dirty="0">
                <a:solidFill>
                  <a:srgbClr val="610B38"/>
                </a:solidFill>
                <a:effectLst/>
                <a:latin typeface="erdana"/>
              </a:rPr>
              <a:t>Example</a:t>
            </a:r>
          </a:p>
          <a:p>
            <a:pPr algn="just"/>
            <a:endParaRPr lang="en-US" sz="2800" b="0" i="0" dirty="0">
              <a:solidFill>
                <a:srgbClr val="610B38"/>
              </a:solidFill>
              <a:effectLst/>
              <a:latin typeface="erdana"/>
            </a:endParaRP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&lt;?</a:t>
            </a:r>
            <a:r>
              <a:rPr lang="en-US" sz="2400" b="0" i="0" dirty="0" err="1">
                <a:solidFill>
                  <a:srgbClr val="0070C0"/>
                </a:solidFill>
                <a:effectLst/>
                <a:latin typeface="erdana"/>
              </a:rPr>
              <a:t>php</a:t>
            </a:r>
            <a:endParaRPr lang="en-US" sz="2400" b="0" i="0" dirty="0">
              <a:solidFill>
                <a:srgbClr val="0070C0"/>
              </a:solidFill>
              <a:effectLst/>
              <a:latin typeface="erdana"/>
            </a:endParaRP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$cars = array("Volvo", "BMW", "Toyota");</a:t>
            </a: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echo "I like " . $cars[0] . ", " . $cars[1] . " and " . $cars[2] . ".";</a:t>
            </a: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?&gt;</a:t>
            </a: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 </a:t>
            </a:r>
            <a:endParaRPr lang="en-IN" sz="2400" b="0" i="0" dirty="0">
              <a:solidFill>
                <a:srgbClr val="0070C0"/>
              </a:solidFill>
              <a:effectLst/>
              <a:latin typeface="erdan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8718509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Create an Array in PHP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610B38"/>
                </a:solidFill>
                <a:effectLst/>
                <a:latin typeface="erdana"/>
              </a:rPr>
              <a:t>array(); -  function is used to create an array</a:t>
            </a:r>
          </a:p>
          <a:p>
            <a:pPr algn="just">
              <a:lnSpc>
                <a:spcPct val="150000"/>
              </a:lnSpc>
            </a:pPr>
            <a:endParaRPr lang="en-US" sz="2800" b="0" i="0" dirty="0">
              <a:solidFill>
                <a:srgbClr val="610B38"/>
              </a:solidFill>
              <a:effectLst/>
              <a:latin typeface="erdana"/>
            </a:endParaRPr>
          </a:p>
          <a:p>
            <a:pPr algn="l">
              <a:lnSpc>
                <a:spcPct val="150000"/>
              </a:lnSpc>
            </a:pPr>
            <a:r>
              <a:rPr lang="en-US" sz="2400" b="0" i="0" dirty="0">
                <a:solidFill>
                  <a:srgbClr val="000000"/>
                </a:solidFill>
                <a:effectLst/>
                <a:latin typeface="erdana"/>
              </a:rPr>
              <a:t>In PHP, there are three types of arrays: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FF0000"/>
                </a:solidFill>
                <a:effectLst/>
                <a:latin typeface="erdana"/>
              </a:rPr>
              <a:t>Indexed arrays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erdana"/>
              </a:rPr>
              <a:t> - Arrays with a numeric index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FF0000"/>
                </a:solidFill>
                <a:effectLst/>
                <a:latin typeface="erdana"/>
              </a:rPr>
              <a:t>Associative arrays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erdana"/>
              </a:rPr>
              <a:t> - Arrays with named keys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FF0000"/>
                </a:solidFill>
                <a:effectLst/>
                <a:latin typeface="erdana"/>
              </a:rPr>
              <a:t>Multidimensional arrays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erdana"/>
              </a:rPr>
              <a:t> - Arrays containing one or more arrays</a:t>
            </a:r>
          </a:p>
          <a:p>
            <a:r>
              <a:rPr lang="en-US" sz="2400" dirty="0"/>
              <a:t/>
            </a:r>
            <a:br>
              <a:rPr lang="en-US" sz="24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9253304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573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0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Get The Length of an Array - The count() Function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erdana"/>
              </a:rPr>
              <a:t>The </a:t>
            </a:r>
            <a:r>
              <a:rPr lang="en-US" sz="2400" b="1" dirty="0">
                <a:solidFill>
                  <a:srgbClr val="FF0000"/>
                </a:solidFill>
                <a:latin typeface="erdana"/>
              </a:rPr>
              <a:t>count() </a:t>
            </a:r>
            <a:r>
              <a:rPr lang="en-US" sz="2400" dirty="0">
                <a:solidFill>
                  <a:srgbClr val="000000"/>
                </a:solidFill>
                <a:latin typeface="erdana"/>
              </a:rPr>
              <a:t>function is used to return the length (the number of elements) of an array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ACBAFA-7B7D-AE0A-9079-EFC810106BA7}"/>
              </a:ext>
            </a:extLst>
          </p:cNvPr>
          <p:cNvSpPr txBox="1"/>
          <p:nvPr/>
        </p:nvSpPr>
        <p:spPr>
          <a:xfrm>
            <a:off x="685800" y="2992632"/>
            <a:ext cx="6705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/>
              <a:t>Example</a:t>
            </a:r>
          </a:p>
          <a:p>
            <a:r>
              <a:rPr lang="en-IN" sz="2800" dirty="0"/>
              <a:t>&lt;?</a:t>
            </a:r>
            <a:r>
              <a:rPr lang="en-IN" sz="2800" dirty="0" err="1"/>
              <a:t>php</a:t>
            </a:r>
            <a:endParaRPr lang="en-IN" sz="2800" dirty="0"/>
          </a:p>
          <a:p>
            <a:r>
              <a:rPr lang="en-IN" sz="2800" dirty="0">
                <a:solidFill>
                  <a:srgbClr val="FF0000"/>
                </a:solidFill>
              </a:rPr>
              <a:t>$cars = array("Volvo", "BMW", "Toyota");</a:t>
            </a:r>
          </a:p>
          <a:p>
            <a:r>
              <a:rPr lang="en-IN" sz="2800" dirty="0"/>
              <a:t>echo count($cars);    // 3</a:t>
            </a:r>
          </a:p>
          <a:p>
            <a:r>
              <a:rPr lang="en-IN" sz="2800" dirty="0"/>
              <a:t>?&gt;</a:t>
            </a:r>
          </a:p>
        </p:txBody>
      </p:sp>
    </p:spTree>
    <p:extLst>
      <p:ext uri="{BB962C8B-B14F-4D97-AF65-F5344CB8AC3E}">
        <p14:creationId xmlns:p14="http://schemas.microsoft.com/office/powerpoint/2010/main" val="23179265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4667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0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PHP Indexed Arrays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H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ere are two ways to create indexed arrays: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The index can be assigned automatically .</a:t>
            </a:r>
          </a:p>
          <a:p>
            <a:pPr algn="l">
              <a:lnSpc>
                <a:spcPct val="150000"/>
              </a:lnSpc>
            </a:pP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$cars = array("Volvo", "BMW", "Toyota");</a:t>
            </a:r>
          </a:p>
          <a:p>
            <a:pPr algn="l">
              <a:lnSpc>
                <a:spcPct val="150000"/>
              </a:lnSpc>
            </a:pPr>
            <a:endParaRPr lang="en-US" sz="1200" b="0" i="0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The index can be assigned manually:</a:t>
            </a:r>
          </a:p>
          <a:p>
            <a:pPr algn="l"/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$cars[0] = "Volvo";</a:t>
            </a:r>
            <a:b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$cars[1] = "BMW";</a:t>
            </a:r>
            <a:b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$cars[2] = "Toyota";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</p:spTree>
    <p:extLst>
      <p:ext uri="{BB962C8B-B14F-4D97-AF65-F5344CB8AC3E}">
        <p14:creationId xmlns:p14="http://schemas.microsoft.com/office/powerpoint/2010/main" val="5881324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450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Loop Through an Indexed Array</a:t>
            </a:r>
          </a:p>
          <a:p>
            <a:pPr algn="l"/>
            <a:endParaRPr lang="en-IN" sz="2800" b="0" i="0" u="sng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A9C3A3-FF2A-2001-41BD-B1EAC4AF9739}"/>
              </a:ext>
            </a:extLst>
          </p:cNvPr>
          <p:cNvSpPr txBox="1"/>
          <p:nvPr/>
        </p:nvSpPr>
        <p:spPr>
          <a:xfrm>
            <a:off x="479684" y="1752600"/>
            <a:ext cx="752131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Example</a:t>
            </a:r>
          </a:p>
          <a:p>
            <a:pPr algn="l"/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US" sz="24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$cars= </a:t>
            </a:r>
            <a:r>
              <a:rPr lang="en-US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"Volvo"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"BMW"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"Toyota"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count($cars);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($x = 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$x &lt; $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$x++) {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US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$cars[$x];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US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US" sz="2400" b="0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US" sz="24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DEB14-6CB3-B1B6-17BE-823C606F733B}"/>
              </a:ext>
            </a:extLst>
          </p:cNvPr>
          <p:cNvSpPr txBox="1"/>
          <p:nvPr/>
        </p:nvSpPr>
        <p:spPr>
          <a:xfrm>
            <a:off x="6743698" y="4960520"/>
            <a:ext cx="1104901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Volvo</a:t>
            </a:r>
            <a:r>
              <a:rPr lang="en-IN" b="1" dirty="0"/>
              <a:t/>
            </a:r>
            <a:br>
              <a:rPr lang="en-IN" b="1" dirty="0"/>
            </a:br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BMW</a:t>
            </a:r>
            <a:r>
              <a:rPr lang="en-IN" b="1" dirty="0"/>
              <a:t/>
            </a:r>
            <a:br>
              <a:rPr lang="en-IN" b="1" dirty="0"/>
            </a:br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Toyota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7055606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450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FF0000"/>
                </a:solidFill>
                <a:effectLst/>
                <a:latin typeface="Segoe UI" panose="020B0502040204020203" pitchFamily="34" charset="0"/>
              </a:rPr>
              <a:t>PHP Associative Arrays</a:t>
            </a:r>
          </a:p>
          <a:p>
            <a:pPr algn="l"/>
            <a:endParaRPr lang="en-IN" sz="2800" b="0" i="0" u="sng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9A12D-9BB9-2950-9816-296D2BB27183}"/>
              </a:ext>
            </a:extLst>
          </p:cNvPr>
          <p:cNvSpPr txBox="1"/>
          <p:nvPr/>
        </p:nvSpPr>
        <p:spPr>
          <a:xfrm>
            <a:off x="304800" y="1720840"/>
            <a:ext cx="8991600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Associative arrays are arrays that use 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Verdana" panose="020B0604030504040204" pitchFamily="34" charset="0"/>
              </a:rPr>
              <a:t>named keys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that you assign to them.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There are two ways to create an associative array: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Verdana" panose="020B0604030504040204" pitchFamily="34" charset="0"/>
            </a:endParaRPr>
          </a:p>
          <a:p>
            <a:pPr algn="l"/>
            <a:r>
              <a:rPr lang="en-US" sz="2000" b="1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  $age = array("Peter"=&gt;"35", "Ben"=&gt;"37", "Joe"=&gt;"43");</a:t>
            </a:r>
          </a:p>
          <a:p>
            <a:pPr algn="l"/>
            <a:endParaRPr lang="en-US" sz="2000" b="1" i="0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pPr algn="ctr"/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or</a:t>
            </a:r>
          </a:p>
          <a:p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$age['Peter'] = "35";</a:t>
            </a:r>
            <a:b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		$age['Ben'] = "37";</a:t>
            </a:r>
            <a:b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		$age['Joe'] = "43";</a:t>
            </a:r>
          </a:p>
        </p:txBody>
      </p:sp>
    </p:spTree>
    <p:extLst>
      <p:ext uri="{BB962C8B-B14F-4D97-AF65-F5344CB8AC3E}">
        <p14:creationId xmlns:p14="http://schemas.microsoft.com/office/powerpoint/2010/main" val="1350809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019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Loop Through an Associative Array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45A885-8C68-5307-254F-5434E4E3DFA2}"/>
              </a:ext>
            </a:extLst>
          </p:cNvPr>
          <p:cNvSpPr txBox="1"/>
          <p:nvPr/>
        </p:nvSpPr>
        <p:spPr>
          <a:xfrm>
            <a:off x="457200" y="1905000"/>
            <a:ext cx="82296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Example</a:t>
            </a:r>
          </a:p>
          <a:p>
            <a:pPr algn="l"/>
            <a:endParaRPr lang="en-US" sz="2000" b="0" i="0" u="sng" dirty="0">
              <a:solidFill>
                <a:srgbClr val="002060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sz="2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US" sz="2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$age = array("Peter"=&gt;"35", "Ben"=&gt;"37", "Joe"=&gt;"43");</a:t>
            </a:r>
          </a:p>
          <a:p>
            <a:pPr algn="l"/>
            <a:endParaRPr lang="en-US" sz="20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/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foreach($age as $x =&gt; $</a:t>
            </a:r>
            <a:r>
              <a:rPr lang="en-US" sz="20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x_value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 algn="l"/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algn="l"/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echo "Key=" . $x . ", Value=" . $</a:t>
            </a:r>
            <a:r>
              <a:rPr lang="en-US" sz="20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x_value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echo "&lt;</a:t>
            </a:r>
            <a:r>
              <a:rPr lang="en-US" sz="20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&gt;";</a:t>
            </a:r>
            <a:b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US" sz="20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001189-F955-1D95-EF40-1E650A7C33A3}"/>
              </a:ext>
            </a:extLst>
          </p:cNvPr>
          <p:cNvSpPr txBox="1"/>
          <p:nvPr/>
        </p:nvSpPr>
        <p:spPr>
          <a:xfrm>
            <a:off x="5333999" y="4921210"/>
            <a:ext cx="2888521" cy="92333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Key=Peter, Value=35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Key=Ben, Value=37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Key=Joe, Value=43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4705866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2589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PHP - Multidimensional Arrays</a:t>
            </a:r>
          </a:p>
          <a:p>
            <a:pPr algn="l">
              <a:lnSpc>
                <a:spcPct val="150000"/>
              </a:lnSpc>
            </a:pPr>
            <a:endParaRPr lang="en-IN" sz="2800" b="1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 multidimensional array is an array containing one or more arrays</a:t>
            </a:r>
            <a:endParaRPr lang="en-IN" sz="2000" b="1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</p:spTree>
    <p:extLst>
      <p:ext uri="{BB962C8B-B14F-4D97-AF65-F5344CB8AC3E}">
        <p14:creationId xmlns:p14="http://schemas.microsoft.com/office/powerpoint/2010/main" val="39250337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60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400" b="1" i="0" dirty="0">
                <a:solidFill>
                  <a:srgbClr val="FF0000"/>
                </a:solidFill>
                <a:effectLst/>
                <a:latin typeface="Segoe UI" panose="020B0502040204020203" pitchFamily="34" charset="0"/>
              </a:rPr>
              <a:t>Two-dimensional Arrays</a:t>
            </a:r>
          </a:p>
          <a:p>
            <a:pPr algn="just">
              <a:lnSpc>
                <a:spcPct val="150000"/>
              </a:lnSpc>
            </a:pPr>
            <a:r>
              <a:rPr lang="en-US" sz="20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 two-dimensional array is an array of arrays</a:t>
            </a:r>
            <a:endParaRPr lang="en-IN" sz="2000" b="1" i="0" dirty="0">
              <a:solidFill>
                <a:srgbClr val="FF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9C290F-8408-7720-6033-0A1734682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224" y="2389752"/>
            <a:ext cx="6887536" cy="1943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E3CF49-0543-4CEF-57BD-BAB37AF680C8}"/>
              </a:ext>
            </a:extLst>
          </p:cNvPr>
          <p:cNvSpPr txBox="1"/>
          <p:nvPr/>
        </p:nvSpPr>
        <p:spPr>
          <a:xfrm>
            <a:off x="1351224" y="4648200"/>
            <a:ext cx="68875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$cars = array (   array("Volvo",22,18),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		    array("BMW",15,13),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                 array("Saab",5,2),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		    array("Land Rover",17,15) );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890158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228600" y="1143000"/>
            <a:ext cx="8686800" cy="114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400" b="1" i="0" dirty="0">
                <a:solidFill>
                  <a:srgbClr val="FF0000"/>
                </a:solidFill>
                <a:effectLst/>
                <a:latin typeface="Segoe UI" panose="020B0502040204020203" pitchFamily="34" charset="0"/>
              </a:rPr>
              <a:t>Two-dimensional Arrays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8194B8-3A8C-58AC-A819-6542A2016992}"/>
              </a:ext>
            </a:extLst>
          </p:cNvPr>
          <p:cNvSpPr txBox="1"/>
          <p:nvPr/>
        </p:nvSpPr>
        <p:spPr>
          <a:xfrm>
            <a:off x="237344" y="1662619"/>
            <a:ext cx="86868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Example</a:t>
            </a:r>
          </a:p>
          <a:p>
            <a:pPr algn="l"/>
            <a:endParaRPr lang="en-IN" sz="140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768DC6-567C-270F-B1E5-99B5C9DC829A}"/>
              </a:ext>
            </a:extLst>
          </p:cNvPr>
          <p:cNvSpPr txBox="1"/>
          <p:nvPr/>
        </p:nvSpPr>
        <p:spPr>
          <a:xfrm>
            <a:off x="462197" y="2286070"/>
            <a:ext cx="4572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/>
              <a:t>&lt;?</a:t>
            </a:r>
            <a:r>
              <a:rPr lang="en-IN" sz="2000" dirty="0" err="1"/>
              <a:t>php</a:t>
            </a:r>
            <a:endParaRPr lang="en-IN" sz="2000" dirty="0"/>
          </a:p>
          <a:p>
            <a:r>
              <a:rPr lang="en-IN" sz="2000" dirty="0"/>
              <a:t>$cars = array (</a:t>
            </a:r>
          </a:p>
          <a:p>
            <a:r>
              <a:rPr lang="en-IN" sz="2000" dirty="0"/>
              <a:t>  array("Volvo",22,18),</a:t>
            </a:r>
          </a:p>
          <a:p>
            <a:r>
              <a:rPr lang="en-IN" sz="2000" dirty="0"/>
              <a:t>  array("BMW",15,13),</a:t>
            </a:r>
          </a:p>
          <a:p>
            <a:r>
              <a:rPr lang="en-IN" sz="2000" dirty="0"/>
              <a:t>  array("Saab",5,2),</a:t>
            </a:r>
          </a:p>
          <a:p>
            <a:r>
              <a:rPr lang="en-IN" sz="2000" dirty="0"/>
              <a:t>  array("Land Rover",17,15)</a:t>
            </a:r>
          </a:p>
          <a:p>
            <a:r>
              <a:rPr lang="en-IN" sz="2000" dirty="0"/>
              <a:t>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C4DDD9-D2CC-D876-E7BD-0F2F0478A866}"/>
              </a:ext>
            </a:extLst>
          </p:cNvPr>
          <p:cNvSpPr txBox="1"/>
          <p:nvPr/>
        </p:nvSpPr>
        <p:spPr>
          <a:xfrm>
            <a:off x="4141032" y="1571389"/>
            <a:ext cx="5002968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IN" sz="2000" dirty="0"/>
              <a:t>for ($row = 0; $row &lt; 4; $row++) </a:t>
            </a:r>
          </a:p>
          <a:p>
            <a:r>
              <a:rPr lang="en-IN" sz="2000" dirty="0"/>
              <a:t>{</a:t>
            </a:r>
          </a:p>
          <a:p>
            <a:r>
              <a:rPr lang="en-IN" sz="2000" dirty="0"/>
              <a:t>echo "&lt;p&gt;&lt;b&gt;Row number $row&lt;/b&gt;&lt;/p&gt;";</a:t>
            </a:r>
          </a:p>
          <a:p>
            <a:r>
              <a:rPr lang="en-IN" sz="2000" dirty="0"/>
              <a:t>  echo "&lt;</a:t>
            </a:r>
            <a:r>
              <a:rPr lang="en-IN" sz="2000" dirty="0" err="1"/>
              <a:t>ul</a:t>
            </a:r>
            <a:r>
              <a:rPr lang="en-IN" sz="2000" dirty="0"/>
              <a:t>&gt;";</a:t>
            </a:r>
          </a:p>
          <a:p>
            <a:r>
              <a:rPr lang="en-IN" sz="2000" dirty="0"/>
              <a:t>  for ($col = 0; $col &lt; 3; $col++) </a:t>
            </a:r>
          </a:p>
          <a:p>
            <a:r>
              <a:rPr lang="en-IN" sz="2000" dirty="0"/>
              <a:t>{</a:t>
            </a:r>
          </a:p>
          <a:p>
            <a:r>
              <a:rPr lang="en-IN" sz="2000" dirty="0"/>
              <a:t>    echo "&lt;li&gt;".$cars[$row][$col]."&lt;/li&gt;";</a:t>
            </a:r>
          </a:p>
          <a:p>
            <a:r>
              <a:rPr lang="en-IN" sz="2000" dirty="0"/>
              <a:t>  }</a:t>
            </a:r>
          </a:p>
          <a:p>
            <a:r>
              <a:rPr lang="en-IN" sz="2000" dirty="0"/>
              <a:t>  echo "&lt;/</a:t>
            </a:r>
            <a:r>
              <a:rPr lang="en-IN" sz="2000" dirty="0" err="1"/>
              <a:t>ul</a:t>
            </a:r>
            <a:r>
              <a:rPr lang="en-IN" sz="2000" dirty="0"/>
              <a:t>&gt;";</a:t>
            </a:r>
          </a:p>
          <a:p>
            <a:r>
              <a:rPr lang="en-IN" sz="2000" dirty="0"/>
              <a:t>}</a:t>
            </a:r>
          </a:p>
          <a:p>
            <a:r>
              <a:rPr lang="en-IN" sz="2000" dirty="0"/>
              <a:t>?&gt;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45A48F-B408-D616-8C40-83579650B53D}"/>
              </a:ext>
            </a:extLst>
          </p:cNvPr>
          <p:cNvSpPr txBox="1"/>
          <p:nvPr/>
        </p:nvSpPr>
        <p:spPr>
          <a:xfrm>
            <a:off x="7251493" y="5286611"/>
            <a:ext cx="1672651" cy="12003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Row number 0</a:t>
            </a: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Volvo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22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9800594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5D68CD-E756-404A-5942-4621E2FE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CSE-367 Data Visualization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14F2A-B6E6-266C-55D2-2D4A74B1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7B4A3E-5C7D-2A7E-D9D1-EEC8BFBB7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1127001"/>
            <a:ext cx="3352800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4546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228600" y="1143000"/>
            <a:ext cx="8686800" cy="114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solidFill>
                  <a:srgbClr val="FF0000"/>
                </a:solidFill>
                <a:latin typeface="Segoe UI" panose="020B0502040204020203" pitchFamily="34" charset="0"/>
              </a:rPr>
              <a:t>Sorting Arrays</a:t>
            </a:r>
            <a:endParaRPr lang="en-IN" sz="2400" b="1" i="0" dirty="0">
              <a:solidFill>
                <a:srgbClr val="FF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362C3-A621-2507-1CC4-D7387B5B9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714535"/>
            <a:ext cx="85344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elements in an array can be sorted in alphabetical or numerical order, descending or ascending.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Sort Functions For Arrays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sort() - sort arrays in ascending order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arrays in descending order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associative arrays in ascending order, according to the value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associative arrays in ascending order, according to the key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associative arrays in descending order, according to the value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associative arrays in descending order, according to the key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4055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38528" y="940386"/>
            <a:ext cx="8686800" cy="114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u="sng" dirty="0">
                <a:solidFill>
                  <a:srgbClr val="FF0000"/>
                </a:solidFill>
                <a:latin typeface="Segoe UI" panose="020B0502040204020203" pitchFamily="34" charset="0"/>
              </a:rPr>
              <a:t>Sorting Arrays</a:t>
            </a:r>
            <a:endParaRPr lang="en-IN" sz="2400" b="1" i="0" u="sng" dirty="0">
              <a:solidFill>
                <a:srgbClr val="FF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41A7C6-5E49-0BAD-DEE2-77A98E4B2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28" y="1566276"/>
            <a:ext cx="8466944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example sorts the elements of the $cars array in ascending alphabetical order: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US" sz="1800" b="1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US" sz="18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$cars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8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Volvo"</a:t>
            </a:r>
            <a:r>
              <a:rPr lang="en-US" sz="18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8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"BMW"</a:t>
            </a:r>
            <a:r>
              <a:rPr lang="en-US" sz="18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8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"Toyota</a:t>
            </a:r>
            <a:r>
              <a:rPr lang="en-US" sz="18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18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$cars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$cars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800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18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$cars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US" sz="18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US" sz="18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US" sz="18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46358-6868-BCE5-0447-354088702615}"/>
              </a:ext>
            </a:extLst>
          </p:cNvPr>
          <p:cNvSpPr txBox="1"/>
          <p:nvPr/>
        </p:nvSpPr>
        <p:spPr>
          <a:xfrm>
            <a:off x="6248400" y="4830059"/>
            <a:ext cx="1219200" cy="923330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BMW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Toyota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Volvo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7955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dirty="0" err="1"/>
              <a:t>Superglobals</a:t>
            </a:r>
            <a:r>
              <a:rPr lang="en-US" dirty="0"/>
              <a:t>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244839" y="1075082"/>
            <a:ext cx="8686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Super global variables are built-in variables that are always available in all scopes</a:t>
            </a:r>
            <a:endParaRPr lang="en-US" sz="2400" b="1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41A7C6-5E49-0BAD-DEE2-77A98E4B2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839" y="1906079"/>
            <a:ext cx="8466944" cy="4351338"/>
          </a:xfrm>
        </p:spPr>
        <p:txBody>
          <a:bodyPr>
            <a:normAutofit/>
          </a:bodyPr>
          <a:lstStyle/>
          <a:p>
            <a:pPr algn="just"/>
            <a:r>
              <a:rPr lang="en-US" sz="20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Some predefined variables in PHP are "</a:t>
            </a:r>
            <a:r>
              <a:rPr lang="en-US" sz="2000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superglobals</a:t>
            </a:r>
            <a:r>
              <a:rPr lang="en-US" sz="20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", which means that they are always accessible, regardless of scope - and you can access them from any function, class or file without having to do anything special.</a:t>
            </a:r>
          </a:p>
          <a:p>
            <a:pPr marL="0" indent="0" algn="just">
              <a:buNone/>
            </a:pPr>
            <a:r>
              <a:rPr lang="en-US" sz="20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PHP </a:t>
            </a:r>
            <a:r>
              <a:rPr lang="en-US" sz="2000" b="1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superglobal</a:t>
            </a:r>
            <a:r>
              <a:rPr lang="en-US" sz="20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variables are: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$GLOBALS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$_SERVER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$_REQUEST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$_POST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$_GET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$_FILES</a:t>
            </a:r>
          </a:p>
        </p:txBody>
      </p:sp>
    </p:spTree>
    <p:extLst>
      <p:ext uri="{BB962C8B-B14F-4D97-AF65-F5344CB8AC3E}">
        <p14:creationId xmlns:p14="http://schemas.microsoft.com/office/powerpoint/2010/main" val="1418987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US" dirty="0"/>
              <a:t>$GLOBALS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263A3-FE0C-B322-C2E7-E6BD7EE897E0}"/>
              </a:ext>
            </a:extLst>
          </p:cNvPr>
          <p:cNvSpPr txBox="1"/>
          <p:nvPr/>
        </p:nvSpPr>
        <p:spPr>
          <a:xfrm>
            <a:off x="228600" y="1371600"/>
            <a:ext cx="8610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$GLOBALS </a:t>
            </a:r>
            <a:r>
              <a:rPr lang="en-US" sz="2000" b="1" dirty="0">
                <a:latin typeface="Bookman Old Style" panose="02050604050505020204" pitchFamily="18" charset="0"/>
                <a:ea typeface="+mj-ea"/>
                <a:cs typeface="+mj-cs"/>
              </a:rPr>
              <a:t>is an associative array of references to all globally defined variables. Names of variables form keys and their contents are values of </a:t>
            </a:r>
            <a:r>
              <a:rPr lang="en-US" sz="2000" b="1" dirty="0">
                <a:solidFill>
                  <a:srgbClr val="00B0F0"/>
                </a:solidFill>
                <a:latin typeface="Bookman Old Style" panose="02050604050505020204" pitchFamily="18" charset="0"/>
                <a:ea typeface="+mj-ea"/>
                <a:cs typeface="+mj-cs"/>
              </a:rPr>
              <a:t>associative array</a:t>
            </a:r>
            <a:r>
              <a:rPr lang="en-US" b="1" i="0" dirty="0">
                <a:solidFill>
                  <a:srgbClr val="000000"/>
                </a:solidFill>
                <a:effectLst/>
                <a:latin typeface="Nunito" pitchFamily="2" charset="0"/>
              </a:rPr>
              <a:t>.</a:t>
            </a:r>
            <a:endParaRPr lang="en-IN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043CFD-D1AA-C145-D864-BA20752F8B72}"/>
              </a:ext>
            </a:extLst>
          </p:cNvPr>
          <p:cNvSpPr txBox="1"/>
          <p:nvPr/>
        </p:nvSpPr>
        <p:spPr>
          <a:xfrm>
            <a:off x="228600" y="2381017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FF0000"/>
                </a:solidFill>
              </a:rPr>
              <a:t>Example #1 $GLOBALS example</a:t>
            </a:r>
          </a:p>
          <a:p>
            <a:endParaRPr lang="en-IN" b="1" dirty="0"/>
          </a:p>
          <a:p>
            <a:r>
              <a:rPr lang="en-IN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$x = </a:t>
            </a:r>
            <a:r>
              <a:rPr lang="en-IN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$y = </a:t>
            </a:r>
            <a:r>
              <a:rPr lang="en-IN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25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addition() {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IN" b="0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$GLOBALS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'z'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 </a:t>
            </a:r>
            <a:r>
              <a:rPr lang="en-IN" b="0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$GLOBALS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 </a:t>
            </a:r>
            <a:r>
              <a:rPr lang="en-IN" b="0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$GLOBALS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addition();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$z;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696673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$_SERVER</a:t>
            </a:r>
            <a:r>
              <a:rPr lang="en-US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263A3-FE0C-B322-C2E7-E6BD7EE897E0}"/>
              </a:ext>
            </a:extLst>
          </p:cNvPr>
          <p:cNvSpPr txBox="1"/>
          <p:nvPr/>
        </p:nvSpPr>
        <p:spPr>
          <a:xfrm>
            <a:off x="228600" y="1209004"/>
            <a:ext cx="8610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b="1" i="0" dirty="0">
                <a:solidFill>
                  <a:srgbClr val="C00000"/>
                </a:solidFill>
                <a:effectLst/>
                <a:latin typeface="Verdana" panose="020B0604030504040204" pitchFamily="34" charset="0"/>
              </a:rPr>
              <a:t>$_SERVER 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is a PHP super global variable which holds information about headers, paths, and script locations.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9DCC4-A110-567B-5608-1D8F8170BBDE}"/>
              </a:ext>
            </a:extLst>
          </p:cNvPr>
          <p:cNvSpPr txBox="1"/>
          <p:nvPr/>
        </p:nvSpPr>
        <p:spPr>
          <a:xfrm>
            <a:off x="228600" y="1916890"/>
            <a:ext cx="876300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b="1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Example</a:t>
            </a:r>
          </a:p>
          <a:p>
            <a:pPr algn="l"/>
            <a:r>
              <a:rPr lang="en-IN" sz="1600" b="1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sz="1600" b="1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'PHP_SELF</a:t>
            </a:r>
            <a:r>
              <a:rPr lang="en-IN" sz="12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IN" sz="12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];/*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Returns the filename of the currently executing script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'SERVER_NAME’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];/*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Returns the name of the host server (such as www.w3schools.com)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'HTTP_HOST’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600" b="0" i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/*Host 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header from the current request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'HTTP_REFERER'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complete URL of the </a:t>
            </a:r>
          </a:p>
          <a:p>
            <a:pPr algn="l"/>
            <a:r>
              <a:rPr lang="en-US" sz="16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current page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'HTTP_USER_AGENT'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'SCRIPT_NAME'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?&gt;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the path of the current script</a:t>
            </a:r>
            <a:endParaRPr lang="en-IN" sz="1600" b="1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226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$_GET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3F92BE-E8B0-AADD-8E68-0426F5A5A420}"/>
              </a:ext>
            </a:extLst>
          </p:cNvPr>
          <p:cNvSpPr txBox="1"/>
          <p:nvPr/>
        </p:nvSpPr>
        <p:spPr>
          <a:xfrm>
            <a:off x="228600" y="1143000"/>
            <a:ext cx="84582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b="0" i="0" dirty="0">
                <a:effectLst/>
                <a:latin typeface="inter-regular"/>
              </a:rPr>
              <a:t>The </a:t>
            </a:r>
            <a:r>
              <a:rPr lang="en-US" sz="2800" b="1" i="0" dirty="0">
                <a:effectLst/>
                <a:latin typeface="inter-bold"/>
              </a:rPr>
              <a:t>GET</a:t>
            </a:r>
            <a:r>
              <a:rPr lang="en-US" sz="2800" b="0" i="0" dirty="0">
                <a:effectLst/>
                <a:latin typeface="inter-regular"/>
              </a:rPr>
              <a:t> method is used to submit the </a:t>
            </a:r>
            <a:r>
              <a:rPr lang="en-US" sz="2800" b="0" i="0" u="none" strike="noStrike" dirty="0">
                <a:effectLst/>
                <a:latin typeface="inter-regular"/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HTML form</a:t>
            </a:r>
            <a:r>
              <a:rPr lang="en-US" sz="2800" b="0" i="0" dirty="0">
                <a:effectLst/>
                <a:latin typeface="inter-regular"/>
              </a:rPr>
              <a:t> data. This data is collected by the predefined </a:t>
            </a:r>
            <a:r>
              <a:rPr lang="en-US" sz="2800" b="1" i="0" dirty="0">
                <a:effectLst/>
                <a:latin typeface="inter-bold"/>
              </a:rPr>
              <a:t>$_GET variable</a:t>
            </a:r>
            <a:r>
              <a:rPr lang="en-US" sz="2800" b="0" i="0" dirty="0">
                <a:effectLst/>
                <a:latin typeface="inter-regular"/>
              </a:rPr>
              <a:t> for processing.</a:t>
            </a:r>
          </a:p>
          <a:p>
            <a:endParaRPr lang="en-US" sz="2800" dirty="0">
              <a:latin typeface="inter-regular"/>
            </a:endParaRPr>
          </a:p>
          <a:p>
            <a:pPr algn="just"/>
            <a:r>
              <a:rPr lang="en-US" sz="2800" dirty="0">
                <a:latin typeface="inter-regular"/>
              </a:rPr>
              <a:t>The information sent from an </a:t>
            </a:r>
            <a:r>
              <a:rPr lang="en-US" sz="2800" dirty="0">
                <a:latin typeface="inter-regular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HTML</a:t>
            </a:r>
            <a:r>
              <a:rPr lang="en-US" sz="2800" dirty="0">
                <a:latin typeface="inter-regular"/>
              </a:rPr>
              <a:t> form using the GET method is visible to everyone in the browser's address bar, which means that all the variable names and their values will be displayed in the URL.</a:t>
            </a:r>
            <a:endParaRPr lang="en-IN" sz="2800" dirty="0">
              <a:latin typeface="inter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652E41-6E0B-15A9-EF9D-8C69FA41862C}"/>
              </a:ext>
            </a:extLst>
          </p:cNvPr>
          <p:cNvSpPr txBox="1"/>
          <p:nvPr/>
        </p:nvSpPr>
        <p:spPr>
          <a:xfrm>
            <a:off x="228600" y="4830689"/>
            <a:ext cx="8655570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000000"/>
                </a:solidFill>
                <a:effectLst/>
                <a:latin typeface="inter-regular"/>
              </a:rPr>
              <a:t>localhost/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inter-regular"/>
              </a:rPr>
              <a:t>gettest.php?username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inter-regular"/>
              </a:rPr>
              <a:t>=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inter-regular"/>
              </a:rPr>
              <a:t>Harry&amp;bloodgroup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inter-regular"/>
              </a:rPr>
              <a:t>=AB+ 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9371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$_GET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2A7939-C602-A064-381C-8F15B8908BB4}"/>
              </a:ext>
            </a:extLst>
          </p:cNvPr>
          <p:cNvSpPr txBox="1"/>
          <p:nvPr/>
        </p:nvSpPr>
        <p:spPr>
          <a:xfrm>
            <a:off x="364760" y="1166012"/>
            <a:ext cx="84144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0" i="0" dirty="0">
                <a:effectLst/>
                <a:latin typeface="inter-regular"/>
              </a:rPr>
              <a:t>The below code will display an HTML form containing two input fields and a submit button. In this HTML form, we used the method = "get" to submit the form data.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C08E9-8B46-AE22-6ACB-46EB6EDEC8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325644"/>
            <a:ext cx="8077200" cy="3366343"/>
          </a:xfrm>
          <a:ln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action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IN" sz="2200" b="1" i="0" dirty="0" err="1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welcome.php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method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en-IN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Name: 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="text"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name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="name"&gt;&lt;</a:t>
            </a:r>
            <a:r>
              <a:rPr lang="en-IN" sz="2200" b="1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E-mail: 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="text"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name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="email"&gt;&lt;</a:t>
            </a:r>
            <a:r>
              <a:rPr lang="en-IN" sz="2200" b="1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="submit"&gt;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/form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US" sz="2200" b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$_GET["name"]; </a:t>
            </a:r>
            <a:b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$_GET["email"]; 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02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$_POST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2A7939-C602-A064-381C-8F15B8908BB4}"/>
              </a:ext>
            </a:extLst>
          </p:cNvPr>
          <p:cNvSpPr txBox="1"/>
          <p:nvPr/>
        </p:nvSpPr>
        <p:spPr>
          <a:xfrm>
            <a:off x="364760" y="1166012"/>
            <a:ext cx="84144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 $_POST is a PHP super global variable which is used to collect form data after submitting an HTML form with method="post". $_POST is also widely used to pass variables.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C08E9-8B46-AE22-6ACB-46EB6EDEC8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325644"/>
            <a:ext cx="8077200" cy="3366343"/>
          </a:xfrm>
          <a:ln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action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IN" sz="2200" b="1" i="0" dirty="0" err="1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welcome.php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method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="post"&gt;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Name: 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="text"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name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="name"&gt;&lt;</a:t>
            </a:r>
            <a:r>
              <a:rPr lang="en-IN" sz="2200" b="1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E-mail: 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="text"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name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="email"&gt;&lt;</a:t>
            </a:r>
            <a:r>
              <a:rPr lang="en-IN" sz="2200" b="1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="submit"&gt;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/form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US" sz="2200" b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$_POST["name"]; </a:t>
            </a:r>
            <a:b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$_POST["email"]; 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782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$_FILES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Superglobal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Variable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2A7939-C602-A064-381C-8F15B8908BB4}"/>
              </a:ext>
            </a:extLst>
          </p:cNvPr>
          <p:cNvSpPr txBox="1"/>
          <p:nvPr/>
        </p:nvSpPr>
        <p:spPr>
          <a:xfrm>
            <a:off x="457200" y="1017226"/>
            <a:ext cx="841447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$_FILES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superglobal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variable used when we upload files using Form elements. All the necessary information including File temporary name, File size, File Type are available in this $_FILES variable. </a:t>
            </a:r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&lt;form method="POST" action="</a:t>
            </a:r>
            <a:r>
              <a:rPr lang="en-IN" sz="20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action.php</a:t>
            </a: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en-IN" sz="20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enctype</a:t>
            </a: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="multipart/form-data"&gt; </a:t>
            </a:r>
          </a:p>
          <a:p>
            <a:pPr marL="0" indent="0">
              <a:buNone/>
            </a:pP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&lt;input type="text" name="name"/&gt; </a:t>
            </a:r>
          </a:p>
          <a:p>
            <a:pPr marL="0" indent="0">
              <a:buNone/>
            </a:pP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&lt;input type="file" name="file" id="file" /&gt; </a:t>
            </a:r>
          </a:p>
          <a:p>
            <a:pPr marL="0" indent="0">
              <a:buNone/>
            </a:pP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&lt;input type="submit" value="Send"/&gt; </a:t>
            </a: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&lt;/form&gt;</a:t>
            </a: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"&lt;pre&gt;"; </a:t>
            </a:r>
          </a:p>
          <a:p>
            <a:pPr marL="0" indent="0">
              <a:buNone/>
            </a:pP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print_r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($_FILES); echo "&lt;/pre&gt;"; //prints uploaded File's information</a:t>
            </a: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$_POST['name'];</a:t>
            </a: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223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File Handling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53331"/>
            <a:ext cx="8534400" cy="4351338"/>
          </a:xfrm>
        </p:spPr>
        <p:txBody>
          <a:bodyPr/>
          <a:lstStyle/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File handling is an important part of any web application. You often need to open and process a file for different tasks. </a:t>
            </a:r>
          </a:p>
          <a:p>
            <a:pPr marL="0" indent="0" algn="just">
              <a:buNone/>
            </a:pPr>
            <a:r>
              <a:rPr lang="en-US" sz="24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Manipulating Files</a:t>
            </a:r>
          </a:p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 has several functions for creating, reading, uploading, and editing files.</a:t>
            </a:r>
          </a:p>
          <a:p>
            <a:pPr marL="0" indent="0" algn="just">
              <a:buNone/>
            </a:pPr>
            <a:r>
              <a:rPr lang="en-IN" sz="2400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IN" sz="24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 Function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 reads a file and writes it to the output buffer.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9747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File Handling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53331"/>
            <a:ext cx="8534400" cy="4351338"/>
          </a:xfrm>
        </p:spPr>
        <p:txBody>
          <a:bodyPr/>
          <a:lstStyle/>
          <a:p>
            <a:pPr marL="0" indent="0">
              <a:buNone/>
            </a:pPr>
            <a:r>
              <a:rPr lang="en-IN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sz="2800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IN" sz="2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IN" sz="2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28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readfile</a:t>
            </a:r>
            <a:r>
              <a:rPr lang="en-IN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"Hai.txt"</a:t>
            </a:r>
            <a:r>
              <a:rPr lang="en-IN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IN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sz="2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C600D24-601C-1BBC-0F95-11E1B18E2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3447738"/>
            <a:ext cx="5562600" cy="1429062"/>
          </a:xfrm>
          <a:prstGeom prst="rect">
            <a:avLst/>
          </a:prstGeom>
          <a:ln w="5715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859507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File Handling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994741"/>
            <a:ext cx="8534400" cy="5528469"/>
          </a:xfrm>
        </p:spPr>
        <p:txBody>
          <a:bodyPr/>
          <a:lstStyle/>
          <a:p>
            <a:pPr marL="0" indent="0">
              <a:buNone/>
            </a:pP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 File - </a:t>
            </a:r>
            <a:r>
              <a:rPr lang="en-IN" sz="40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fopen</a:t>
            </a: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better method to open files is with 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fopen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function. 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function gives you more options than 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function.</a:t>
            </a:r>
          </a:p>
          <a:p>
            <a:pPr marL="0" indent="0" algn="just"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$</a:t>
            </a:r>
            <a:r>
              <a:rPr lang="en-IN" sz="2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myfile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2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fopen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(“Hai.txt", "r") or die("Unable to open file!")</a:t>
            </a:r>
            <a:r>
              <a:rPr lang="en-IN" sz="2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Read File - </a:t>
            </a:r>
            <a:r>
              <a:rPr lang="en-IN" sz="40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fread</a:t>
            </a: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fread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 reads from an open file.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fread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($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myfile,filesize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("webdictionary.txt"));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Close File - </a:t>
            </a:r>
            <a:r>
              <a:rPr lang="en-IN" sz="40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fclose</a:t>
            </a: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fclose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 is used to close an open file.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fclose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($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myfile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812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File Handling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53331"/>
            <a:ext cx="85344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&lt;!DOCTYPE html&gt;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&lt;html&gt;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&lt;body&gt;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myfile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fopen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(“Hai.txt", "r") or die("Unable to open file!");</a:t>
            </a:r>
          </a:p>
          <a:p>
            <a:pPr marL="0" indent="0" algn="just">
              <a:buNone/>
            </a:pP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fread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($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myfile,filesize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(“Hai.txt"));</a:t>
            </a:r>
          </a:p>
          <a:p>
            <a:pPr marL="0" indent="0" algn="just">
              <a:buNone/>
            </a:pP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fclose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($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myfile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&lt;/body&gt;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&lt;/html&gt;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4BC2EF-A9C5-A245-E33E-30F7F90615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407" y="3657600"/>
            <a:ext cx="3924848" cy="1467055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45F944-68DF-FA41-7FAB-4EDF64B98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2339" y="5425518"/>
            <a:ext cx="3953427" cy="838317"/>
          </a:xfrm>
          <a:prstGeom prst="rect">
            <a:avLst/>
          </a:prstGeom>
          <a:ln>
            <a:solidFill>
              <a:srgbClr val="002060"/>
            </a:solidFill>
          </a:ln>
        </p:spPr>
      </p:pic>
    </p:spTree>
    <p:extLst>
      <p:ext uri="{BB962C8B-B14F-4D97-AF65-F5344CB8AC3E}">
        <p14:creationId xmlns:p14="http://schemas.microsoft.com/office/powerpoint/2010/main" val="3203885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B1F8F-57C6-6D59-7575-AF161DF11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700" b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file may be opened in one of the following modes:</a:t>
            </a:r>
            <a:endParaRPr lang="en-IN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B32DC9-2CBB-EEA9-2EC6-CE4C9C9E53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3142448"/>
              </p:ext>
            </p:extLst>
          </p:nvPr>
        </p:nvGraphicFramePr>
        <p:xfrm>
          <a:off x="457200" y="1390256"/>
          <a:ext cx="7447936" cy="4077487"/>
        </p:xfrm>
        <a:graphic>
          <a:graphicData uri="http://schemas.openxmlformats.org/drawingml/2006/table">
            <a:tbl>
              <a:tblPr/>
              <a:tblGrid>
                <a:gridCol w="1025881">
                  <a:extLst>
                    <a:ext uri="{9D8B030D-6E8A-4147-A177-3AD203B41FA5}">
                      <a16:colId xmlns:a16="http://schemas.microsoft.com/office/drawing/2014/main" val="359729341"/>
                    </a:ext>
                  </a:extLst>
                </a:gridCol>
                <a:gridCol w="6422055">
                  <a:extLst>
                    <a:ext uri="{9D8B030D-6E8A-4147-A177-3AD203B41FA5}">
                      <a16:colId xmlns:a16="http://schemas.microsoft.com/office/drawing/2014/main" val="2900967400"/>
                    </a:ext>
                  </a:extLst>
                </a:gridCol>
              </a:tblGrid>
              <a:tr h="287889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Modes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6769154"/>
                  </a:ext>
                </a:extLst>
              </a:tr>
              <a:tr h="287889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read only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File pointer starts at the beginning of the file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5727783"/>
                  </a:ext>
                </a:extLst>
              </a:tr>
              <a:tr h="523435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write only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Erases the contents of the file or creates a new file if it doesn't exist. File pointer starts at the beginning of the file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645335"/>
                  </a:ext>
                </a:extLst>
              </a:tr>
              <a:tr h="523435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write only</a:t>
                      </a:r>
                      <a:r>
                        <a:rPr lang="en-US" sz="15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The existing data in file is preserved. File pointer starts at the end of the file. Creates a new file if the file doesn't exist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540913"/>
                  </a:ext>
                </a:extLst>
              </a:tr>
              <a:tr h="501153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Creates a new file for write only</a:t>
                      </a:r>
                      <a:r>
                        <a:rPr lang="en-US" sz="15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Returns FALSE and an error if file already exists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6600532"/>
                  </a:ext>
                </a:extLst>
              </a:tr>
              <a:tr h="287889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r+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read/write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File pointer starts at the beginning of the file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12357"/>
                  </a:ext>
                </a:extLst>
              </a:tr>
              <a:tr h="523435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w+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read/write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Erases the contents of the file or creates a new file if it doesn't exist. File pointer starts at the beginning of the file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9939739"/>
                  </a:ext>
                </a:extLst>
              </a:tr>
              <a:tr h="641207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a+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read/write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The existing data in file is preserved. File pointer starts at the end of the file. Creates a new file if the file doesn't exist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353646"/>
                  </a:ext>
                </a:extLst>
              </a:tr>
              <a:tr h="501153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x+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Creates a new file for read/write</a:t>
                      </a:r>
                      <a:r>
                        <a:rPr lang="en-US" sz="15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Returns FALSE and an error if file already exists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12933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634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dirty="0"/>
              <a:t>PHP Write to File - </a:t>
            </a:r>
            <a:r>
              <a:rPr lang="en-US" dirty="0" err="1"/>
              <a:t>fwrite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500" y="1029718"/>
            <a:ext cx="8534400" cy="4351338"/>
          </a:xfrm>
        </p:spPr>
        <p:txBody>
          <a:bodyPr/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fwrite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 is used to write to a file.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first parameter of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fwrite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contains the name of the file to write to and the second parameter is the string to be written.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3C0584-DE0B-964B-E9D3-AF85FF478753}"/>
              </a:ext>
            </a:extLst>
          </p:cNvPr>
          <p:cNvSpPr txBox="1"/>
          <p:nvPr/>
        </p:nvSpPr>
        <p:spPr>
          <a:xfrm>
            <a:off x="304800" y="3201639"/>
            <a:ext cx="8648700" cy="30469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sz="2400" b="1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IN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sz="24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myfile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fopen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"Haii.txt"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or </a:t>
            </a:r>
            <a:r>
              <a:rPr lang="en-IN" sz="2400" b="1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die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“Error!"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$txt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"Prabhu</a:t>
            </a:r>
            <a:r>
              <a:rPr lang="en-IN" sz="2400" b="1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fwrite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sz="24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myfile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$txt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$txt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"Shankar</a:t>
            </a:r>
            <a:r>
              <a:rPr lang="en-IN" sz="2400" b="1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fwrite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sz="24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myfile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$txt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fclose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sz="24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myfile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2400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25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80</a:t>
            </a:fld>
            <a:endParaRPr lang="en-US"/>
          </a:p>
        </p:txBody>
      </p:sp>
      <p:pic>
        <p:nvPicPr>
          <p:cNvPr id="17410" name="Picture 2" descr="Clustering of graphs and search of assemblage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17778"/>
          <a:stretch/>
        </p:blipFill>
        <p:spPr bwMode="auto">
          <a:xfrm>
            <a:off x="-1" y="457200"/>
            <a:ext cx="9134477" cy="51816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D4F69F-5146-49E3-921C-42C19CDF0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CSE-367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1639119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iru_Regular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 2">
      <a:majorFont>
        <a:latin typeface="Calibri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Cambria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iru_Regular" id="{8307898E-903F-4964-A0DF-A6DCECB060AB}" vid="{55A8074A-D5AE-4568-A496-E28AC65B10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88FA4A4A974D54E8EF3CF1F8921BA09" ma:contentTypeVersion="3" ma:contentTypeDescription="Create a new document." ma:contentTypeScope="" ma:versionID="d7ae88f0a332b40e5260dcdf0b06131e">
  <xsd:schema xmlns:xsd="http://www.w3.org/2001/XMLSchema" xmlns:xs="http://www.w3.org/2001/XMLSchema" xmlns:p="http://schemas.microsoft.com/office/2006/metadata/properties" xmlns:ns2="c1ac3b6e-c3ea-4cbf-a06a-c0c6c6a25c6e" targetNamespace="http://schemas.microsoft.com/office/2006/metadata/properties" ma:root="true" ma:fieldsID="e38513e3120375bb0272613386818226" ns2:_="">
    <xsd:import namespace="c1ac3b6e-c3ea-4cbf-a06a-c0c6c6a25c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ac3b6e-c3ea-4cbf-a06a-c0c6c6a25c6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0FDA373-D5CF-4F0F-A826-9892AA050C9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6B240FA-E5B0-4DCE-8114-29F79287C5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ac3b6e-c3ea-4cbf-a06a-c0c6c6a25c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5DFE7C8-44AE-4CA0-BC1C-D7A115A2224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25910</TotalTime>
  <Words>6204</Words>
  <Application>Microsoft Office PowerPoint</Application>
  <PresentationFormat>On-screen Show (4:3)</PresentationFormat>
  <Paragraphs>764</Paragraphs>
  <Slides>80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98" baseType="lpstr">
      <vt:lpstr>Arial</vt:lpstr>
      <vt:lpstr>Bookman Old Style</vt:lpstr>
      <vt:lpstr>Calibri</vt:lpstr>
      <vt:lpstr>Cambria</vt:lpstr>
      <vt:lpstr>Consolas</vt:lpstr>
      <vt:lpstr>erdana</vt:lpstr>
      <vt:lpstr>Fira Mono</vt:lpstr>
      <vt:lpstr>inter-bold</vt:lpstr>
      <vt:lpstr>inter-regular</vt:lpstr>
      <vt:lpstr>Lohit Devanagari</vt:lpstr>
      <vt:lpstr>Noto Serif CJK SC</vt:lpstr>
      <vt:lpstr>Nunito</vt:lpstr>
      <vt:lpstr>Segoe UI</vt:lpstr>
      <vt:lpstr>Times New Roman</vt:lpstr>
      <vt:lpstr>urw-din</vt:lpstr>
      <vt:lpstr>Verdana</vt:lpstr>
      <vt:lpstr>Wingdings</vt:lpstr>
      <vt:lpstr>Thiru_Regular</vt:lpstr>
      <vt:lpstr>PowerPoint Presentation</vt:lpstr>
      <vt:lpstr>Module III - Syllabus </vt:lpstr>
      <vt:lpstr>PHP Introduction</vt:lpstr>
      <vt:lpstr>PHP Introduction</vt:lpstr>
      <vt:lpstr>PHP Introduction</vt:lpstr>
      <vt:lpstr>Why use PHP</vt:lpstr>
      <vt:lpstr>What Can PHP Do?</vt:lpstr>
      <vt:lpstr>PHP Syntax</vt:lpstr>
      <vt:lpstr>PHP Introduction</vt:lpstr>
      <vt:lpstr>PHP Introduction</vt:lpstr>
      <vt:lpstr>PHP Getting Started</vt:lpstr>
      <vt:lpstr>PHP Hello World</vt:lpstr>
      <vt:lpstr>PHP Hello World</vt:lpstr>
      <vt:lpstr>PHP echo and print Statements</vt:lpstr>
      <vt:lpstr>PHP echo and print Statements</vt:lpstr>
      <vt:lpstr>PHP Comments</vt:lpstr>
      <vt:lpstr>PHP Variables</vt:lpstr>
      <vt:lpstr>PHP Variables</vt:lpstr>
      <vt:lpstr>PHP Variables</vt:lpstr>
      <vt:lpstr>PHP Variables</vt:lpstr>
      <vt:lpstr>PHP Variables</vt:lpstr>
      <vt:lpstr>PHP Variables</vt:lpstr>
      <vt:lpstr>PHP Variables</vt:lpstr>
      <vt:lpstr>PHP Variables</vt:lpstr>
      <vt:lpstr>PHP Concatenation </vt:lpstr>
      <vt:lpstr>PHP – Html code </vt:lpstr>
      <vt:lpstr>PHP Data Types</vt:lpstr>
      <vt:lpstr>PHP String</vt:lpstr>
      <vt:lpstr>PHP Integer </vt:lpstr>
      <vt:lpstr>PHP float</vt:lpstr>
      <vt:lpstr>PHP Array</vt:lpstr>
      <vt:lpstr>Ro read value from user – readline()</vt:lpstr>
      <vt:lpstr>PHP Operators</vt:lpstr>
      <vt:lpstr>PHP Operators</vt:lpstr>
      <vt:lpstr>PHP Operators</vt:lpstr>
      <vt:lpstr>PHP Operators</vt:lpstr>
      <vt:lpstr>PHP Conditional statements </vt:lpstr>
      <vt:lpstr>PHP Conditional statements </vt:lpstr>
      <vt:lpstr>PHP Conditional statements </vt:lpstr>
      <vt:lpstr>PHP Conditional statements </vt:lpstr>
      <vt:lpstr>PHP Conditional statements </vt:lpstr>
      <vt:lpstr>PHP Loop</vt:lpstr>
      <vt:lpstr>PHP Loop</vt:lpstr>
      <vt:lpstr>PHP Loop</vt:lpstr>
      <vt:lpstr>PHP Loop</vt:lpstr>
      <vt:lpstr>PHP Functions</vt:lpstr>
      <vt:lpstr>PHP Function Arguments</vt:lpstr>
      <vt:lpstr>PHP Function Arguments</vt:lpstr>
      <vt:lpstr>PHP Function Arguments</vt:lpstr>
      <vt:lpstr>PHP Function Arguments</vt:lpstr>
      <vt:lpstr>PHP Function Arguments</vt:lpstr>
      <vt:lpstr>PHP Function Arguments</vt:lpstr>
      <vt:lpstr>PHP Function Arguments</vt:lpstr>
      <vt:lpstr>PHP Array</vt:lpstr>
      <vt:lpstr>PHP Array</vt:lpstr>
      <vt:lpstr>PHP Array</vt:lpstr>
      <vt:lpstr>PHP Array</vt:lpstr>
      <vt:lpstr>PHP Array</vt:lpstr>
      <vt:lpstr>PHP Array</vt:lpstr>
      <vt:lpstr>PHP Array</vt:lpstr>
      <vt:lpstr>PHP Array</vt:lpstr>
      <vt:lpstr>PHP Array</vt:lpstr>
      <vt:lpstr>PHP Array</vt:lpstr>
      <vt:lpstr>PowerPoint Presentation</vt:lpstr>
      <vt:lpstr>PHP Array</vt:lpstr>
      <vt:lpstr>PHP Array</vt:lpstr>
      <vt:lpstr>PHP Superglobals: </vt:lpstr>
      <vt:lpstr>PHP  $GLOBALS </vt:lpstr>
      <vt:lpstr>PHP  $_SERVER </vt:lpstr>
      <vt:lpstr>PHP  $_GET</vt:lpstr>
      <vt:lpstr>PHP  $_GET</vt:lpstr>
      <vt:lpstr>PHP  $_POST</vt:lpstr>
      <vt:lpstr>$_FILES – Superglobal Variable</vt:lpstr>
      <vt:lpstr>PHP  File Handling</vt:lpstr>
      <vt:lpstr>PHP  File Handling</vt:lpstr>
      <vt:lpstr>PHP  File Handling</vt:lpstr>
      <vt:lpstr>PHP  File Handling</vt:lpstr>
      <vt:lpstr>The file may be opened in one of the following modes:</vt:lpstr>
      <vt:lpstr>PHP Write to File - fwrite()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Thiruselvan Subramanian</dc:creator>
  <cp:lastModifiedBy>HP</cp:lastModifiedBy>
  <cp:revision>380</cp:revision>
  <dcterms:created xsi:type="dcterms:W3CDTF">2006-08-16T00:00:00Z</dcterms:created>
  <dcterms:modified xsi:type="dcterms:W3CDTF">2025-11-21T08:06:03Z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0x010100888FA4A4A974D54E8EF3CF1F8921BA09</vt:lpwstr>
  </property>
</Properties>
</file>
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0"/>
  </p:notesMasterIdLst>
  <p:handoutMasterIdLst>
    <p:handoutMasterId r:id="rId31"/>
  </p:handoutMasterIdLst>
  <p:sldIdLst>
    <p:sldId id="256" r:id="rId5"/>
    <p:sldId id="426" r:id="rId6"/>
    <p:sldId id="481" r:id="rId7"/>
    <p:sldId id="465" r:id="rId8"/>
    <p:sldId id="482" r:id="rId9"/>
    <p:sldId id="483" r:id="rId10"/>
    <p:sldId id="484" r:id="rId11"/>
    <p:sldId id="485" r:id="rId12"/>
    <p:sldId id="486" r:id="rId13"/>
    <p:sldId id="468" r:id="rId14"/>
    <p:sldId id="469" r:id="rId15"/>
    <p:sldId id="470" r:id="rId16"/>
    <p:sldId id="471" r:id="rId17"/>
    <p:sldId id="472" r:id="rId18"/>
    <p:sldId id="473" r:id="rId19"/>
    <p:sldId id="475" r:id="rId20"/>
    <p:sldId id="474" r:id="rId21"/>
    <p:sldId id="476" r:id="rId22"/>
    <p:sldId id="478" r:id="rId23"/>
    <p:sldId id="477" r:id="rId24"/>
    <p:sldId id="479" r:id="rId25"/>
    <p:sldId id="490" r:id="rId26"/>
    <p:sldId id="492" r:id="rId27"/>
    <p:sldId id="491" r:id="rId28"/>
    <p:sldId id="48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rainkart.com/subject/Web-Technology_169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smtClean="0"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CSE2259 </a:t>
            </a:r>
            <a:r>
              <a:rPr lang="en-IN" sz="2800" dirty="0"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- Web Technology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/>
              <a:t>Module II - Syllabus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217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endParaRPr lang="en-US" sz="1200" b="1" dirty="0">
              <a:solidFill>
                <a:srgbClr val="00B050"/>
              </a:solidFill>
              <a:latin typeface="+mj-lt"/>
            </a:endParaRPr>
          </a:p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r>
              <a:rPr lang="en-US" sz="2800" b="1" dirty="0">
                <a:solidFill>
                  <a:srgbClr val="00B050"/>
                </a:solidFill>
                <a:latin typeface="+mj-lt"/>
              </a:rPr>
              <a:t>MODULE II: Advanced CSS 		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+mj-lt"/>
              </a:rPr>
              <a:t>[L-8hrs.,P- 8hrs.]</a:t>
            </a:r>
          </a:p>
          <a:p>
            <a:pPr algn="just">
              <a:lnSpc>
                <a:spcPct val="150000"/>
              </a:lnSpc>
              <a:spcBef>
                <a:spcPts val="20"/>
              </a:spcBef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Advanced CSS</a:t>
            </a:r>
            <a:r>
              <a:rPr lang="en-US" sz="2400" dirty="0">
                <a:latin typeface="+mj-lt"/>
              </a:rPr>
              <a:t>: Layout, Normal Flow, Positioning Elements, Floating Elements, Constructing Multicolumn Layouts, Approaches to CSS Layout, Responsive Design, CSS Frameworks</a:t>
            </a:r>
            <a:endParaRPr lang="en-IN" sz="2400" dirty="0">
              <a:latin typeface="+mj-lt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</a:rPr>
              <a:t>XML: </a:t>
            </a:r>
            <a:r>
              <a:rPr lang="en-US" sz="2400" dirty="0">
                <a:latin typeface="+mj-lt"/>
              </a:rPr>
              <a:t>Basics, demonstration of applications using XML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Extensible Markup Language (XML) was developed in 1996 by the World Wide Web Consortium’s (W3C’s) XML Working Group, and it became a W3C recommendation in 1998.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There are two versions of XML.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XML 1.0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XML 1.1</a:t>
            </a:r>
          </a:p>
          <a:p>
            <a:pPr algn="just">
              <a:lnSpc>
                <a:spcPct val="119000"/>
              </a:lnSpc>
            </a:pPr>
            <a:endParaRPr lang="en-US" sz="1800" dirty="0"/>
          </a:p>
          <a:p>
            <a:pPr algn="just">
              <a:lnSpc>
                <a:spcPct val="119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983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BB58-CC1D-C747-F1AA-A3295687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8915400" cy="47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D2943-15A2-D7B5-63CA-8EE99497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8" y="1295400"/>
            <a:ext cx="754485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7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F0835-66E0-DB69-FA41-EAB6F3FB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1799997"/>
            <a:ext cx="7535327" cy="32580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B1C9F6-7A35-0A7E-393A-95B5EDD51CAE}"/>
              </a:ext>
            </a:extLst>
          </p:cNvPr>
          <p:cNvCxnSpPr/>
          <p:nvPr/>
        </p:nvCxnSpPr>
        <p:spPr>
          <a:xfrm>
            <a:off x="5105400" y="4267200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62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ECDC6-456E-7FD6-5F95-712FA95D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1" y="1704734"/>
            <a:ext cx="7611537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8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02BE5-39EC-F96E-7446-513C8A1C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5" y="1576129"/>
            <a:ext cx="7659169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5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4231-EECE-D33C-B4AF-432DA85AC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5" y="1571366"/>
            <a:ext cx="744959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1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Features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extensible and human-readable.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platform and language independent.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separates data from HTML.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tags are not predefined. You need to define your customized tags.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was designed to carry data, not to display that data.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Mark-up code of XML is easy to understand for a human.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Well-structured format is easy to read and write from programs.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is an extensible markup language like HTML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93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Encoding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Encoding is the conversion of Unicode characters to their binary representation. UTF is use for XML encoding. UTF stands for UCS (UCS stands for Universal Character Set) Transformation Format.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Mainly, there are two types of UTF encoding.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UTF-8 : UTF-8 uses 8-bits to represent the characters.</a:t>
            </a:r>
          </a:p>
          <a:p>
            <a:pPr algn="just"/>
            <a:endParaRPr lang="en-US" sz="2000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	&lt;?xml version="1.0" encoding="UTF-8"?&gt;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UTF-16 : It uses 16-bits to represent the characters.</a:t>
            </a:r>
          </a:p>
          <a:p>
            <a:pPr algn="just"/>
            <a:endParaRPr lang="en-US" sz="2000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	&lt;?xml version="1.0" encoding="UTF-16"?&gt;</a:t>
            </a:r>
          </a:p>
        </p:txBody>
      </p:sp>
    </p:spTree>
    <p:extLst>
      <p:ext uri="{BB962C8B-B14F-4D97-AF65-F5344CB8AC3E}">
        <p14:creationId xmlns:p14="http://schemas.microsoft.com/office/powerpoint/2010/main" val="794322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Syntax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&lt;?xml version = "1.0" encoding = "UTF-8" ?&gt;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&lt;root&gt;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&lt;child&gt;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    &lt;</a:t>
            </a:r>
            <a:r>
              <a:rPr lang="en-US" sz="2000" b="1" dirty="0" err="1">
                <a:solidFill>
                  <a:srgbClr val="002060"/>
                </a:solidFill>
              </a:rPr>
              <a:t>subchild</a:t>
            </a:r>
            <a:r>
              <a:rPr lang="en-US" sz="2000" b="1" dirty="0">
                <a:solidFill>
                  <a:srgbClr val="002060"/>
                </a:solidFill>
              </a:rPr>
              <a:t>&gt;.....&lt;/</a:t>
            </a:r>
            <a:r>
              <a:rPr lang="en-US" sz="2000" b="1" dirty="0" err="1">
                <a:solidFill>
                  <a:srgbClr val="002060"/>
                </a:solidFill>
              </a:rPr>
              <a:t>subchild</a:t>
            </a:r>
            <a:r>
              <a:rPr lang="en-US" sz="2000" b="1" dirty="0">
                <a:solidFill>
                  <a:srgbClr val="002060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&lt;/child&gt;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&lt;/root&gt;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C00000"/>
                </a:solidFill>
                <a:ea typeface="+mj-ea"/>
                <a:cs typeface="+mj-cs"/>
              </a:rPr>
              <a:t>XML Declaration</a:t>
            </a:r>
          </a:p>
          <a:p>
            <a:pPr marL="0" indent="0" algn="just">
              <a:buNone/>
            </a:pPr>
            <a:endParaRPr lang="en-IN" b="1" dirty="0">
              <a:solidFill>
                <a:srgbClr val="C00000"/>
              </a:solidFill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</a:rPr>
              <a:t>&lt;?xml version="1.0" encoding="UTF-8" standalone="no" ?&gt;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39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Elements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A81D5-653E-F9E0-8606-40ABF01AF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219200"/>
            <a:ext cx="8534400" cy="48474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sz="2000" dirty="0">
                <a:solidFill>
                  <a:srgbClr val="002060"/>
                </a:solidFill>
              </a:rPr>
              <a:t>Opening tag, content, and closing tag, altogether, is referred to as an element.</a:t>
            </a:r>
          </a:p>
          <a:p>
            <a:pPr eaLnBrk="0" hangingPunct="0">
              <a:spcBef>
                <a:spcPct val="0"/>
              </a:spcBef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</a:rPr>
              <a:t>	Opening tag + content + closing tag = an element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B050"/>
                </a:solidFill>
              </a:rPr>
              <a:t>		&lt;age&gt;     20        &lt;/age&gt;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0B05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</a:rPr>
              <a:t>	age  - </a:t>
            </a:r>
            <a:r>
              <a:rPr lang="en-US" sz="2000" b="1" dirty="0">
                <a:solidFill>
                  <a:srgbClr val="002060"/>
                </a:solidFill>
              </a:rPr>
              <a:t>is the name of the element.</a:t>
            </a:r>
          </a:p>
          <a:p>
            <a:pPr marL="0" indent="0" eaLnBrk="0" hangingPunct="0">
              <a:spcBef>
                <a:spcPct val="0"/>
              </a:spcBef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lang="en-US" altLang="en-US" sz="2000" dirty="0">
              <a:solidFill>
                <a:srgbClr val="00206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&lt;age&gt; – opening tag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25 –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&lt;/age&gt; – closing tag.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6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Elements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A81D5-653E-F9E0-8606-40ABF01AF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313036"/>
            <a:ext cx="8534400" cy="4231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060"/>
                </a:solidFill>
              </a:rPr>
              <a:t>Element Rules</a:t>
            </a:r>
          </a:p>
          <a:p>
            <a:pPr algn="l"/>
            <a:r>
              <a:rPr lang="en-US" sz="2000" dirty="0">
                <a:solidFill>
                  <a:srgbClr val="002060"/>
                </a:solidFill>
              </a:rPr>
              <a:t>Following list shows XML tag and element rules.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Tags are case sensitive.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XML documents must contain a single root element.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elements must have a closing tag (except for declarations).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must begin with a letter or an underscore, and it cannot start with the XML.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can contain letters, digits, hyphens, underscores, and periods. Hyphens underscore, and periods are the only punctuation marks allowed.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cannot contain spaces.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elements must be nested properly.</a:t>
            </a:r>
            <a:endParaRPr lang="en-US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89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Attributes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Attribute for an element is placed after the tag name in the start tag. You can add more than one attribute for a single element with different attribute names.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&lt;company name="ABC Holdings" location="London"&gt;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    &lt;chairman&gt;Mr. John&lt;/chairman&gt;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    &lt;gm&gt;Mr. Wood&lt;/gm&gt;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&lt;/company&gt;</a:t>
            </a:r>
          </a:p>
          <a:p>
            <a:pPr marL="0" indent="0" algn="just">
              <a:buNone/>
            </a:pPr>
            <a:r>
              <a:rPr lang="en-US" sz="2400" b="0" i="0" dirty="0">
                <a:effectLst/>
                <a:latin typeface="Source Sans Pro" panose="020B0503030403020204" pitchFamily="34" charset="0"/>
              </a:rPr>
              <a:t>There are two attributes in the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company</a:t>
            </a:r>
            <a:r>
              <a:rPr lang="en-US" sz="2400" b="0" i="0" dirty="0">
                <a:effectLst/>
                <a:latin typeface="Source Sans Pro" panose="020B0503030403020204" pitchFamily="34" charset="0"/>
              </a:rPr>
              <a:t> element, i.e.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name</a:t>
            </a:r>
            <a:r>
              <a:rPr lang="en-US" sz="2400" b="0" i="0" dirty="0">
                <a:effectLst/>
                <a:latin typeface="Source Sans Pro" panose="020B0503030403020204" pitchFamily="34" charset="0"/>
              </a:rPr>
              <a:t> and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location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7054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- Validation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Validation is a process by which an XML document is validated. An XML document is said to be valid if its contents match with the elements, attributes and associated </a:t>
            </a:r>
            <a:r>
              <a:rPr lang="en-US" sz="2000" b="1" dirty="0">
                <a:solidFill>
                  <a:srgbClr val="002060"/>
                </a:solidFill>
              </a:rPr>
              <a:t>document type declaration(DTD</a:t>
            </a:r>
            <a:r>
              <a:rPr lang="en-US" sz="2000" dirty="0">
                <a:solidFill>
                  <a:srgbClr val="002060"/>
                </a:solidFill>
              </a:rPr>
              <a:t>), and if the document complies with the constraints expressed in it. Validation is dealt in two ways by the XML parser.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They are −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Well-formed XML document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Valid XML document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03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DTD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DTD stands for Document Type Definition. It defines the structure of an XML document using some legal elements. XML DTD is optional.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DTD Rules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If DTD is present, it must appear at the start of the document (only the XML declaration can appear above the DTD).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element declaration must start with an ! mark.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DTD name and element type of the root element must be the same.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25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Namespaces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Namespaces help to </a:t>
            </a:r>
            <a:r>
              <a:rPr lang="en-US" sz="2000" b="1" dirty="0">
                <a:solidFill>
                  <a:srgbClr val="0070C0"/>
                </a:solidFill>
              </a:rPr>
              <a:t>avoid element name conflicts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C00000"/>
                </a:solidFill>
              </a:rPr>
              <a:t>Namespace Declaration -   </a:t>
            </a:r>
          </a:p>
          <a:p>
            <a:pPr marL="0" indent="0" algn="just">
              <a:buNone/>
            </a:pPr>
            <a:endParaRPr lang="en-IN" sz="20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&lt;element </a:t>
            </a:r>
            <a:r>
              <a:rPr lang="en-US" sz="2000" b="1" dirty="0" err="1">
                <a:solidFill>
                  <a:srgbClr val="00B050"/>
                </a:solidFill>
              </a:rPr>
              <a:t>xmlns:name</a:t>
            </a:r>
            <a:r>
              <a:rPr lang="en-US" sz="2000" b="1" dirty="0">
                <a:solidFill>
                  <a:srgbClr val="00B050"/>
                </a:solidFill>
              </a:rPr>
              <a:t>="URL"&gt;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In the above declaration,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 err="1">
                <a:solidFill>
                  <a:srgbClr val="002060"/>
                </a:solidFill>
              </a:rPr>
              <a:t>xmlns</a:t>
            </a:r>
            <a:r>
              <a:rPr lang="en-US" sz="2000" dirty="0">
                <a:solidFill>
                  <a:srgbClr val="002060"/>
                </a:solidFill>
              </a:rPr>
              <a:t> keyword indicates the beginning of the namespace.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>
                <a:solidFill>
                  <a:srgbClr val="002060"/>
                </a:solidFill>
              </a:rPr>
              <a:t>name</a:t>
            </a:r>
            <a:r>
              <a:rPr lang="en-US" sz="2000" dirty="0">
                <a:solidFill>
                  <a:srgbClr val="002060"/>
                </a:solidFill>
              </a:rPr>
              <a:t> is the prefix of the namespace.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>
                <a:solidFill>
                  <a:srgbClr val="002060"/>
                </a:solidFill>
              </a:rPr>
              <a:t>URL</a:t>
            </a:r>
            <a:r>
              <a:rPr lang="en-US" sz="2000" dirty="0">
                <a:solidFill>
                  <a:srgbClr val="002060"/>
                </a:solidFill>
              </a:rPr>
              <a:t> is the namespace identifier.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319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Namespaces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70C0"/>
                </a:solidFill>
              </a:rPr>
              <a:t>Examples of Namespaces</a:t>
            </a:r>
          </a:p>
          <a:p>
            <a:pPr marL="0" indent="0" algn="just">
              <a:buNone/>
            </a:pPr>
            <a:endParaRPr lang="en-IN" sz="20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&lt;?xml version="1.0" encoding="UTF-8" ?&gt;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abt:person</a:t>
            </a:r>
            <a:r>
              <a:rPr lang="en-US" sz="2000" dirty="0">
                <a:solidFill>
                  <a:srgbClr val="00B050"/>
                </a:solidFill>
              </a:rPr>
              <a:t>  </a:t>
            </a:r>
            <a:r>
              <a:rPr lang="en-US" sz="2000" b="1" dirty="0" err="1">
                <a:solidFill>
                  <a:srgbClr val="002060"/>
                </a:solidFill>
              </a:rPr>
              <a:t>xmlns:abt</a:t>
            </a:r>
            <a:r>
              <a:rPr lang="en-US" sz="2000" dirty="0">
                <a:solidFill>
                  <a:srgbClr val="002060"/>
                </a:solidFill>
              </a:rPr>
              <a:t>="https://www.guru99.com/about-us.html"&gt;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   &lt;</a:t>
            </a:r>
            <a:r>
              <a:rPr lang="en-US" sz="2000" dirty="0" err="1">
                <a:solidFill>
                  <a:srgbClr val="002060"/>
                </a:solidFill>
              </a:rPr>
              <a:t>abt:founder</a:t>
            </a:r>
            <a:r>
              <a:rPr lang="en-US" sz="2000" dirty="0">
                <a:solidFill>
                  <a:srgbClr val="002060"/>
                </a:solidFill>
              </a:rPr>
              <a:t>&gt;Krishna&lt;/</a:t>
            </a:r>
            <a:r>
              <a:rPr lang="en-US" sz="2000" dirty="0" err="1">
                <a:solidFill>
                  <a:srgbClr val="002060"/>
                </a:solidFill>
              </a:rPr>
              <a:t>abt:founder</a:t>
            </a:r>
            <a:r>
              <a:rPr lang="en-US" sz="2000" dirty="0">
                <a:solidFill>
                  <a:srgbClr val="002060"/>
                </a:solidFill>
              </a:rPr>
              <a:t>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   &lt;</a:t>
            </a:r>
            <a:r>
              <a:rPr lang="en-US" sz="2000" dirty="0" err="1">
                <a:solidFill>
                  <a:srgbClr val="002060"/>
                </a:solidFill>
              </a:rPr>
              <a:t>abt:vision</a:t>
            </a:r>
            <a:r>
              <a:rPr lang="en-US" sz="2000" dirty="0">
                <a:solidFill>
                  <a:srgbClr val="002060"/>
                </a:solidFill>
              </a:rPr>
              <a:t>&gt;Fun and Free Education for ALL&lt;/</a:t>
            </a:r>
            <a:r>
              <a:rPr lang="en-US" sz="2000" dirty="0" err="1">
                <a:solidFill>
                  <a:srgbClr val="002060"/>
                </a:solidFill>
              </a:rPr>
              <a:t>abt:vision</a:t>
            </a:r>
            <a:r>
              <a:rPr lang="en-US" sz="2000" dirty="0">
                <a:solidFill>
                  <a:srgbClr val="002060"/>
                </a:solidFill>
              </a:rPr>
              <a:t>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&lt;/</a:t>
            </a:r>
            <a:r>
              <a:rPr lang="en-US" sz="2000" dirty="0" err="1">
                <a:solidFill>
                  <a:srgbClr val="00B050"/>
                </a:solidFill>
              </a:rPr>
              <a:t>abt:person</a:t>
            </a:r>
            <a:r>
              <a:rPr lang="en-US" sz="2000" dirty="0">
                <a:solidFill>
                  <a:srgbClr val="00B050"/>
                </a:solidFill>
              </a:rPr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2084532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Schemas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XML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+mj-lt"/>
              </a:rPr>
              <a:t>schema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(also known as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+mj-lt"/>
              </a:rPr>
              <a:t>XML schema definition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 or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+mj-lt"/>
              </a:rPr>
              <a:t>XSD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) use to describe the XML document structure. It is an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j-lt"/>
              </a:rPr>
              <a:t>alternative to DTD.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222222"/>
                </a:solidFill>
                <a:effectLst/>
                <a:latin typeface="+mj-lt"/>
              </a:rPr>
              <a:t>Why Schema is Important?</a:t>
            </a:r>
          </a:p>
          <a:p>
            <a:pPr algn="l"/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DTD is not powerful as schema as it is not extensible and flexible enough. So, it may not be suitable for some situations. In such a situation schema is important.</a:t>
            </a:r>
          </a:p>
          <a:p>
            <a:pPr algn="l"/>
            <a:r>
              <a:rPr lang="en-US" sz="2400" b="0" i="0" dirty="0">
                <a:solidFill>
                  <a:srgbClr val="222222"/>
                </a:solidFill>
                <a:effectLst/>
                <a:latin typeface="+mj-lt"/>
              </a:rPr>
              <a:t>The main purpose of using XML schema is to define the elements and attributes of an XML document.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0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Schemas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u="sng" dirty="0">
                <a:solidFill>
                  <a:srgbClr val="0070C0"/>
                </a:solidFill>
              </a:rPr>
              <a:t>Following code segment shows an example of XML schema.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xs:schema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xmlns:xs</a:t>
            </a:r>
            <a:r>
              <a:rPr lang="en-US" sz="2000" dirty="0">
                <a:solidFill>
                  <a:srgbClr val="00B050"/>
                </a:solidFill>
              </a:rPr>
              <a:t> = "http://www.w3.org/2001/XMLSchema"&gt;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"employee"&gt;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&lt;</a:t>
            </a:r>
            <a:r>
              <a:rPr lang="en-US" sz="2000" dirty="0" err="1">
                <a:solidFill>
                  <a:srgbClr val="00B050"/>
                </a:solidFill>
              </a:rPr>
              <a:t>xs:complexType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&lt;</a:t>
            </a:r>
            <a:r>
              <a:rPr lang="en-US" sz="2000" dirty="0" err="1">
                <a:solidFill>
                  <a:srgbClr val="00B050"/>
                </a:solidFill>
              </a:rPr>
              <a:t>xs:sequence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</a:t>
            </a:r>
            <a:r>
              <a:rPr lang="en-US" sz="2000" dirty="0" err="1">
                <a:solidFill>
                  <a:srgbClr val="00B050"/>
                </a:solidFill>
              </a:rPr>
              <a:t>firstname</a:t>
            </a:r>
            <a:r>
              <a:rPr lang="en-US" sz="2000" dirty="0">
                <a:solidFill>
                  <a:srgbClr val="00B050"/>
                </a:solidFill>
              </a:rPr>
              <a:t>" type = "</a:t>
            </a:r>
            <a:r>
              <a:rPr lang="en-US" sz="2000" dirty="0" err="1">
                <a:solidFill>
                  <a:srgbClr val="00B050"/>
                </a:solidFill>
              </a:rPr>
              <a:t>xs:string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</a:t>
            </a:r>
            <a:r>
              <a:rPr lang="en-US" sz="2000" dirty="0" err="1">
                <a:solidFill>
                  <a:srgbClr val="00B050"/>
                </a:solidFill>
              </a:rPr>
              <a:t>lastname</a:t>
            </a:r>
            <a:r>
              <a:rPr lang="en-US" sz="2000" dirty="0">
                <a:solidFill>
                  <a:srgbClr val="00B050"/>
                </a:solidFill>
              </a:rPr>
              <a:t>" type = "</a:t>
            </a:r>
            <a:r>
              <a:rPr lang="en-US" sz="2000" dirty="0" err="1">
                <a:solidFill>
                  <a:srgbClr val="00B050"/>
                </a:solidFill>
              </a:rPr>
              <a:t>xs:string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"phone" type = "</a:t>
            </a:r>
            <a:r>
              <a:rPr lang="en-US" sz="2000" dirty="0" err="1">
                <a:solidFill>
                  <a:srgbClr val="00B050"/>
                </a:solidFill>
              </a:rPr>
              <a:t>xs:int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&lt;/</a:t>
            </a:r>
            <a:r>
              <a:rPr lang="en-US" sz="2000" dirty="0" err="1">
                <a:solidFill>
                  <a:srgbClr val="00B050"/>
                </a:solidFill>
              </a:rPr>
              <a:t>xs:sequence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&lt;/</a:t>
            </a:r>
            <a:r>
              <a:rPr lang="en-US" sz="2000" dirty="0" err="1">
                <a:solidFill>
                  <a:srgbClr val="00B050"/>
                </a:solidFill>
              </a:rPr>
              <a:t>xs:complexType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&lt;/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&lt;/</a:t>
            </a:r>
            <a:r>
              <a:rPr lang="en-US" sz="2000" dirty="0" err="1">
                <a:solidFill>
                  <a:srgbClr val="00B050"/>
                </a:solidFill>
              </a:rPr>
              <a:t>xs:schema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22443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FF0000"/>
                </a:solidFill>
                <a:effectLst/>
                <a:cs typeface="Heebo" pitchFamily="2" charset="-79"/>
              </a:rPr>
              <a:t>Need for XSL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HTML document, tags are predefined such as table, div, and span; and the browser knows how to add style to them and display those using CSS styles.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But in case of XML documents, tags are not predefined.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In order to understand and style an XML document, World Wide Web Consortium (W3C) developed XSL which can act as XML based Stylesheet Language.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An XSL document specifies how a browser should render an XML document.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59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i="0" dirty="0">
                <a:solidFill>
                  <a:srgbClr val="FF0000"/>
                </a:solidFill>
                <a:effectLst/>
              </a:rPr>
              <a:t>Following are the main parts of XSL −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XSLT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transform XML document into various other types of document.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XPath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navigate XML document.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XSL-FO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format XML document.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What is XSLT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</a:rPr>
              <a:t>XSLT, Extensible Stylesheet Language Transformations, provides the ability to transform XML data from one format to another automatically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0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163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070C0"/>
                </a:solidFill>
              </a:rPr>
              <a:t>XSL Execution Procedure refer the link -</a:t>
            </a:r>
            <a:r>
              <a:rPr lang="en-US" sz="2000" u="sng" dirty="0">
                <a:solidFill>
                  <a:srgbClr val="0070C0"/>
                </a:solidFill>
              </a:rPr>
              <a:t> https://www.tutorialspoint.com/xslt/xslt_syntax.htm</a:t>
            </a:r>
          </a:p>
        </p:txBody>
      </p:sp>
    </p:spTree>
    <p:extLst>
      <p:ext uri="{BB962C8B-B14F-4D97-AF65-F5344CB8AC3E}">
        <p14:creationId xmlns:p14="http://schemas.microsoft.com/office/powerpoint/2010/main" val="2770001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Reference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991600" cy="3422176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dirty="0">
                <a:solidFill>
                  <a:srgbClr val="C00000"/>
                </a:solidFill>
                <a:ea typeface="+mj-ea"/>
                <a:cs typeface="+mj-cs"/>
              </a:rPr>
              <a:t>https://www.guru99.com/xml-tutorials.html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428369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8FA4A4A974D54E8EF3CF1F8921BA09" ma:contentTypeVersion="3" ma:contentTypeDescription="Create a new document." ma:contentTypeScope="" ma:versionID="d7ae88f0a332b40e5260dcdf0b06131e">
  <xsd:schema xmlns:xsd="http://www.w3.org/2001/XMLSchema" xmlns:xs="http://www.w3.org/2001/XMLSchema" xmlns:p="http://schemas.microsoft.com/office/2006/metadata/properties" xmlns:ns2="c1ac3b6e-c3ea-4cbf-a06a-c0c6c6a25c6e" targetNamespace="http://schemas.microsoft.com/office/2006/metadata/properties" ma:root="true" ma:fieldsID="e38513e3120375bb0272613386818226" ns2:_="">
    <xsd:import namespace="c1ac3b6e-c3ea-4cbf-a06a-c0c6c6a25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c3b6e-c3ea-4cbf-a06a-c0c6c6a25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1C29A1-C379-41A3-A695-3B889195B7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ac3b6e-c3ea-4cbf-a06a-c0c6c6a25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4429</TotalTime>
  <Words>1230</Words>
  <Application>Microsoft Office PowerPoint</Application>
  <PresentationFormat>On-screen Show (4:3)</PresentationFormat>
  <Paragraphs>149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Bookman Old Style</vt:lpstr>
      <vt:lpstr>Calibri</vt:lpstr>
      <vt:lpstr>Cambria</vt:lpstr>
      <vt:lpstr>Heebo</vt:lpstr>
      <vt:lpstr>Source Sans Pro</vt:lpstr>
      <vt:lpstr>Thiru_Regular</vt:lpstr>
      <vt:lpstr>PowerPoint Presentation</vt:lpstr>
      <vt:lpstr>Module II - Syllabus </vt:lpstr>
      <vt:lpstr>XML Introduction</vt:lpstr>
      <vt:lpstr>XML</vt:lpstr>
      <vt:lpstr>XML</vt:lpstr>
      <vt:lpstr>XML</vt:lpstr>
      <vt:lpstr>XML</vt:lpstr>
      <vt:lpstr>XML</vt:lpstr>
      <vt:lpstr>XML</vt:lpstr>
      <vt:lpstr>XML Features</vt:lpstr>
      <vt:lpstr>XML Encoding</vt:lpstr>
      <vt:lpstr>XML Syntax</vt:lpstr>
      <vt:lpstr>XML Elements</vt:lpstr>
      <vt:lpstr>XML Elements</vt:lpstr>
      <vt:lpstr>XML Attributes</vt:lpstr>
      <vt:lpstr>XML - Validation</vt:lpstr>
      <vt:lpstr>XML DTD</vt:lpstr>
      <vt:lpstr>XML Namespaces</vt:lpstr>
      <vt:lpstr>XML Namespaces</vt:lpstr>
      <vt:lpstr>XML Schemas</vt:lpstr>
      <vt:lpstr>XML Schemas</vt:lpstr>
      <vt:lpstr>XSL - EXtensible Stylesheet Language</vt:lpstr>
      <vt:lpstr>XSL - EXtensible Stylesheet Language</vt:lpstr>
      <vt:lpstr>XSL - EXtensible Stylesheet Language</vt:lpstr>
      <vt:lpstr>XML 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HP</cp:lastModifiedBy>
  <cp:revision>319</cp:revision>
  <dcterms:created xsi:type="dcterms:W3CDTF">2006-08-16T00:00:00Z</dcterms:created>
  <dcterms:modified xsi:type="dcterms:W3CDTF">2025-10-24T04:47:44Z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0x010100888FA4A4A974D54E8EF3CF1F8921BA09</vt:lpwstr>
  </property>
</Properties>
</file>
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20.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50.xml" ContentType="application/vnd.openxmlformats-officedocument.presentationml.slide+xml"/>
  <Override PartName="/ppt/slides/slide49.xml" ContentType="application/vnd.openxmlformats-officedocument.presentationml.slide+xml"/>
  <Override PartName="/ppt/slides/slide48.xml" ContentType="application/vnd.openxmlformats-officedocument.presentationml.slide+xml"/>
  <Override PartName="/ppt/slides/slide47.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3.xml" ContentType="application/vnd.openxmlformats-officedocument.presentationml.slide+xml"/>
  <Override PartName="/ppt/slides/slide62.xml" ContentType="application/vnd.openxmlformats-officedocument.presentationml.slide+xml"/>
  <Override PartName="/ppt/slides/slide61.xml" ContentType="application/vnd.openxmlformats-officedocument.presentationml.slide+xml"/>
  <Override PartName="/ppt/slides/slide60.xml" ContentType="application/vnd.openxmlformats-officedocument.presentationml.slide+xml"/>
  <Override PartName="/ppt/slides/slide59.xml" ContentType="application/vnd.openxmlformats-officedocument.presentationml.slide+xml"/>
  <Override PartName="/ppt/slides/slide58.xml" ContentType="application/vnd.openxmlformats-officedocument.presentationml.slide+xml"/>
  <Override PartName="/ppt/slides/slide57.xml" ContentType="application/vnd.openxmlformats-officedocument.presentationml.slide+xml"/>
  <Override PartName="/ppt/slides/slide56.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16.xml" ContentType="application/vnd.openxmlformats-officedocument.presentationml.slide+xml"/>
  <Override PartName="/ppt/slides/slide12.xml" ContentType="application/vnd.openxmlformats-officedocument.presentationml.slide+xml"/>
  <Override PartName="/ppt/slides/slide18.xml" ContentType="application/vnd.openxmlformats-officedocument.presentationml.slide+xml"/>
  <Override PartName="/ppt/slides/slide72.xml" ContentType="application/vnd.openxmlformats-officedocument.presentationml.slide+xml"/>
  <Override PartName="/ppt/slides/slide71.xml" ContentType="application/vnd.openxmlformats-officedocument.presentationml.slide+xml"/>
  <Override PartName="/ppt/slides/slide70.xml" ContentType="application/vnd.openxmlformats-officedocument.presentationml.slide+xml"/>
  <Override PartName="/ppt/slides/slide17.xml" ContentType="application/vnd.openxmlformats-officedocument.presentationml.slide+xml"/>
  <Override PartName="/ppt/slides/slide68.xml" ContentType="application/vnd.openxmlformats-officedocument.presentationml.slide+xml"/>
  <Override PartName="/ppt/slides/slide67.xml" ContentType="application/vnd.openxmlformats-officedocument.presentationml.slide+xml"/>
  <Override PartName="/ppt/slides/slide73.xml" ContentType="application/vnd.openxmlformats-officedocument.presentationml.slide+xml"/>
  <Override PartName="/ppt/slides/slide69.xml" ContentType="application/vnd.openxmlformats-officedocument.presentationml.slide+xml"/>
  <Override PartName="/ppt/slides/slide75.xml" ContentType="application/vnd.openxmlformats-officedocument.presentationml.slide+xml"/>
  <Override PartName="/ppt/slides/slide81.xml" ContentType="application/vnd.openxmlformats-officedocument.presentationml.slide+xml"/>
  <Override PartName="/ppt/slides/slide80.xml" ContentType="application/vnd.openxmlformats-officedocument.presentationml.slide+xml"/>
  <Override PartName="/ppt/slides/slide79.xml" ContentType="application/vnd.openxmlformats-officedocument.presentationml.slide+xml"/>
  <Override PartName="/ppt/slides/slide74.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6.xml" ContentType="application/vnd.openxmlformats-officedocument.presentationml.slide+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5.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51" r:id="rId3"/>
    <p:sldId id="352" r:id="rId4"/>
    <p:sldId id="353" r:id="rId5"/>
    <p:sldId id="354" r:id="rId6"/>
    <p:sldId id="355" r:id="rId7"/>
    <p:sldId id="356" r:id="rId8"/>
    <p:sldId id="357" r:id="rId9"/>
    <p:sldId id="358" r:id="rId10"/>
    <p:sldId id="359" r:id="rId11"/>
    <p:sldId id="360" r:id="rId12"/>
    <p:sldId id="361" r:id="rId13"/>
    <p:sldId id="362" r:id="rId14"/>
    <p:sldId id="363" r:id="rId15"/>
    <p:sldId id="364" r:id="rId16"/>
    <p:sldId id="367" r:id="rId17"/>
    <p:sldId id="368" r:id="rId18"/>
    <p:sldId id="369" r:id="rId19"/>
    <p:sldId id="370" r:id="rId20"/>
    <p:sldId id="371" r:id="rId21"/>
    <p:sldId id="372" r:id="rId22"/>
    <p:sldId id="373" r:id="rId23"/>
    <p:sldId id="374" r:id="rId24"/>
    <p:sldId id="375" r:id="rId25"/>
    <p:sldId id="376" r:id="rId26"/>
    <p:sldId id="377" r:id="rId27"/>
    <p:sldId id="404" r:id="rId28"/>
    <p:sldId id="378" r:id="rId29"/>
    <p:sldId id="379" r:id="rId30"/>
    <p:sldId id="405" r:id="rId31"/>
    <p:sldId id="406" r:id="rId32"/>
    <p:sldId id="380" r:id="rId33"/>
    <p:sldId id="381" r:id="rId34"/>
    <p:sldId id="382" r:id="rId35"/>
    <p:sldId id="383" r:id="rId36"/>
    <p:sldId id="384" r:id="rId37"/>
    <p:sldId id="385" r:id="rId38"/>
    <p:sldId id="386" r:id="rId39"/>
    <p:sldId id="387" r:id="rId40"/>
    <p:sldId id="388" r:id="rId41"/>
    <p:sldId id="389" r:id="rId42"/>
    <p:sldId id="390" r:id="rId43"/>
    <p:sldId id="391" r:id="rId44"/>
    <p:sldId id="392" r:id="rId45"/>
    <p:sldId id="393" r:id="rId46"/>
    <p:sldId id="394" r:id="rId47"/>
    <p:sldId id="395" r:id="rId48"/>
    <p:sldId id="396" r:id="rId49"/>
    <p:sldId id="397" r:id="rId50"/>
    <p:sldId id="398" r:id="rId51"/>
    <p:sldId id="401" r:id="rId52"/>
    <p:sldId id="408" r:id="rId53"/>
    <p:sldId id="409" r:id="rId54"/>
    <p:sldId id="410" r:id="rId55"/>
    <p:sldId id="411" r:id="rId56"/>
    <p:sldId id="412" r:id="rId57"/>
    <p:sldId id="413" r:id="rId58"/>
    <p:sldId id="414" r:id="rId59"/>
    <p:sldId id="415" r:id="rId60"/>
    <p:sldId id="416" r:id="rId61"/>
    <p:sldId id="417" r:id="rId62"/>
    <p:sldId id="418" r:id="rId63"/>
    <p:sldId id="419" r:id="rId64"/>
    <p:sldId id="420" r:id="rId65"/>
    <p:sldId id="421" r:id="rId66"/>
    <p:sldId id="422" r:id="rId67"/>
    <p:sldId id="423" r:id="rId68"/>
    <p:sldId id="424" r:id="rId69"/>
    <p:sldId id="435" r:id="rId70"/>
    <p:sldId id="425" r:id="rId71"/>
    <p:sldId id="426" r:id="rId72"/>
    <p:sldId id="427" r:id="rId73"/>
    <p:sldId id="428" r:id="rId74"/>
    <p:sldId id="429" r:id="rId75"/>
    <p:sldId id="430" r:id="rId76"/>
    <p:sldId id="431" r:id="rId77"/>
    <p:sldId id="432" r:id="rId78"/>
    <p:sldId id="433" r:id="rId79"/>
    <p:sldId id="436" r:id="rId80"/>
    <p:sldId id="437" r:id="rId81"/>
    <p:sldId id="438" r:id="rId8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75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89" Type="http://schemas.openxmlformats.org/officeDocument/2006/relationships/customXml" Target="../customXml/item3.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88"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customXml" Target="../customXml/item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CDA02-36D5-1E75-B453-FB8DF4FC92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194920B-EFD1-5412-C6D0-D7E1AEAE004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AC8D5D-1E6A-D9A1-6097-E0496DB2C5F7}"/>
              </a:ext>
            </a:extLst>
          </p:cNvPr>
          <p:cNvSpPr>
            <a:spLocks noGrp="1"/>
          </p:cNvSpPr>
          <p:nvPr>
            <p:ph type="dt" sz="half" idx="10"/>
          </p:nvPr>
        </p:nvSpPr>
        <p:spPr/>
        <p:txBody>
          <a:bodyPr/>
          <a:lstStyle/>
          <a:p>
            <a:fld id="{3BAAE7CD-C2FF-4AE9-82EA-6084183DA1C6}" type="datetimeFigureOut">
              <a:rPr lang="en-IN" smtClean="0"/>
              <a:t>12-12-2024</a:t>
            </a:fld>
            <a:endParaRPr lang="en-IN"/>
          </a:p>
        </p:txBody>
      </p:sp>
      <p:sp>
        <p:nvSpPr>
          <p:cNvPr id="5" name="Footer Placeholder 4">
            <a:extLst>
              <a:ext uri="{FF2B5EF4-FFF2-40B4-BE49-F238E27FC236}">
                <a16:creationId xmlns:a16="http://schemas.microsoft.com/office/drawing/2014/main" id="{D9FCED08-06EF-3D0A-8A53-A20E8B7A27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2FEAEF-D24B-FD5C-8C5B-BD38AEBE242B}"/>
              </a:ext>
            </a:extLst>
          </p:cNvPr>
          <p:cNvSpPr>
            <a:spLocks noGrp="1"/>
          </p:cNvSpPr>
          <p:nvPr>
            <p:ph type="sldNum" sz="quarter" idx="12"/>
          </p:nvPr>
        </p:nvSpPr>
        <p:spPr/>
        <p:txBody>
          <a:bodyPr/>
          <a:lstStyle/>
          <a:p>
            <a:fld id="{D24C2958-F950-4EE9-B8B3-2F14AC226482}" type="slidenum">
              <a:rPr lang="en-IN" smtClean="0"/>
              <a:t>‹#›</a:t>
            </a:fld>
            <a:endParaRPr lang="en-IN"/>
          </a:p>
        </p:txBody>
      </p:sp>
    </p:spTree>
    <p:extLst>
      <p:ext uri="{BB962C8B-B14F-4D97-AF65-F5344CB8AC3E}">
        <p14:creationId xmlns:p14="http://schemas.microsoft.com/office/powerpoint/2010/main" val="546558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02BC0-B72E-45D6-66C9-97B83E7A201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A1D57A3-CF76-3BBE-DFFA-B6A16518406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9C936E-47CC-2B33-6EDC-E5519BAF4AC4}"/>
              </a:ext>
            </a:extLst>
          </p:cNvPr>
          <p:cNvSpPr>
            <a:spLocks noGrp="1"/>
          </p:cNvSpPr>
          <p:nvPr>
            <p:ph type="dt" sz="half" idx="10"/>
          </p:nvPr>
        </p:nvSpPr>
        <p:spPr/>
        <p:txBody>
          <a:bodyPr/>
          <a:lstStyle/>
          <a:p>
            <a:fld id="{3BAAE7CD-C2FF-4AE9-82EA-6084183DA1C6}" type="datetimeFigureOut">
              <a:rPr lang="en-IN" smtClean="0"/>
              <a:t>12-12-2024</a:t>
            </a:fld>
            <a:endParaRPr lang="en-IN"/>
          </a:p>
        </p:txBody>
      </p:sp>
      <p:sp>
        <p:nvSpPr>
          <p:cNvPr id="5" name="Footer Placeholder 4">
            <a:extLst>
              <a:ext uri="{FF2B5EF4-FFF2-40B4-BE49-F238E27FC236}">
                <a16:creationId xmlns:a16="http://schemas.microsoft.com/office/drawing/2014/main" id="{DB765313-5873-B96A-755B-3DEFC839D3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308D72-997A-A8C7-ED17-21CFC5693BE7}"/>
              </a:ext>
            </a:extLst>
          </p:cNvPr>
          <p:cNvSpPr>
            <a:spLocks noGrp="1"/>
          </p:cNvSpPr>
          <p:nvPr>
            <p:ph type="sldNum" sz="quarter" idx="12"/>
          </p:nvPr>
        </p:nvSpPr>
        <p:spPr/>
        <p:txBody>
          <a:bodyPr/>
          <a:lstStyle/>
          <a:p>
            <a:fld id="{D24C2958-F950-4EE9-B8B3-2F14AC226482}" type="slidenum">
              <a:rPr lang="en-IN" smtClean="0"/>
              <a:t>‹#›</a:t>
            </a:fld>
            <a:endParaRPr lang="en-IN"/>
          </a:p>
        </p:txBody>
      </p:sp>
    </p:spTree>
    <p:extLst>
      <p:ext uri="{BB962C8B-B14F-4D97-AF65-F5344CB8AC3E}">
        <p14:creationId xmlns:p14="http://schemas.microsoft.com/office/powerpoint/2010/main" val="2398884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B2900-7559-18AF-04C7-3FE7392638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480CA55-D88B-A515-EAD0-202A180688A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0F5584-7485-D4BD-A5DE-D36C72A03F4E}"/>
              </a:ext>
            </a:extLst>
          </p:cNvPr>
          <p:cNvSpPr>
            <a:spLocks noGrp="1"/>
          </p:cNvSpPr>
          <p:nvPr>
            <p:ph type="dt" sz="half" idx="10"/>
          </p:nvPr>
        </p:nvSpPr>
        <p:spPr/>
        <p:txBody>
          <a:bodyPr/>
          <a:lstStyle/>
          <a:p>
            <a:fld id="{3BAAE7CD-C2FF-4AE9-82EA-6084183DA1C6}" type="datetimeFigureOut">
              <a:rPr lang="en-IN" smtClean="0"/>
              <a:t>12-12-2024</a:t>
            </a:fld>
            <a:endParaRPr lang="en-IN"/>
          </a:p>
        </p:txBody>
      </p:sp>
      <p:sp>
        <p:nvSpPr>
          <p:cNvPr id="5" name="Footer Placeholder 4">
            <a:extLst>
              <a:ext uri="{FF2B5EF4-FFF2-40B4-BE49-F238E27FC236}">
                <a16:creationId xmlns:a16="http://schemas.microsoft.com/office/drawing/2014/main" id="{6E0D49D6-A865-3EF4-06BC-7AEAE4272B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D89A53D-58C4-2625-16D2-90643CE3075B}"/>
              </a:ext>
            </a:extLst>
          </p:cNvPr>
          <p:cNvSpPr>
            <a:spLocks noGrp="1"/>
          </p:cNvSpPr>
          <p:nvPr>
            <p:ph type="sldNum" sz="quarter" idx="12"/>
          </p:nvPr>
        </p:nvSpPr>
        <p:spPr/>
        <p:txBody>
          <a:bodyPr/>
          <a:lstStyle/>
          <a:p>
            <a:fld id="{D24C2958-F950-4EE9-B8B3-2F14AC226482}" type="slidenum">
              <a:rPr lang="en-IN" smtClean="0"/>
              <a:t>‹#›</a:t>
            </a:fld>
            <a:endParaRPr lang="en-IN"/>
          </a:p>
        </p:txBody>
      </p:sp>
    </p:spTree>
    <p:extLst>
      <p:ext uri="{BB962C8B-B14F-4D97-AF65-F5344CB8AC3E}">
        <p14:creationId xmlns:p14="http://schemas.microsoft.com/office/powerpoint/2010/main" val="1494699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CCA6E-1A37-79BE-A18B-518D42C3931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BC8C959-D583-9040-14CA-5AFB7138861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1F30951-7E53-49B7-BB63-6FB457D881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E839D43-53D8-8E13-7018-98B452CC6B77}"/>
              </a:ext>
            </a:extLst>
          </p:cNvPr>
          <p:cNvSpPr>
            <a:spLocks noGrp="1"/>
          </p:cNvSpPr>
          <p:nvPr>
            <p:ph type="dt" sz="half" idx="10"/>
          </p:nvPr>
        </p:nvSpPr>
        <p:spPr/>
        <p:txBody>
          <a:bodyPr/>
          <a:lstStyle/>
          <a:p>
            <a:fld id="{3BAAE7CD-C2FF-4AE9-82EA-6084183DA1C6}" type="datetimeFigureOut">
              <a:rPr lang="en-IN" smtClean="0"/>
              <a:t>12-12-2024</a:t>
            </a:fld>
            <a:endParaRPr lang="en-IN"/>
          </a:p>
        </p:txBody>
      </p:sp>
      <p:sp>
        <p:nvSpPr>
          <p:cNvPr id="6" name="Footer Placeholder 5">
            <a:extLst>
              <a:ext uri="{FF2B5EF4-FFF2-40B4-BE49-F238E27FC236}">
                <a16:creationId xmlns:a16="http://schemas.microsoft.com/office/drawing/2014/main" id="{33522C88-9815-256E-387C-EA90B66C55F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C9666AD-94E1-7D71-8960-40051A8C7D75}"/>
              </a:ext>
            </a:extLst>
          </p:cNvPr>
          <p:cNvSpPr>
            <a:spLocks noGrp="1"/>
          </p:cNvSpPr>
          <p:nvPr>
            <p:ph type="sldNum" sz="quarter" idx="12"/>
          </p:nvPr>
        </p:nvSpPr>
        <p:spPr/>
        <p:txBody>
          <a:bodyPr/>
          <a:lstStyle/>
          <a:p>
            <a:fld id="{D24C2958-F950-4EE9-B8B3-2F14AC226482}" type="slidenum">
              <a:rPr lang="en-IN" smtClean="0"/>
              <a:t>‹#›</a:t>
            </a:fld>
            <a:endParaRPr lang="en-IN"/>
          </a:p>
        </p:txBody>
      </p:sp>
    </p:spTree>
    <p:extLst>
      <p:ext uri="{BB962C8B-B14F-4D97-AF65-F5344CB8AC3E}">
        <p14:creationId xmlns:p14="http://schemas.microsoft.com/office/powerpoint/2010/main" val="3140204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DF3D3-5252-213C-2024-CC67D090CDB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35D8842-D834-395E-5D06-7A41441858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2F3A9B2-8934-7F16-1A75-3F06EB9DD37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BCF7EDF-333B-81D9-A1EA-E437BB17E8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C99062-7925-3B21-C69D-4C27E3B573A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F64BD4B-9421-2DDF-272B-C54549DD2917}"/>
              </a:ext>
            </a:extLst>
          </p:cNvPr>
          <p:cNvSpPr>
            <a:spLocks noGrp="1"/>
          </p:cNvSpPr>
          <p:nvPr>
            <p:ph type="dt" sz="half" idx="10"/>
          </p:nvPr>
        </p:nvSpPr>
        <p:spPr/>
        <p:txBody>
          <a:bodyPr/>
          <a:lstStyle/>
          <a:p>
            <a:fld id="{3BAAE7CD-C2FF-4AE9-82EA-6084183DA1C6}" type="datetimeFigureOut">
              <a:rPr lang="en-IN" smtClean="0"/>
              <a:t>12-12-2024</a:t>
            </a:fld>
            <a:endParaRPr lang="en-IN"/>
          </a:p>
        </p:txBody>
      </p:sp>
      <p:sp>
        <p:nvSpPr>
          <p:cNvPr id="8" name="Footer Placeholder 7">
            <a:extLst>
              <a:ext uri="{FF2B5EF4-FFF2-40B4-BE49-F238E27FC236}">
                <a16:creationId xmlns:a16="http://schemas.microsoft.com/office/drawing/2014/main" id="{518BEA4D-3D1F-0A10-201B-3B6F4CD1A8A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D9EFDE9-ACE1-2C6E-4416-68719B893CB5}"/>
              </a:ext>
            </a:extLst>
          </p:cNvPr>
          <p:cNvSpPr>
            <a:spLocks noGrp="1"/>
          </p:cNvSpPr>
          <p:nvPr>
            <p:ph type="sldNum" sz="quarter" idx="12"/>
          </p:nvPr>
        </p:nvSpPr>
        <p:spPr/>
        <p:txBody>
          <a:bodyPr/>
          <a:lstStyle/>
          <a:p>
            <a:fld id="{D24C2958-F950-4EE9-B8B3-2F14AC226482}" type="slidenum">
              <a:rPr lang="en-IN" smtClean="0"/>
              <a:t>‹#›</a:t>
            </a:fld>
            <a:endParaRPr lang="en-IN"/>
          </a:p>
        </p:txBody>
      </p:sp>
    </p:spTree>
    <p:extLst>
      <p:ext uri="{BB962C8B-B14F-4D97-AF65-F5344CB8AC3E}">
        <p14:creationId xmlns:p14="http://schemas.microsoft.com/office/powerpoint/2010/main" val="13908545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68754-B004-5D8C-0566-2438BE929D2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F37F633-4BCF-D524-0814-2F498CC94A3D}"/>
              </a:ext>
            </a:extLst>
          </p:cNvPr>
          <p:cNvSpPr>
            <a:spLocks noGrp="1"/>
          </p:cNvSpPr>
          <p:nvPr>
            <p:ph type="dt" sz="half" idx="10"/>
          </p:nvPr>
        </p:nvSpPr>
        <p:spPr/>
        <p:txBody>
          <a:bodyPr/>
          <a:lstStyle/>
          <a:p>
            <a:fld id="{3BAAE7CD-C2FF-4AE9-82EA-6084183DA1C6}" type="datetimeFigureOut">
              <a:rPr lang="en-IN" smtClean="0"/>
              <a:t>12-12-2024</a:t>
            </a:fld>
            <a:endParaRPr lang="en-IN"/>
          </a:p>
        </p:txBody>
      </p:sp>
      <p:sp>
        <p:nvSpPr>
          <p:cNvPr id="4" name="Footer Placeholder 3">
            <a:extLst>
              <a:ext uri="{FF2B5EF4-FFF2-40B4-BE49-F238E27FC236}">
                <a16:creationId xmlns:a16="http://schemas.microsoft.com/office/drawing/2014/main" id="{B2C87CAA-8411-37C5-D6A4-6B8F8CC0D4A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CE5A463-5DCF-3DE4-C23F-8F3953AE7394}"/>
              </a:ext>
            </a:extLst>
          </p:cNvPr>
          <p:cNvSpPr>
            <a:spLocks noGrp="1"/>
          </p:cNvSpPr>
          <p:nvPr>
            <p:ph type="sldNum" sz="quarter" idx="12"/>
          </p:nvPr>
        </p:nvSpPr>
        <p:spPr/>
        <p:txBody>
          <a:bodyPr/>
          <a:lstStyle/>
          <a:p>
            <a:fld id="{D24C2958-F950-4EE9-B8B3-2F14AC226482}" type="slidenum">
              <a:rPr lang="en-IN" smtClean="0"/>
              <a:t>‹#›</a:t>
            </a:fld>
            <a:endParaRPr lang="en-IN"/>
          </a:p>
        </p:txBody>
      </p:sp>
    </p:spTree>
    <p:extLst>
      <p:ext uri="{BB962C8B-B14F-4D97-AF65-F5344CB8AC3E}">
        <p14:creationId xmlns:p14="http://schemas.microsoft.com/office/powerpoint/2010/main" val="13861429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E0D7C1-B8DD-1F8F-2D98-6393F1F94D64}"/>
              </a:ext>
            </a:extLst>
          </p:cNvPr>
          <p:cNvSpPr>
            <a:spLocks noGrp="1"/>
          </p:cNvSpPr>
          <p:nvPr>
            <p:ph type="dt" sz="half" idx="10"/>
          </p:nvPr>
        </p:nvSpPr>
        <p:spPr/>
        <p:txBody>
          <a:bodyPr/>
          <a:lstStyle/>
          <a:p>
            <a:fld id="{3BAAE7CD-C2FF-4AE9-82EA-6084183DA1C6}" type="datetimeFigureOut">
              <a:rPr lang="en-IN" smtClean="0"/>
              <a:t>12-12-2024</a:t>
            </a:fld>
            <a:endParaRPr lang="en-IN"/>
          </a:p>
        </p:txBody>
      </p:sp>
      <p:sp>
        <p:nvSpPr>
          <p:cNvPr id="3" name="Footer Placeholder 2">
            <a:extLst>
              <a:ext uri="{FF2B5EF4-FFF2-40B4-BE49-F238E27FC236}">
                <a16:creationId xmlns:a16="http://schemas.microsoft.com/office/drawing/2014/main" id="{405FA8F1-96C7-5E60-1985-4013FEC4063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198D37D-A302-F3CF-1BC7-B72114781A0C}"/>
              </a:ext>
            </a:extLst>
          </p:cNvPr>
          <p:cNvSpPr>
            <a:spLocks noGrp="1"/>
          </p:cNvSpPr>
          <p:nvPr>
            <p:ph type="sldNum" sz="quarter" idx="12"/>
          </p:nvPr>
        </p:nvSpPr>
        <p:spPr/>
        <p:txBody>
          <a:bodyPr/>
          <a:lstStyle/>
          <a:p>
            <a:fld id="{D24C2958-F950-4EE9-B8B3-2F14AC226482}" type="slidenum">
              <a:rPr lang="en-IN" smtClean="0"/>
              <a:t>‹#›</a:t>
            </a:fld>
            <a:endParaRPr lang="en-IN"/>
          </a:p>
        </p:txBody>
      </p:sp>
    </p:spTree>
    <p:extLst>
      <p:ext uri="{BB962C8B-B14F-4D97-AF65-F5344CB8AC3E}">
        <p14:creationId xmlns:p14="http://schemas.microsoft.com/office/powerpoint/2010/main" val="2442405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B709C-8D9B-2C0E-AD55-2BC4F8B58B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E9FBE24-C600-06C4-2327-2941D89455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BB51FC5-4296-D111-F9AD-843F6BFE1B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86878B-612B-3B61-510B-28C88A9990BB}"/>
              </a:ext>
            </a:extLst>
          </p:cNvPr>
          <p:cNvSpPr>
            <a:spLocks noGrp="1"/>
          </p:cNvSpPr>
          <p:nvPr>
            <p:ph type="dt" sz="half" idx="10"/>
          </p:nvPr>
        </p:nvSpPr>
        <p:spPr/>
        <p:txBody>
          <a:bodyPr/>
          <a:lstStyle/>
          <a:p>
            <a:fld id="{3BAAE7CD-C2FF-4AE9-82EA-6084183DA1C6}" type="datetimeFigureOut">
              <a:rPr lang="en-IN" smtClean="0"/>
              <a:t>12-12-2024</a:t>
            </a:fld>
            <a:endParaRPr lang="en-IN"/>
          </a:p>
        </p:txBody>
      </p:sp>
      <p:sp>
        <p:nvSpPr>
          <p:cNvPr id="6" name="Footer Placeholder 5">
            <a:extLst>
              <a:ext uri="{FF2B5EF4-FFF2-40B4-BE49-F238E27FC236}">
                <a16:creationId xmlns:a16="http://schemas.microsoft.com/office/drawing/2014/main" id="{FEFDAD4D-F74E-5E53-7213-FAAAA8F81A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F0F4896-093C-A774-5ABB-CBDC9ABB8193}"/>
              </a:ext>
            </a:extLst>
          </p:cNvPr>
          <p:cNvSpPr>
            <a:spLocks noGrp="1"/>
          </p:cNvSpPr>
          <p:nvPr>
            <p:ph type="sldNum" sz="quarter" idx="12"/>
          </p:nvPr>
        </p:nvSpPr>
        <p:spPr/>
        <p:txBody>
          <a:bodyPr/>
          <a:lstStyle/>
          <a:p>
            <a:fld id="{D24C2958-F950-4EE9-B8B3-2F14AC226482}" type="slidenum">
              <a:rPr lang="en-IN" smtClean="0"/>
              <a:t>‹#›</a:t>
            </a:fld>
            <a:endParaRPr lang="en-IN"/>
          </a:p>
        </p:txBody>
      </p:sp>
    </p:spTree>
    <p:extLst>
      <p:ext uri="{BB962C8B-B14F-4D97-AF65-F5344CB8AC3E}">
        <p14:creationId xmlns:p14="http://schemas.microsoft.com/office/powerpoint/2010/main" val="14781554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9C153-17DB-CFEC-CD8F-DA6FFBFC37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DAB2237-26BB-BF40-58FE-0FF0CABE8C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B36B28B-7522-519D-5F6C-F03DCB2A93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DFF1DD-C6AA-F1C9-92D7-F9F108F160EE}"/>
              </a:ext>
            </a:extLst>
          </p:cNvPr>
          <p:cNvSpPr>
            <a:spLocks noGrp="1"/>
          </p:cNvSpPr>
          <p:nvPr>
            <p:ph type="dt" sz="half" idx="10"/>
          </p:nvPr>
        </p:nvSpPr>
        <p:spPr/>
        <p:txBody>
          <a:bodyPr/>
          <a:lstStyle/>
          <a:p>
            <a:fld id="{3BAAE7CD-C2FF-4AE9-82EA-6084183DA1C6}" type="datetimeFigureOut">
              <a:rPr lang="en-IN" smtClean="0"/>
              <a:t>12-12-2024</a:t>
            </a:fld>
            <a:endParaRPr lang="en-IN"/>
          </a:p>
        </p:txBody>
      </p:sp>
      <p:sp>
        <p:nvSpPr>
          <p:cNvPr id="6" name="Footer Placeholder 5">
            <a:extLst>
              <a:ext uri="{FF2B5EF4-FFF2-40B4-BE49-F238E27FC236}">
                <a16:creationId xmlns:a16="http://schemas.microsoft.com/office/drawing/2014/main" id="{B9F8F60E-BE05-239E-3E3B-C4DFF4B2342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BE441AB-5B85-D7BD-DED3-1E517B7299E7}"/>
              </a:ext>
            </a:extLst>
          </p:cNvPr>
          <p:cNvSpPr>
            <a:spLocks noGrp="1"/>
          </p:cNvSpPr>
          <p:nvPr>
            <p:ph type="sldNum" sz="quarter" idx="12"/>
          </p:nvPr>
        </p:nvSpPr>
        <p:spPr/>
        <p:txBody>
          <a:bodyPr/>
          <a:lstStyle/>
          <a:p>
            <a:fld id="{D24C2958-F950-4EE9-B8B3-2F14AC226482}" type="slidenum">
              <a:rPr lang="en-IN" smtClean="0"/>
              <a:t>‹#›</a:t>
            </a:fld>
            <a:endParaRPr lang="en-IN"/>
          </a:p>
        </p:txBody>
      </p:sp>
    </p:spTree>
    <p:extLst>
      <p:ext uri="{BB962C8B-B14F-4D97-AF65-F5344CB8AC3E}">
        <p14:creationId xmlns:p14="http://schemas.microsoft.com/office/powerpoint/2010/main" val="530696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AE7D0-F597-60C7-D3B8-DC54D917B9B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C2C6B01-69E0-4D89-D076-5E9F84858BB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2B8DBA0-F75D-9B0C-557E-48B0DBB80D59}"/>
              </a:ext>
            </a:extLst>
          </p:cNvPr>
          <p:cNvSpPr>
            <a:spLocks noGrp="1"/>
          </p:cNvSpPr>
          <p:nvPr>
            <p:ph type="dt" sz="half" idx="10"/>
          </p:nvPr>
        </p:nvSpPr>
        <p:spPr/>
        <p:txBody>
          <a:bodyPr/>
          <a:lstStyle/>
          <a:p>
            <a:fld id="{3BAAE7CD-C2FF-4AE9-82EA-6084183DA1C6}" type="datetimeFigureOut">
              <a:rPr lang="en-IN" smtClean="0"/>
              <a:t>12-12-2024</a:t>
            </a:fld>
            <a:endParaRPr lang="en-IN"/>
          </a:p>
        </p:txBody>
      </p:sp>
      <p:sp>
        <p:nvSpPr>
          <p:cNvPr id="5" name="Footer Placeholder 4">
            <a:extLst>
              <a:ext uri="{FF2B5EF4-FFF2-40B4-BE49-F238E27FC236}">
                <a16:creationId xmlns:a16="http://schemas.microsoft.com/office/drawing/2014/main" id="{200FC4F3-A891-75B3-F091-A8D067FC34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F165AC-F4A8-7422-EAC3-6E3D720A408D}"/>
              </a:ext>
            </a:extLst>
          </p:cNvPr>
          <p:cNvSpPr>
            <a:spLocks noGrp="1"/>
          </p:cNvSpPr>
          <p:nvPr>
            <p:ph type="sldNum" sz="quarter" idx="12"/>
          </p:nvPr>
        </p:nvSpPr>
        <p:spPr/>
        <p:txBody>
          <a:bodyPr/>
          <a:lstStyle/>
          <a:p>
            <a:fld id="{D24C2958-F950-4EE9-B8B3-2F14AC226482}" type="slidenum">
              <a:rPr lang="en-IN" smtClean="0"/>
              <a:t>‹#›</a:t>
            </a:fld>
            <a:endParaRPr lang="en-IN"/>
          </a:p>
        </p:txBody>
      </p:sp>
    </p:spTree>
    <p:extLst>
      <p:ext uri="{BB962C8B-B14F-4D97-AF65-F5344CB8AC3E}">
        <p14:creationId xmlns:p14="http://schemas.microsoft.com/office/powerpoint/2010/main" val="1120027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B0182D-B0F3-346C-247B-8F9ABED8F8A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D6F37BC-53DA-6C81-60A2-739F692C829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0A5940F-3604-52CF-B521-3A29FBD3DA5B}"/>
              </a:ext>
            </a:extLst>
          </p:cNvPr>
          <p:cNvSpPr>
            <a:spLocks noGrp="1"/>
          </p:cNvSpPr>
          <p:nvPr>
            <p:ph type="dt" sz="half" idx="10"/>
          </p:nvPr>
        </p:nvSpPr>
        <p:spPr/>
        <p:txBody>
          <a:bodyPr/>
          <a:lstStyle/>
          <a:p>
            <a:fld id="{3BAAE7CD-C2FF-4AE9-82EA-6084183DA1C6}" type="datetimeFigureOut">
              <a:rPr lang="en-IN" smtClean="0"/>
              <a:t>12-12-2024</a:t>
            </a:fld>
            <a:endParaRPr lang="en-IN"/>
          </a:p>
        </p:txBody>
      </p:sp>
      <p:sp>
        <p:nvSpPr>
          <p:cNvPr id="5" name="Footer Placeholder 4">
            <a:extLst>
              <a:ext uri="{FF2B5EF4-FFF2-40B4-BE49-F238E27FC236}">
                <a16:creationId xmlns:a16="http://schemas.microsoft.com/office/drawing/2014/main" id="{CA344952-A67B-AF60-ABEA-3031B4052E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973E386-AD1C-010B-F644-8E7B402B598C}"/>
              </a:ext>
            </a:extLst>
          </p:cNvPr>
          <p:cNvSpPr>
            <a:spLocks noGrp="1"/>
          </p:cNvSpPr>
          <p:nvPr>
            <p:ph type="sldNum" sz="quarter" idx="12"/>
          </p:nvPr>
        </p:nvSpPr>
        <p:spPr/>
        <p:txBody>
          <a:bodyPr/>
          <a:lstStyle/>
          <a:p>
            <a:fld id="{D24C2958-F950-4EE9-B8B3-2F14AC226482}" type="slidenum">
              <a:rPr lang="en-IN" smtClean="0"/>
              <a:t>‹#›</a:t>
            </a:fld>
            <a:endParaRPr lang="en-IN"/>
          </a:p>
        </p:txBody>
      </p:sp>
    </p:spTree>
    <p:extLst>
      <p:ext uri="{BB962C8B-B14F-4D97-AF65-F5344CB8AC3E}">
        <p14:creationId xmlns:p14="http://schemas.microsoft.com/office/powerpoint/2010/main" val="16941610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C97C7C-E21C-734B-98CD-F55724EDF7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D02F747-249E-DBE0-B818-89B2C93DEB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DF77DE-8C61-A1EF-F62D-1F62B25986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AAE7CD-C2FF-4AE9-82EA-6084183DA1C6}" type="datetimeFigureOut">
              <a:rPr lang="en-IN" smtClean="0"/>
              <a:t>12-12-2024</a:t>
            </a:fld>
            <a:endParaRPr lang="en-IN"/>
          </a:p>
        </p:txBody>
      </p:sp>
      <p:sp>
        <p:nvSpPr>
          <p:cNvPr id="5" name="Footer Placeholder 4">
            <a:extLst>
              <a:ext uri="{FF2B5EF4-FFF2-40B4-BE49-F238E27FC236}">
                <a16:creationId xmlns:a16="http://schemas.microsoft.com/office/drawing/2014/main" id="{00A24289-5D37-4D7F-EA03-BD98BC98E5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71251C0-B2A0-7AA8-74CB-CBAF23E591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4C2958-F950-4EE9-B8B3-2F14AC226482}" type="slidenum">
              <a:rPr lang="en-IN" smtClean="0"/>
              <a:t>‹#›</a:t>
            </a:fld>
            <a:endParaRPr lang="en-IN"/>
          </a:p>
        </p:txBody>
      </p:sp>
    </p:spTree>
    <p:extLst>
      <p:ext uri="{BB962C8B-B14F-4D97-AF65-F5344CB8AC3E}">
        <p14:creationId xmlns:p14="http://schemas.microsoft.com/office/powerpoint/2010/main" val="37353194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F66CC-5858-0F28-577F-F7B8092D6862}"/>
              </a:ext>
            </a:extLst>
          </p:cNvPr>
          <p:cNvSpPr>
            <a:spLocks noGrp="1"/>
          </p:cNvSpPr>
          <p:nvPr>
            <p:ph type="ctrTitle"/>
          </p:nvPr>
        </p:nvSpPr>
        <p:spPr>
          <a:xfrm>
            <a:off x="1524000" y="1122363"/>
            <a:ext cx="9144000" cy="1935469"/>
          </a:xfrm>
        </p:spPr>
        <p:txBody>
          <a:bodyPr>
            <a:normAutofit/>
          </a:bodyPr>
          <a:lstStyle/>
          <a:p>
            <a:r>
              <a:rPr lang="en-US" sz="5400" b="1" dirty="0">
                <a:effectLst/>
                <a:latin typeface="Times New Roman" panose="02020603050405020304" pitchFamily="18" charset="0"/>
                <a:ea typeface="Noto Serif CJK SC"/>
                <a:cs typeface="Times New Roman" panose="02020603050405020304" pitchFamily="18" charset="0"/>
              </a:rPr>
              <a:t>MODULE III:  </a:t>
            </a:r>
            <a:br>
              <a:rPr lang="en-US" sz="5400" b="1" dirty="0">
                <a:effectLst/>
                <a:latin typeface="Times New Roman" panose="02020603050405020304" pitchFamily="18" charset="0"/>
                <a:ea typeface="Noto Serif CJK SC"/>
                <a:cs typeface="Times New Roman" panose="02020603050405020304" pitchFamily="18" charset="0"/>
              </a:rPr>
            </a:br>
            <a:r>
              <a:rPr lang="en-US" sz="5400" b="1" dirty="0">
                <a:effectLst/>
                <a:latin typeface="Times New Roman" panose="02020603050405020304" pitchFamily="18" charset="0"/>
                <a:ea typeface="Noto Serif CJK SC"/>
                <a:cs typeface="Times New Roman" panose="02020603050405020304" pitchFamily="18" charset="0"/>
              </a:rPr>
              <a:t>PHP </a:t>
            </a:r>
            <a:endParaRPr lang="en-IN" sz="5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297F346-9B17-E937-374B-7C01952B9BBA}"/>
              </a:ext>
            </a:extLst>
          </p:cNvPr>
          <p:cNvSpPr>
            <a:spLocks noGrp="1"/>
          </p:cNvSpPr>
          <p:nvPr>
            <p:ph type="subTitle" idx="1"/>
          </p:nvPr>
        </p:nvSpPr>
        <p:spPr>
          <a:xfrm>
            <a:off x="1524000" y="3602037"/>
            <a:ext cx="9144000" cy="2749601"/>
          </a:xfrm>
        </p:spPr>
        <p:txBody>
          <a:bodyPr>
            <a:noAutofit/>
          </a:bodyPr>
          <a:lstStyle/>
          <a:p>
            <a:pPr algn="just"/>
            <a:r>
              <a:rPr lang="en-US" sz="2800" b="1" kern="100" dirty="0">
                <a:effectLst/>
                <a:latin typeface="Times New Roman" panose="02020603050405020304" pitchFamily="18" charset="0"/>
                <a:ea typeface="Noto Serif CJK SC"/>
                <a:cs typeface="Times New Roman" panose="02020603050405020304" pitchFamily="18" charset="0"/>
              </a:rPr>
              <a:t>PHP:</a:t>
            </a:r>
            <a:r>
              <a:rPr lang="en-US" sz="2800" kern="100" dirty="0">
                <a:effectLst/>
                <a:latin typeface="Times New Roman" panose="02020603050405020304" pitchFamily="18" charset="0"/>
                <a:ea typeface="Noto Serif CJK SC"/>
                <a:cs typeface="Times New Roman" panose="02020603050405020304" pitchFamily="18" charset="0"/>
              </a:rPr>
              <a:t> Introduction to server-side Development with PHP, Arrays, and </a:t>
            </a:r>
            <a:r>
              <a:rPr lang="en-US" sz="2800" kern="100" dirty="0" err="1">
                <a:effectLst/>
                <a:latin typeface="Times New Roman" panose="02020603050405020304" pitchFamily="18" charset="0"/>
                <a:ea typeface="Noto Serif CJK SC"/>
                <a:cs typeface="Times New Roman" panose="02020603050405020304" pitchFamily="18" charset="0"/>
              </a:rPr>
              <a:t>Superglobals</a:t>
            </a:r>
            <a:r>
              <a:rPr lang="en-US" sz="2800" kern="100" dirty="0">
                <a:effectLst/>
                <a:latin typeface="Times New Roman" panose="02020603050405020304" pitchFamily="18" charset="0"/>
                <a:ea typeface="Noto Serif CJK SC"/>
                <a:cs typeface="Times New Roman" panose="02020603050405020304" pitchFamily="18" charset="0"/>
              </a:rPr>
              <a:t>, Arrays, $GET and $ POST, Super global Arrays, $_SERVER Array, $_Files Array, Reading/Writing Files, PHP Classes and Objects, Object, Classes and Objects in PHP, Object Oriented Design, Working with Databases, SQL, Database APIs, Managing a MySQL Database. Accessing MySQL in PHP</a:t>
            </a:r>
            <a:endParaRPr lang="en-IN" sz="2800" kern="100" dirty="0">
              <a:effectLst/>
              <a:latin typeface="Times New Roman" panose="02020603050405020304" pitchFamily="18" charset="0"/>
              <a:ea typeface="Noto Serif CJK SC"/>
              <a:cs typeface="Times New Roman" panose="02020603050405020304" pitchFamily="18" charset="0"/>
            </a:endParaRPr>
          </a:p>
          <a:p>
            <a:pPr algn="just"/>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06604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D5B50-696B-FF3F-2574-76AFC28039C2}"/>
              </a:ext>
            </a:extLst>
          </p:cNvPr>
          <p:cNvSpPr>
            <a:spLocks noGrp="1"/>
          </p:cNvSpPr>
          <p:nvPr>
            <p:ph type="title"/>
          </p:nvPr>
        </p:nvSpPr>
        <p:spPr/>
        <p:txBody>
          <a:bodyPr/>
          <a:lstStyle/>
          <a:p>
            <a:r>
              <a:rPr lang="en-IN" b="0" i="0" dirty="0">
                <a:solidFill>
                  <a:srgbClr val="000000"/>
                </a:solidFill>
                <a:effectLst/>
                <a:latin typeface="Times New Roman" panose="02020603050405020304" pitchFamily="18" charset="0"/>
                <a:cs typeface="Times New Roman" panose="02020603050405020304" pitchFamily="18" charset="0"/>
              </a:rPr>
              <a:t>File Handling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6F74A84-F202-112E-8D2E-ACD06298E9F6}"/>
              </a:ext>
            </a:extLst>
          </p:cNvPr>
          <p:cNvSpPr>
            <a:spLocks noGrp="1"/>
          </p:cNvSpPr>
          <p:nvPr>
            <p:ph idx="1"/>
          </p:nvPr>
        </p:nvSpPr>
        <p:spPr/>
        <p:txBody>
          <a:bodyPr/>
          <a:lstStyle/>
          <a:p>
            <a:pPr algn="just"/>
            <a:r>
              <a:rPr lang="en-US" b="0" i="0" dirty="0">
                <a:solidFill>
                  <a:srgbClr val="000000"/>
                </a:solidFill>
                <a:effectLst/>
                <a:latin typeface="Times New Roman" panose="02020603050405020304" pitchFamily="18" charset="0"/>
                <a:cs typeface="Times New Roman" panose="02020603050405020304" pitchFamily="18" charset="0"/>
              </a:rPr>
              <a:t>File handling is an important part of any web application. You often need to open and process a file for different tasks. </a:t>
            </a:r>
          </a:p>
          <a:p>
            <a:pPr marL="0" indent="0" algn="just">
              <a:buNone/>
            </a:pPr>
            <a:r>
              <a:rPr lang="en-US" b="1" i="0" dirty="0">
                <a:solidFill>
                  <a:srgbClr val="000000"/>
                </a:solidFill>
                <a:effectLst/>
                <a:latin typeface="Times New Roman" panose="02020603050405020304" pitchFamily="18" charset="0"/>
                <a:cs typeface="Times New Roman" panose="02020603050405020304" pitchFamily="18" charset="0"/>
              </a:rPr>
              <a:t>Manipulating Files</a:t>
            </a:r>
          </a:p>
          <a:p>
            <a:pPr algn="just"/>
            <a:r>
              <a:rPr lang="en-US" b="0" i="0" dirty="0">
                <a:solidFill>
                  <a:srgbClr val="000000"/>
                </a:solidFill>
                <a:effectLst/>
                <a:latin typeface="Times New Roman" panose="02020603050405020304" pitchFamily="18" charset="0"/>
                <a:cs typeface="Times New Roman" panose="02020603050405020304" pitchFamily="18" charset="0"/>
              </a:rPr>
              <a:t>PHP has several functions for creating, reading, uploading, and editing files.</a:t>
            </a:r>
          </a:p>
          <a:p>
            <a:pPr marL="0" indent="0" algn="just">
              <a:buNone/>
            </a:pPr>
            <a:r>
              <a:rPr lang="en-IN" b="1" i="0" dirty="0" err="1">
                <a:solidFill>
                  <a:srgbClr val="000000"/>
                </a:solidFill>
                <a:effectLst/>
                <a:latin typeface="Times New Roman" panose="02020603050405020304" pitchFamily="18" charset="0"/>
                <a:cs typeface="Times New Roman" panose="02020603050405020304" pitchFamily="18" charset="0"/>
              </a:rPr>
              <a:t>readfile</a:t>
            </a:r>
            <a:r>
              <a:rPr lang="en-IN" b="1" i="0" dirty="0">
                <a:solidFill>
                  <a:srgbClr val="000000"/>
                </a:solidFill>
                <a:effectLst/>
                <a:latin typeface="Times New Roman" panose="02020603050405020304" pitchFamily="18" charset="0"/>
                <a:cs typeface="Times New Roman" panose="02020603050405020304" pitchFamily="18" charset="0"/>
              </a:rPr>
              <a:t>() Function</a:t>
            </a:r>
          </a:p>
          <a:p>
            <a:pPr algn="just"/>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readfile</a:t>
            </a:r>
            <a:r>
              <a:rPr lang="en-US" dirty="0">
                <a:latin typeface="Times New Roman" panose="02020603050405020304" pitchFamily="18" charset="0"/>
                <a:cs typeface="Times New Roman" panose="02020603050405020304" pitchFamily="18" charset="0"/>
              </a:rPr>
              <a:t>() function reads a file and writes it to the output buffer.</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17770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8D1E85-9444-339A-2FDB-6E4326312226}"/>
              </a:ext>
            </a:extLst>
          </p:cNvPr>
          <p:cNvSpPr>
            <a:spLocks noGrp="1"/>
          </p:cNvSpPr>
          <p:nvPr>
            <p:ph idx="1"/>
          </p:nvPr>
        </p:nvSpPr>
        <p:spPr/>
        <p:txBody>
          <a:bodyPr>
            <a:normAutofit fontScale="92500" lnSpcReduction="10000"/>
          </a:bodyPr>
          <a:lstStyle/>
          <a:p>
            <a:r>
              <a:rPr lang="en-IN" dirty="0">
                <a:latin typeface="Times New Roman" panose="02020603050405020304" pitchFamily="18" charset="0"/>
                <a:cs typeface="Times New Roman" panose="02020603050405020304" pitchFamily="18" charset="0"/>
              </a:rPr>
              <a:t>Assume we have a text file called "</a:t>
            </a:r>
            <a:r>
              <a:rPr lang="en-IN" b="1" dirty="0">
                <a:latin typeface="Times New Roman" panose="02020603050405020304" pitchFamily="18" charset="0"/>
                <a:cs typeface="Times New Roman" panose="02020603050405020304" pitchFamily="18" charset="0"/>
              </a:rPr>
              <a:t>webdictionary.txt</a:t>
            </a:r>
            <a:r>
              <a:rPr lang="en-IN" dirty="0">
                <a:latin typeface="Times New Roman" panose="02020603050405020304" pitchFamily="18" charset="0"/>
                <a:cs typeface="Times New Roman" panose="02020603050405020304" pitchFamily="18" charset="0"/>
              </a:rPr>
              <a:t>", stored on the server, that looks like this:</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AJAX = Asynchronous JavaScript and XML</a:t>
            </a:r>
          </a:p>
          <a:p>
            <a:r>
              <a:rPr lang="en-IN" dirty="0">
                <a:latin typeface="Times New Roman" panose="02020603050405020304" pitchFamily="18" charset="0"/>
                <a:cs typeface="Times New Roman" panose="02020603050405020304" pitchFamily="18" charset="0"/>
              </a:rPr>
              <a:t>CSS = Cascading Style Sheets</a:t>
            </a:r>
          </a:p>
          <a:p>
            <a:r>
              <a:rPr lang="en-IN" dirty="0">
                <a:latin typeface="Times New Roman" panose="02020603050405020304" pitchFamily="18" charset="0"/>
                <a:cs typeface="Times New Roman" panose="02020603050405020304" pitchFamily="18" charset="0"/>
              </a:rPr>
              <a:t>HTML = Hyper Text Markup Language</a:t>
            </a:r>
          </a:p>
          <a:p>
            <a:r>
              <a:rPr lang="en-IN" dirty="0">
                <a:latin typeface="Times New Roman" panose="02020603050405020304" pitchFamily="18" charset="0"/>
                <a:cs typeface="Times New Roman" panose="02020603050405020304" pitchFamily="18" charset="0"/>
              </a:rPr>
              <a:t>PHP = PHP Hypertext </a:t>
            </a:r>
            <a:r>
              <a:rPr lang="en-IN" dirty="0" err="1">
                <a:latin typeface="Times New Roman" panose="02020603050405020304" pitchFamily="18" charset="0"/>
                <a:cs typeface="Times New Roman" panose="02020603050405020304" pitchFamily="18" charset="0"/>
              </a:rPr>
              <a:t>Preprocessor</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SQL = Structured Query Language</a:t>
            </a:r>
          </a:p>
          <a:p>
            <a:r>
              <a:rPr lang="en-IN" dirty="0">
                <a:latin typeface="Times New Roman" panose="02020603050405020304" pitchFamily="18" charset="0"/>
                <a:cs typeface="Times New Roman" panose="02020603050405020304" pitchFamily="18" charset="0"/>
              </a:rPr>
              <a:t>SVG = Scalable Vector Graphics</a:t>
            </a:r>
          </a:p>
          <a:p>
            <a:r>
              <a:rPr lang="en-IN" dirty="0">
                <a:latin typeface="Times New Roman" panose="02020603050405020304" pitchFamily="18" charset="0"/>
                <a:cs typeface="Times New Roman" panose="02020603050405020304" pitchFamily="18" charset="0"/>
              </a:rPr>
              <a:t>XML = </a:t>
            </a:r>
            <a:r>
              <a:rPr lang="en-IN" dirty="0" err="1">
                <a:latin typeface="Times New Roman" panose="02020603050405020304" pitchFamily="18" charset="0"/>
                <a:cs typeface="Times New Roman" panose="02020603050405020304" pitchFamily="18" charset="0"/>
              </a:rPr>
              <a:t>EXtensible</a:t>
            </a:r>
            <a:r>
              <a:rPr lang="en-IN" dirty="0">
                <a:latin typeface="Times New Roman" panose="02020603050405020304" pitchFamily="18" charset="0"/>
                <a:cs typeface="Times New Roman" panose="02020603050405020304" pitchFamily="18" charset="0"/>
              </a:rPr>
              <a:t> Markup Language</a:t>
            </a:r>
          </a:p>
        </p:txBody>
      </p:sp>
    </p:spTree>
    <p:extLst>
      <p:ext uri="{BB962C8B-B14F-4D97-AF65-F5344CB8AC3E}">
        <p14:creationId xmlns:p14="http://schemas.microsoft.com/office/powerpoint/2010/main" val="3924630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3C790-19A3-776F-773B-56313FA1A7CC}"/>
              </a:ext>
            </a:extLst>
          </p:cNvPr>
          <p:cNvSpPr>
            <a:spLocks noGrp="1"/>
          </p:cNvSpPr>
          <p:nvPr>
            <p:ph type="title"/>
          </p:nvPr>
        </p:nvSpPr>
        <p:spPr/>
        <p:txBody>
          <a:bodyPr/>
          <a:lstStyle/>
          <a:p>
            <a:r>
              <a:rPr lang="en-IN" b="0" i="0" dirty="0">
                <a:solidFill>
                  <a:srgbClr val="000000"/>
                </a:solidFill>
                <a:effectLst/>
                <a:latin typeface="Times New Roman" panose="02020603050405020304" pitchFamily="18" charset="0"/>
                <a:cs typeface="Times New Roman" panose="02020603050405020304" pitchFamily="18" charset="0"/>
              </a:rPr>
              <a:t>Example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46EA773-CD2C-7990-71AB-EE495F7204ED}"/>
              </a:ext>
            </a:extLst>
          </p:cNvPr>
          <p:cNvSpPr>
            <a:spLocks noGrp="1"/>
          </p:cNvSpPr>
          <p:nvPr>
            <p:ph idx="1"/>
          </p:nvPr>
        </p:nvSpPr>
        <p:spPr/>
        <p:txBody>
          <a:bodyPr/>
          <a:lstStyle/>
          <a:p>
            <a:pPr marL="0" indent="0">
              <a:buNone/>
            </a:pPr>
            <a:r>
              <a:rPr lang="en-IN" b="0" i="0" dirty="0">
                <a:solidFill>
                  <a:srgbClr val="0000CD"/>
                </a:solidFill>
                <a:effectLst/>
                <a:latin typeface="Times New Roman" panose="02020603050405020304" pitchFamily="18" charset="0"/>
                <a:cs typeface="Times New Roman" panose="02020603050405020304" pitchFamily="18" charset="0"/>
              </a:rPr>
              <a:t>&lt;</a:t>
            </a:r>
            <a:r>
              <a:rPr lang="en-IN" b="0" i="0" dirty="0">
                <a:solidFill>
                  <a:srgbClr val="A52A2A"/>
                </a:solidFill>
                <a:effectLst/>
                <a:latin typeface="Times New Roman" panose="02020603050405020304" pitchFamily="18" charset="0"/>
                <a:cs typeface="Times New Roman" panose="02020603050405020304" pitchFamily="18" charset="0"/>
              </a:rPr>
              <a:t>!DOCTYPE</a:t>
            </a:r>
            <a:r>
              <a:rPr lang="en-IN" b="0" i="0" dirty="0">
                <a:solidFill>
                  <a:srgbClr val="FF0000"/>
                </a:solidFill>
                <a:effectLst/>
                <a:latin typeface="Times New Roman" panose="02020603050405020304" pitchFamily="18" charset="0"/>
                <a:cs typeface="Times New Roman" panose="02020603050405020304" pitchFamily="18" charset="0"/>
              </a:rPr>
              <a:t> html</a:t>
            </a:r>
            <a:r>
              <a:rPr lang="en-IN" b="0" i="0" dirty="0">
                <a:solidFill>
                  <a:srgbClr val="0000CD"/>
                </a:solidFill>
                <a:effectLst/>
                <a:latin typeface="Times New Roman" panose="02020603050405020304" pitchFamily="18" charset="0"/>
                <a:cs typeface="Times New Roman" panose="02020603050405020304" pitchFamily="18" charset="0"/>
              </a:rPr>
              <a:t>&gt;</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b="0" i="0" dirty="0">
                <a:solidFill>
                  <a:srgbClr val="0000CD"/>
                </a:solidFill>
                <a:effectLst/>
                <a:latin typeface="Times New Roman" panose="02020603050405020304" pitchFamily="18" charset="0"/>
                <a:cs typeface="Times New Roman" panose="02020603050405020304" pitchFamily="18" charset="0"/>
              </a:rPr>
              <a:t>&lt;</a:t>
            </a:r>
            <a:r>
              <a:rPr lang="en-IN" b="0" i="0" dirty="0">
                <a:solidFill>
                  <a:srgbClr val="A52A2A"/>
                </a:solidFill>
                <a:effectLst/>
                <a:latin typeface="Times New Roman" panose="02020603050405020304" pitchFamily="18" charset="0"/>
                <a:cs typeface="Times New Roman" panose="02020603050405020304" pitchFamily="18" charset="0"/>
              </a:rPr>
              <a:t>html</a:t>
            </a:r>
            <a:r>
              <a:rPr lang="en-IN" b="0" i="0" dirty="0">
                <a:solidFill>
                  <a:srgbClr val="0000CD"/>
                </a:solidFill>
                <a:effectLst/>
                <a:latin typeface="Times New Roman" panose="02020603050405020304" pitchFamily="18" charset="0"/>
                <a:cs typeface="Times New Roman" panose="02020603050405020304" pitchFamily="18" charset="0"/>
              </a:rPr>
              <a:t>&gt;</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b="0" i="0" dirty="0">
                <a:solidFill>
                  <a:srgbClr val="0000CD"/>
                </a:solidFill>
                <a:effectLst/>
                <a:latin typeface="Times New Roman" panose="02020603050405020304" pitchFamily="18" charset="0"/>
                <a:cs typeface="Times New Roman" panose="02020603050405020304" pitchFamily="18" charset="0"/>
              </a:rPr>
              <a:t>&lt;</a:t>
            </a:r>
            <a:r>
              <a:rPr lang="en-IN" b="0" i="0" dirty="0">
                <a:solidFill>
                  <a:srgbClr val="A52A2A"/>
                </a:solidFill>
                <a:effectLst/>
                <a:latin typeface="Times New Roman" panose="02020603050405020304" pitchFamily="18" charset="0"/>
                <a:cs typeface="Times New Roman" panose="02020603050405020304" pitchFamily="18" charset="0"/>
              </a:rPr>
              <a:t>body</a:t>
            </a:r>
            <a:r>
              <a:rPr lang="en-IN" b="0" i="0" dirty="0">
                <a:solidFill>
                  <a:srgbClr val="0000CD"/>
                </a:solidFill>
                <a:effectLst/>
                <a:latin typeface="Times New Roman" panose="02020603050405020304" pitchFamily="18" charset="0"/>
                <a:cs typeface="Times New Roman" panose="02020603050405020304" pitchFamily="18" charset="0"/>
              </a:rPr>
              <a:t>&gt;</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b="0" i="0" dirty="0">
                <a:solidFill>
                  <a:srgbClr val="FF0000"/>
                </a:solidFill>
                <a:effectLst/>
                <a:latin typeface="Times New Roman" panose="02020603050405020304" pitchFamily="18" charset="0"/>
                <a:cs typeface="Times New Roman" panose="02020603050405020304" pitchFamily="18" charset="0"/>
              </a:rPr>
              <a:t>&lt;?</a:t>
            </a:r>
            <a:r>
              <a:rPr lang="en-IN" b="0" i="0" dirty="0" err="1">
                <a:solidFill>
                  <a:srgbClr val="FF0000"/>
                </a:solidFill>
                <a:effectLst/>
                <a:latin typeface="Times New Roman" panose="02020603050405020304" pitchFamily="18" charset="0"/>
                <a:cs typeface="Times New Roman" panose="02020603050405020304" pitchFamily="18" charset="0"/>
              </a:rPr>
              <a:t>php</a:t>
            </a:r>
            <a:r>
              <a:rPr lang="en-IN" b="0" i="0" dirty="0">
                <a:solidFill>
                  <a:srgbClr val="000000"/>
                </a:solidFill>
                <a:effectLst/>
                <a:latin typeface="Times New Roman" panose="02020603050405020304" pitchFamily="18" charset="0"/>
                <a:cs typeface="Times New Roman" panose="02020603050405020304" pitchFamily="18" charset="0"/>
              </a:rPr>
              <a:t/>
            </a:r>
            <a:br>
              <a:rPr lang="en-IN" b="0" i="0" dirty="0">
                <a:solidFill>
                  <a:srgbClr val="000000"/>
                </a:solidFill>
                <a:effectLst/>
                <a:latin typeface="Times New Roman" panose="02020603050405020304" pitchFamily="18" charset="0"/>
                <a:cs typeface="Times New Roman" panose="02020603050405020304" pitchFamily="18" charset="0"/>
              </a:rPr>
            </a:br>
            <a:r>
              <a:rPr lang="en-IN" b="0" i="0" dirty="0">
                <a:solidFill>
                  <a:srgbClr val="0000CD"/>
                </a:solidFill>
                <a:effectLst/>
                <a:latin typeface="Times New Roman" panose="02020603050405020304" pitchFamily="18" charset="0"/>
                <a:cs typeface="Times New Roman" panose="02020603050405020304" pitchFamily="18" charset="0"/>
              </a:rPr>
              <a:t>echo</a:t>
            </a: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err="1">
                <a:solidFill>
                  <a:srgbClr val="000000"/>
                </a:solidFill>
                <a:effectLst/>
                <a:latin typeface="Times New Roman" panose="02020603050405020304" pitchFamily="18" charset="0"/>
                <a:cs typeface="Times New Roman" panose="02020603050405020304" pitchFamily="18" charset="0"/>
              </a:rPr>
              <a:t>readfile</a:t>
            </a:r>
            <a:r>
              <a:rPr lang="en-IN" b="0" i="0" dirty="0">
                <a:solidFill>
                  <a:srgbClr val="000000"/>
                </a:solidFill>
                <a:effectLst/>
                <a:latin typeface="Times New Roman" panose="02020603050405020304" pitchFamily="18" charset="0"/>
                <a:cs typeface="Times New Roman" panose="02020603050405020304" pitchFamily="18" charset="0"/>
              </a:rPr>
              <a:t>(</a:t>
            </a:r>
            <a:r>
              <a:rPr lang="en-IN" b="0" i="0" dirty="0">
                <a:solidFill>
                  <a:srgbClr val="A52A2A"/>
                </a:solidFill>
                <a:effectLst/>
                <a:latin typeface="Times New Roman" panose="02020603050405020304" pitchFamily="18" charset="0"/>
                <a:cs typeface="Times New Roman" panose="02020603050405020304" pitchFamily="18" charset="0"/>
              </a:rPr>
              <a:t>"webdictionary.txt"</a:t>
            </a:r>
            <a:r>
              <a:rPr lang="en-IN" b="0" i="0" dirty="0">
                <a:solidFill>
                  <a:srgbClr val="000000"/>
                </a:solidFill>
                <a:effectLst/>
                <a:latin typeface="Times New Roman" panose="02020603050405020304" pitchFamily="18" charset="0"/>
                <a:cs typeface="Times New Roman" panose="02020603050405020304" pitchFamily="18" charset="0"/>
              </a:rPr>
              <a:t>);</a:t>
            </a:r>
            <a:br>
              <a:rPr lang="en-IN" b="0" i="0" dirty="0">
                <a:solidFill>
                  <a:srgbClr val="000000"/>
                </a:solidFill>
                <a:effectLst/>
                <a:latin typeface="Times New Roman" panose="02020603050405020304" pitchFamily="18" charset="0"/>
                <a:cs typeface="Times New Roman" panose="02020603050405020304" pitchFamily="18" charset="0"/>
              </a:rPr>
            </a:br>
            <a:r>
              <a:rPr lang="en-IN" b="0" i="0" dirty="0">
                <a:solidFill>
                  <a:srgbClr val="FF0000"/>
                </a:solidFill>
                <a:effectLst/>
                <a:latin typeface="Times New Roman" panose="02020603050405020304" pitchFamily="18" charset="0"/>
                <a:cs typeface="Times New Roman" panose="02020603050405020304" pitchFamily="18" charset="0"/>
              </a:rPr>
              <a:t>?&gt;</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b="0" i="0" dirty="0">
                <a:solidFill>
                  <a:srgbClr val="0000CD"/>
                </a:solidFill>
                <a:effectLst/>
                <a:latin typeface="Times New Roman" panose="02020603050405020304" pitchFamily="18" charset="0"/>
                <a:cs typeface="Times New Roman" panose="02020603050405020304" pitchFamily="18" charset="0"/>
              </a:rPr>
              <a:t>&lt;</a:t>
            </a:r>
            <a:r>
              <a:rPr lang="en-IN" b="0" i="0" dirty="0">
                <a:solidFill>
                  <a:srgbClr val="A52A2A"/>
                </a:solidFill>
                <a:effectLst/>
                <a:latin typeface="Times New Roman" panose="02020603050405020304" pitchFamily="18" charset="0"/>
                <a:cs typeface="Times New Roman" panose="02020603050405020304" pitchFamily="18" charset="0"/>
              </a:rPr>
              <a:t>/body</a:t>
            </a:r>
            <a:r>
              <a:rPr lang="en-IN" b="0" i="0" dirty="0">
                <a:solidFill>
                  <a:srgbClr val="0000CD"/>
                </a:solidFill>
                <a:effectLst/>
                <a:latin typeface="Times New Roman" panose="02020603050405020304" pitchFamily="18" charset="0"/>
                <a:cs typeface="Times New Roman" panose="02020603050405020304" pitchFamily="18" charset="0"/>
              </a:rPr>
              <a:t>&gt;</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b="0" i="0" dirty="0">
                <a:solidFill>
                  <a:srgbClr val="0000CD"/>
                </a:solidFill>
                <a:effectLst/>
                <a:latin typeface="Times New Roman" panose="02020603050405020304" pitchFamily="18" charset="0"/>
                <a:cs typeface="Times New Roman" panose="02020603050405020304" pitchFamily="18" charset="0"/>
              </a:rPr>
              <a:t>&lt;</a:t>
            </a:r>
            <a:r>
              <a:rPr lang="en-IN" b="0" i="0" dirty="0">
                <a:solidFill>
                  <a:srgbClr val="A52A2A"/>
                </a:solidFill>
                <a:effectLst/>
                <a:latin typeface="Times New Roman" panose="02020603050405020304" pitchFamily="18" charset="0"/>
                <a:cs typeface="Times New Roman" panose="02020603050405020304" pitchFamily="18" charset="0"/>
              </a:rPr>
              <a:t>/html</a:t>
            </a:r>
            <a:r>
              <a:rPr lang="en-IN" b="0" i="0" dirty="0">
                <a:solidFill>
                  <a:srgbClr val="0000CD"/>
                </a:solidFill>
                <a:effectLst/>
                <a:latin typeface="Times New Roman" panose="02020603050405020304" pitchFamily="18" charset="0"/>
                <a:cs typeface="Times New Roman" panose="02020603050405020304" pitchFamily="18" charset="0"/>
              </a:rPr>
              <a:t>&gt;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73719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1CA34-11E5-1BF8-9EF2-A0E97FC7AA87}"/>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Output</a:t>
            </a:r>
          </a:p>
        </p:txBody>
      </p:sp>
      <p:sp>
        <p:nvSpPr>
          <p:cNvPr id="3" name="Content Placeholder 2">
            <a:extLst>
              <a:ext uri="{FF2B5EF4-FFF2-40B4-BE49-F238E27FC236}">
                <a16:creationId xmlns:a16="http://schemas.microsoft.com/office/drawing/2014/main" id="{E5DCC3CB-C918-FEBE-07CD-26652C6C1CB3}"/>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9194CC03-ED7C-3FCE-AC2C-24371AD5E00B}"/>
              </a:ext>
            </a:extLst>
          </p:cNvPr>
          <p:cNvPicPr>
            <a:picLocks noChangeAspect="1"/>
          </p:cNvPicPr>
          <p:nvPr/>
        </p:nvPicPr>
        <p:blipFill>
          <a:blip r:embed="rId2"/>
          <a:stretch>
            <a:fillRect/>
          </a:stretch>
        </p:blipFill>
        <p:spPr>
          <a:xfrm>
            <a:off x="838200" y="1825625"/>
            <a:ext cx="10429568" cy="2594139"/>
          </a:xfrm>
          <a:prstGeom prst="rect">
            <a:avLst/>
          </a:prstGeom>
        </p:spPr>
      </p:pic>
    </p:spTree>
    <p:extLst>
      <p:ext uri="{BB962C8B-B14F-4D97-AF65-F5344CB8AC3E}">
        <p14:creationId xmlns:p14="http://schemas.microsoft.com/office/powerpoint/2010/main" val="10946352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E1917-28E4-4B81-A638-EF59815F1FC3}"/>
              </a:ext>
            </a:extLst>
          </p:cNvPr>
          <p:cNvSpPr>
            <a:spLocks noGrp="1"/>
          </p:cNvSpPr>
          <p:nvPr>
            <p:ph type="title"/>
          </p:nvPr>
        </p:nvSpPr>
        <p:spPr/>
        <p:txBody>
          <a:bodyPr/>
          <a:lstStyle/>
          <a:p>
            <a:r>
              <a:rPr lang="en-IN" b="0" i="0" dirty="0">
                <a:solidFill>
                  <a:srgbClr val="000000"/>
                </a:solidFill>
                <a:effectLst/>
                <a:latin typeface="Times New Roman" panose="02020603050405020304" pitchFamily="18" charset="0"/>
                <a:cs typeface="Times New Roman" panose="02020603050405020304" pitchFamily="18" charset="0"/>
              </a:rPr>
              <a:t>PHP Open File - </a:t>
            </a:r>
            <a:r>
              <a:rPr lang="en-IN" b="0" i="0" dirty="0" err="1">
                <a:solidFill>
                  <a:srgbClr val="000000"/>
                </a:solidFill>
                <a:effectLst/>
                <a:latin typeface="Times New Roman" panose="02020603050405020304" pitchFamily="18" charset="0"/>
                <a:cs typeface="Times New Roman" panose="02020603050405020304" pitchFamily="18" charset="0"/>
              </a:rPr>
              <a:t>fopen</a:t>
            </a:r>
            <a:r>
              <a:rPr lang="en-IN" b="0" i="0" dirty="0">
                <a:solidFill>
                  <a:srgbClr val="000000"/>
                </a:solidFill>
                <a:effectLst/>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94EBBC3-328D-7856-9CB0-50A2F32307DB}"/>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A better method to open files is with the </a:t>
            </a:r>
            <a:r>
              <a:rPr lang="en-US" dirty="0" err="1">
                <a:latin typeface="Times New Roman" panose="02020603050405020304" pitchFamily="18" charset="0"/>
                <a:cs typeface="Times New Roman" panose="02020603050405020304" pitchFamily="18" charset="0"/>
              </a:rPr>
              <a:t>fopen</a:t>
            </a:r>
            <a:r>
              <a:rPr lang="en-US" dirty="0">
                <a:latin typeface="Times New Roman" panose="02020603050405020304" pitchFamily="18" charset="0"/>
                <a:cs typeface="Times New Roman" panose="02020603050405020304" pitchFamily="18" charset="0"/>
              </a:rPr>
              <a:t>() function. </a:t>
            </a:r>
          </a:p>
          <a:p>
            <a:pPr algn="just"/>
            <a:r>
              <a:rPr lang="en-US" dirty="0">
                <a:latin typeface="Times New Roman" panose="02020603050405020304" pitchFamily="18" charset="0"/>
                <a:cs typeface="Times New Roman" panose="02020603050405020304" pitchFamily="18" charset="0"/>
              </a:rPr>
              <a:t>This function gives you more options than the </a:t>
            </a:r>
            <a:r>
              <a:rPr lang="en-US" dirty="0" err="1">
                <a:latin typeface="Times New Roman" panose="02020603050405020304" pitchFamily="18" charset="0"/>
                <a:cs typeface="Times New Roman" panose="02020603050405020304" pitchFamily="18" charset="0"/>
              </a:rPr>
              <a:t>readfile</a:t>
            </a:r>
            <a:r>
              <a:rPr lang="en-US" dirty="0">
                <a:latin typeface="Times New Roman" panose="02020603050405020304" pitchFamily="18" charset="0"/>
                <a:cs typeface="Times New Roman" panose="02020603050405020304" pitchFamily="18" charset="0"/>
              </a:rPr>
              <a:t>() function.</a:t>
            </a:r>
          </a:p>
          <a:p>
            <a:pPr algn="just"/>
            <a:r>
              <a:rPr lang="en-US" dirty="0">
                <a:latin typeface="Times New Roman" panose="02020603050405020304" pitchFamily="18" charset="0"/>
                <a:cs typeface="Times New Roman" panose="02020603050405020304" pitchFamily="18" charset="0"/>
              </a:rPr>
              <a:t>The first parameter of </a:t>
            </a:r>
            <a:r>
              <a:rPr lang="en-US" dirty="0" err="1">
                <a:latin typeface="Times New Roman" panose="02020603050405020304" pitchFamily="18" charset="0"/>
                <a:cs typeface="Times New Roman" panose="02020603050405020304" pitchFamily="18" charset="0"/>
              </a:rPr>
              <a:t>fopen</a:t>
            </a:r>
            <a:r>
              <a:rPr lang="en-US" dirty="0">
                <a:latin typeface="Times New Roman" panose="02020603050405020304" pitchFamily="18" charset="0"/>
                <a:cs typeface="Times New Roman" panose="02020603050405020304" pitchFamily="18" charset="0"/>
              </a:rPr>
              <a:t>() contains the name of the file to be opened and the second parameter specifies in which mode the file should be opened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51751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7C7C0-077A-1FBB-6D8B-778A2CEB04AC}"/>
              </a:ext>
            </a:extLst>
          </p:cNvPr>
          <p:cNvSpPr>
            <a:spLocks noGrp="1"/>
          </p:cNvSpPr>
          <p:nvPr>
            <p:ph type="title"/>
          </p:nvPr>
        </p:nvSpPr>
        <p:spPr/>
        <p:txBody>
          <a:bodyPr/>
          <a:lstStyle/>
          <a:p>
            <a:r>
              <a:rPr lang="en-IN" b="0" i="0" dirty="0">
                <a:solidFill>
                  <a:srgbClr val="000000"/>
                </a:solidFill>
                <a:effectLst/>
                <a:latin typeface="Times New Roman" panose="02020603050405020304" pitchFamily="18" charset="0"/>
                <a:cs typeface="Times New Roman" panose="02020603050405020304" pitchFamily="18" charset="0"/>
              </a:rPr>
              <a:t>Example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887BA2A-10B5-BE10-D48E-A0650919EE16}"/>
              </a:ext>
            </a:extLst>
          </p:cNvPr>
          <p:cNvSpPr>
            <a:spLocks noGrp="1"/>
          </p:cNvSpPr>
          <p:nvPr>
            <p:ph idx="1"/>
          </p:nvPr>
        </p:nvSpPr>
        <p:spPr/>
        <p:txBody>
          <a:bodyPr>
            <a:normAutofit fontScale="92500" lnSpcReduction="10000"/>
          </a:bodyPr>
          <a:lstStyle/>
          <a:p>
            <a:pPr marL="0" indent="0">
              <a:buNone/>
            </a:pPr>
            <a:r>
              <a:rPr lang="en-IN" b="0" i="0" dirty="0">
                <a:solidFill>
                  <a:srgbClr val="0000CD"/>
                </a:solidFill>
                <a:effectLst/>
                <a:latin typeface="Times New Roman" panose="02020603050405020304" pitchFamily="18" charset="0"/>
                <a:cs typeface="Times New Roman" panose="02020603050405020304" pitchFamily="18" charset="0"/>
              </a:rPr>
              <a:t>&lt;</a:t>
            </a:r>
            <a:r>
              <a:rPr lang="en-IN" b="0" i="0" dirty="0">
                <a:solidFill>
                  <a:srgbClr val="A52A2A"/>
                </a:solidFill>
                <a:effectLst/>
                <a:latin typeface="Times New Roman" panose="02020603050405020304" pitchFamily="18" charset="0"/>
                <a:cs typeface="Times New Roman" panose="02020603050405020304" pitchFamily="18" charset="0"/>
              </a:rPr>
              <a:t>!DOCTYPE</a:t>
            </a:r>
            <a:r>
              <a:rPr lang="en-IN" b="0" i="0" dirty="0">
                <a:solidFill>
                  <a:srgbClr val="FF0000"/>
                </a:solidFill>
                <a:effectLst/>
                <a:latin typeface="Times New Roman" panose="02020603050405020304" pitchFamily="18" charset="0"/>
                <a:cs typeface="Times New Roman" panose="02020603050405020304" pitchFamily="18" charset="0"/>
              </a:rPr>
              <a:t> html</a:t>
            </a:r>
            <a:r>
              <a:rPr lang="en-IN" b="0" i="0" dirty="0">
                <a:solidFill>
                  <a:srgbClr val="0000CD"/>
                </a:solidFill>
                <a:effectLst/>
                <a:latin typeface="Times New Roman" panose="02020603050405020304" pitchFamily="18" charset="0"/>
                <a:cs typeface="Times New Roman" panose="02020603050405020304" pitchFamily="18" charset="0"/>
              </a:rPr>
              <a:t>&gt;</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b="0" i="0" dirty="0">
                <a:solidFill>
                  <a:srgbClr val="0000CD"/>
                </a:solidFill>
                <a:effectLst/>
                <a:latin typeface="Times New Roman" panose="02020603050405020304" pitchFamily="18" charset="0"/>
                <a:cs typeface="Times New Roman" panose="02020603050405020304" pitchFamily="18" charset="0"/>
              </a:rPr>
              <a:t>&lt;</a:t>
            </a:r>
            <a:r>
              <a:rPr lang="en-IN" b="0" i="0" dirty="0">
                <a:solidFill>
                  <a:srgbClr val="A52A2A"/>
                </a:solidFill>
                <a:effectLst/>
                <a:latin typeface="Times New Roman" panose="02020603050405020304" pitchFamily="18" charset="0"/>
                <a:cs typeface="Times New Roman" panose="02020603050405020304" pitchFamily="18" charset="0"/>
              </a:rPr>
              <a:t>html</a:t>
            </a:r>
            <a:r>
              <a:rPr lang="en-IN" b="0" i="0" dirty="0">
                <a:solidFill>
                  <a:srgbClr val="0000CD"/>
                </a:solidFill>
                <a:effectLst/>
                <a:latin typeface="Times New Roman" panose="02020603050405020304" pitchFamily="18" charset="0"/>
                <a:cs typeface="Times New Roman" panose="02020603050405020304" pitchFamily="18" charset="0"/>
              </a:rPr>
              <a:t>&gt;</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b="0" i="0" dirty="0">
                <a:solidFill>
                  <a:srgbClr val="0000CD"/>
                </a:solidFill>
                <a:effectLst/>
                <a:latin typeface="Times New Roman" panose="02020603050405020304" pitchFamily="18" charset="0"/>
                <a:cs typeface="Times New Roman" panose="02020603050405020304" pitchFamily="18" charset="0"/>
              </a:rPr>
              <a:t>&lt;</a:t>
            </a:r>
            <a:r>
              <a:rPr lang="en-IN" b="0" i="0" dirty="0">
                <a:solidFill>
                  <a:srgbClr val="A52A2A"/>
                </a:solidFill>
                <a:effectLst/>
                <a:latin typeface="Times New Roman" panose="02020603050405020304" pitchFamily="18" charset="0"/>
                <a:cs typeface="Times New Roman" panose="02020603050405020304" pitchFamily="18" charset="0"/>
              </a:rPr>
              <a:t>body</a:t>
            </a:r>
            <a:r>
              <a:rPr lang="en-IN" b="0" i="0" dirty="0">
                <a:solidFill>
                  <a:srgbClr val="0000CD"/>
                </a:solidFill>
                <a:effectLst/>
                <a:latin typeface="Times New Roman" panose="02020603050405020304" pitchFamily="18" charset="0"/>
                <a:cs typeface="Times New Roman" panose="02020603050405020304" pitchFamily="18" charset="0"/>
              </a:rPr>
              <a:t>&gt;</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b="0" i="0" dirty="0">
                <a:solidFill>
                  <a:srgbClr val="FF0000"/>
                </a:solidFill>
                <a:effectLst/>
                <a:latin typeface="Times New Roman" panose="02020603050405020304" pitchFamily="18" charset="0"/>
                <a:cs typeface="Times New Roman" panose="02020603050405020304" pitchFamily="18" charset="0"/>
              </a:rPr>
              <a:t>&lt;?</a:t>
            </a:r>
            <a:r>
              <a:rPr lang="en-IN" b="0" i="0" dirty="0" err="1">
                <a:solidFill>
                  <a:srgbClr val="FF0000"/>
                </a:solidFill>
                <a:effectLst/>
                <a:latin typeface="Times New Roman" panose="02020603050405020304" pitchFamily="18" charset="0"/>
                <a:cs typeface="Times New Roman" panose="02020603050405020304" pitchFamily="18" charset="0"/>
              </a:rPr>
              <a:t>php</a:t>
            </a:r>
            <a:r>
              <a:rPr lang="en-IN" b="0" i="0" dirty="0">
                <a:solidFill>
                  <a:srgbClr val="000000"/>
                </a:solidFill>
                <a:effectLst/>
                <a:latin typeface="Times New Roman" panose="02020603050405020304" pitchFamily="18" charset="0"/>
                <a:cs typeface="Times New Roman" panose="02020603050405020304" pitchFamily="18" charset="0"/>
              </a:rPr>
              <a:t/>
            </a:r>
            <a:br>
              <a:rPr lang="en-IN" b="0" i="0" dirty="0">
                <a:solidFill>
                  <a:srgbClr val="000000"/>
                </a:solidFill>
                <a:effectLst/>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a:t>
            </a:r>
            <a:r>
              <a:rPr lang="en-IN" b="0" i="0" dirty="0" err="1">
                <a:solidFill>
                  <a:srgbClr val="000000"/>
                </a:solidFill>
                <a:effectLst/>
                <a:latin typeface="Times New Roman" panose="02020603050405020304" pitchFamily="18" charset="0"/>
                <a:cs typeface="Times New Roman" panose="02020603050405020304" pitchFamily="18" charset="0"/>
              </a:rPr>
              <a:t>myfile</a:t>
            </a:r>
            <a:r>
              <a:rPr lang="en-IN" b="0" i="0" dirty="0">
                <a:solidFill>
                  <a:srgbClr val="000000"/>
                </a:solidFill>
                <a:effectLst/>
                <a:latin typeface="Times New Roman" panose="02020603050405020304" pitchFamily="18" charset="0"/>
                <a:cs typeface="Times New Roman" panose="02020603050405020304" pitchFamily="18" charset="0"/>
              </a:rPr>
              <a:t> = </a:t>
            </a:r>
            <a:r>
              <a:rPr lang="en-IN" b="0" i="0" dirty="0" err="1">
                <a:solidFill>
                  <a:srgbClr val="000000"/>
                </a:solidFill>
                <a:effectLst/>
                <a:latin typeface="Times New Roman" panose="02020603050405020304" pitchFamily="18" charset="0"/>
                <a:cs typeface="Times New Roman" panose="02020603050405020304" pitchFamily="18" charset="0"/>
              </a:rPr>
              <a:t>fopen</a:t>
            </a:r>
            <a:r>
              <a:rPr lang="en-IN" b="0" i="0" dirty="0">
                <a:solidFill>
                  <a:srgbClr val="000000"/>
                </a:solidFill>
                <a:effectLst/>
                <a:latin typeface="Times New Roman" panose="02020603050405020304" pitchFamily="18" charset="0"/>
                <a:cs typeface="Times New Roman" panose="02020603050405020304" pitchFamily="18" charset="0"/>
              </a:rPr>
              <a:t>(</a:t>
            </a:r>
            <a:r>
              <a:rPr lang="en-IN" b="0" i="0" dirty="0">
                <a:solidFill>
                  <a:srgbClr val="A52A2A"/>
                </a:solidFill>
                <a:effectLst/>
                <a:latin typeface="Times New Roman" panose="02020603050405020304" pitchFamily="18" charset="0"/>
                <a:cs typeface="Times New Roman" panose="02020603050405020304" pitchFamily="18" charset="0"/>
              </a:rPr>
              <a:t>"webdictionary.txt"</a:t>
            </a: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a:solidFill>
                  <a:srgbClr val="A52A2A"/>
                </a:solidFill>
                <a:effectLst/>
                <a:latin typeface="Times New Roman" panose="02020603050405020304" pitchFamily="18" charset="0"/>
                <a:cs typeface="Times New Roman" panose="02020603050405020304" pitchFamily="18" charset="0"/>
              </a:rPr>
              <a:t>"r"</a:t>
            </a: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a:solidFill>
                  <a:srgbClr val="0000CD"/>
                </a:solidFill>
                <a:effectLst/>
                <a:latin typeface="Times New Roman" panose="02020603050405020304" pitchFamily="18" charset="0"/>
                <a:cs typeface="Times New Roman" panose="02020603050405020304" pitchFamily="18" charset="0"/>
              </a:rPr>
              <a:t>or</a:t>
            </a: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a:solidFill>
                  <a:srgbClr val="0000CD"/>
                </a:solidFill>
                <a:effectLst/>
                <a:latin typeface="Times New Roman" panose="02020603050405020304" pitchFamily="18" charset="0"/>
                <a:cs typeface="Times New Roman" panose="02020603050405020304" pitchFamily="18" charset="0"/>
              </a:rPr>
              <a:t>die</a:t>
            </a:r>
            <a:r>
              <a:rPr lang="en-IN" b="0" i="0" dirty="0">
                <a:solidFill>
                  <a:srgbClr val="000000"/>
                </a:solidFill>
                <a:effectLst/>
                <a:latin typeface="Times New Roman" panose="02020603050405020304" pitchFamily="18" charset="0"/>
                <a:cs typeface="Times New Roman" panose="02020603050405020304" pitchFamily="18" charset="0"/>
              </a:rPr>
              <a:t>(</a:t>
            </a:r>
            <a:r>
              <a:rPr lang="en-IN" b="0" i="0" dirty="0">
                <a:solidFill>
                  <a:srgbClr val="A52A2A"/>
                </a:solidFill>
                <a:effectLst/>
                <a:latin typeface="Times New Roman" panose="02020603050405020304" pitchFamily="18" charset="0"/>
                <a:cs typeface="Times New Roman" panose="02020603050405020304" pitchFamily="18" charset="0"/>
              </a:rPr>
              <a:t>"Unable to open file!"</a:t>
            </a:r>
            <a:r>
              <a:rPr lang="en-IN" b="0" i="0" dirty="0">
                <a:solidFill>
                  <a:srgbClr val="000000"/>
                </a:solidFill>
                <a:effectLst/>
                <a:latin typeface="Times New Roman" panose="02020603050405020304" pitchFamily="18" charset="0"/>
                <a:cs typeface="Times New Roman" panose="02020603050405020304" pitchFamily="18" charset="0"/>
              </a:rPr>
              <a:t>);</a:t>
            </a:r>
            <a:br>
              <a:rPr lang="en-IN" b="0" i="0" dirty="0">
                <a:solidFill>
                  <a:srgbClr val="000000"/>
                </a:solidFill>
                <a:effectLst/>
                <a:latin typeface="Times New Roman" panose="02020603050405020304" pitchFamily="18" charset="0"/>
                <a:cs typeface="Times New Roman" panose="02020603050405020304" pitchFamily="18" charset="0"/>
              </a:rPr>
            </a:br>
            <a:r>
              <a:rPr lang="en-IN" b="0" i="0" dirty="0">
                <a:solidFill>
                  <a:srgbClr val="0000CD"/>
                </a:solidFill>
                <a:effectLst/>
                <a:latin typeface="Times New Roman" panose="02020603050405020304" pitchFamily="18" charset="0"/>
                <a:cs typeface="Times New Roman" panose="02020603050405020304" pitchFamily="18" charset="0"/>
              </a:rPr>
              <a:t>echo</a:t>
            </a: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err="1">
                <a:solidFill>
                  <a:srgbClr val="000000"/>
                </a:solidFill>
                <a:effectLst/>
                <a:latin typeface="Times New Roman" panose="02020603050405020304" pitchFamily="18" charset="0"/>
                <a:cs typeface="Times New Roman" panose="02020603050405020304" pitchFamily="18" charset="0"/>
              </a:rPr>
              <a:t>fread</a:t>
            </a:r>
            <a:r>
              <a:rPr lang="en-IN" b="0" i="0" dirty="0">
                <a:solidFill>
                  <a:srgbClr val="000000"/>
                </a:solidFill>
                <a:effectLst/>
                <a:latin typeface="Times New Roman" panose="02020603050405020304" pitchFamily="18" charset="0"/>
                <a:cs typeface="Times New Roman" panose="02020603050405020304" pitchFamily="18" charset="0"/>
              </a:rPr>
              <a:t>($</a:t>
            </a:r>
            <a:r>
              <a:rPr lang="en-IN" b="0" i="0" dirty="0" err="1">
                <a:solidFill>
                  <a:srgbClr val="000000"/>
                </a:solidFill>
                <a:effectLst/>
                <a:latin typeface="Times New Roman" panose="02020603050405020304" pitchFamily="18" charset="0"/>
                <a:cs typeface="Times New Roman" panose="02020603050405020304" pitchFamily="18" charset="0"/>
              </a:rPr>
              <a:t>myfile,filesize</a:t>
            </a:r>
            <a:r>
              <a:rPr lang="en-IN" b="0" i="0" dirty="0">
                <a:solidFill>
                  <a:srgbClr val="000000"/>
                </a:solidFill>
                <a:effectLst/>
                <a:latin typeface="Times New Roman" panose="02020603050405020304" pitchFamily="18" charset="0"/>
                <a:cs typeface="Times New Roman" panose="02020603050405020304" pitchFamily="18" charset="0"/>
              </a:rPr>
              <a:t>(</a:t>
            </a:r>
            <a:r>
              <a:rPr lang="en-IN" b="0" i="0" dirty="0">
                <a:solidFill>
                  <a:srgbClr val="A52A2A"/>
                </a:solidFill>
                <a:effectLst/>
                <a:latin typeface="Times New Roman" panose="02020603050405020304" pitchFamily="18" charset="0"/>
                <a:cs typeface="Times New Roman" panose="02020603050405020304" pitchFamily="18" charset="0"/>
              </a:rPr>
              <a:t>"webdictionary.txt"</a:t>
            </a:r>
            <a:r>
              <a:rPr lang="en-IN" b="0" i="0" dirty="0">
                <a:solidFill>
                  <a:srgbClr val="000000"/>
                </a:solidFill>
                <a:effectLst/>
                <a:latin typeface="Times New Roman" panose="02020603050405020304" pitchFamily="18" charset="0"/>
                <a:cs typeface="Times New Roman" panose="02020603050405020304" pitchFamily="18" charset="0"/>
              </a:rPr>
              <a:t>));</a:t>
            </a:r>
            <a:br>
              <a:rPr lang="en-IN" b="0" i="0" dirty="0">
                <a:solidFill>
                  <a:srgbClr val="000000"/>
                </a:solidFill>
                <a:effectLst/>
                <a:latin typeface="Times New Roman" panose="02020603050405020304" pitchFamily="18" charset="0"/>
                <a:cs typeface="Times New Roman" panose="02020603050405020304" pitchFamily="18" charset="0"/>
              </a:rPr>
            </a:br>
            <a:r>
              <a:rPr lang="en-IN" b="0" i="0" dirty="0" err="1">
                <a:solidFill>
                  <a:srgbClr val="000000"/>
                </a:solidFill>
                <a:effectLst/>
                <a:latin typeface="Times New Roman" panose="02020603050405020304" pitchFamily="18" charset="0"/>
                <a:cs typeface="Times New Roman" panose="02020603050405020304" pitchFamily="18" charset="0"/>
              </a:rPr>
              <a:t>fclose</a:t>
            </a:r>
            <a:r>
              <a:rPr lang="en-IN" b="0" i="0" dirty="0">
                <a:solidFill>
                  <a:srgbClr val="000000"/>
                </a:solidFill>
                <a:effectLst/>
                <a:latin typeface="Times New Roman" panose="02020603050405020304" pitchFamily="18" charset="0"/>
                <a:cs typeface="Times New Roman" panose="02020603050405020304" pitchFamily="18" charset="0"/>
              </a:rPr>
              <a:t>($</a:t>
            </a:r>
            <a:r>
              <a:rPr lang="en-IN" b="0" i="0" dirty="0" err="1">
                <a:solidFill>
                  <a:srgbClr val="000000"/>
                </a:solidFill>
                <a:effectLst/>
                <a:latin typeface="Times New Roman" panose="02020603050405020304" pitchFamily="18" charset="0"/>
                <a:cs typeface="Times New Roman" panose="02020603050405020304" pitchFamily="18" charset="0"/>
              </a:rPr>
              <a:t>myfile</a:t>
            </a:r>
            <a:r>
              <a:rPr lang="en-IN" b="0" i="0" dirty="0">
                <a:solidFill>
                  <a:srgbClr val="000000"/>
                </a:solidFill>
                <a:effectLst/>
                <a:latin typeface="Times New Roman" panose="02020603050405020304" pitchFamily="18" charset="0"/>
                <a:cs typeface="Times New Roman" panose="02020603050405020304" pitchFamily="18" charset="0"/>
              </a:rPr>
              <a:t>);</a:t>
            </a:r>
            <a:br>
              <a:rPr lang="en-IN" b="0" i="0" dirty="0">
                <a:solidFill>
                  <a:srgbClr val="000000"/>
                </a:solidFill>
                <a:effectLst/>
                <a:latin typeface="Times New Roman" panose="02020603050405020304" pitchFamily="18" charset="0"/>
                <a:cs typeface="Times New Roman" panose="02020603050405020304" pitchFamily="18" charset="0"/>
              </a:rPr>
            </a:br>
            <a:r>
              <a:rPr lang="en-IN" b="0" i="0" dirty="0">
                <a:solidFill>
                  <a:srgbClr val="FF0000"/>
                </a:solidFill>
                <a:effectLst/>
                <a:latin typeface="Times New Roman" panose="02020603050405020304" pitchFamily="18" charset="0"/>
                <a:cs typeface="Times New Roman" panose="02020603050405020304" pitchFamily="18" charset="0"/>
              </a:rPr>
              <a:t>?&gt;</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b="0" i="0" dirty="0">
                <a:solidFill>
                  <a:srgbClr val="0000CD"/>
                </a:solidFill>
                <a:effectLst/>
                <a:latin typeface="Times New Roman" panose="02020603050405020304" pitchFamily="18" charset="0"/>
                <a:cs typeface="Times New Roman" panose="02020603050405020304" pitchFamily="18" charset="0"/>
              </a:rPr>
              <a:t>&lt;</a:t>
            </a:r>
            <a:r>
              <a:rPr lang="en-IN" b="0" i="0" dirty="0">
                <a:solidFill>
                  <a:srgbClr val="A52A2A"/>
                </a:solidFill>
                <a:effectLst/>
                <a:latin typeface="Times New Roman" panose="02020603050405020304" pitchFamily="18" charset="0"/>
                <a:cs typeface="Times New Roman" panose="02020603050405020304" pitchFamily="18" charset="0"/>
              </a:rPr>
              <a:t>/body</a:t>
            </a:r>
            <a:r>
              <a:rPr lang="en-IN" b="0" i="0" dirty="0">
                <a:solidFill>
                  <a:srgbClr val="0000CD"/>
                </a:solidFill>
                <a:effectLst/>
                <a:latin typeface="Times New Roman" panose="02020603050405020304" pitchFamily="18" charset="0"/>
                <a:cs typeface="Times New Roman" panose="02020603050405020304" pitchFamily="18" charset="0"/>
              </a:rPr>
              <a:t>&gt;</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b="0" i="0" dirty="0">
                <a:solidFill>
                  <a:srgbClr val="0000CD"/>
                </a:solidFill>
                <a:effectLst/>
                <a:latin typeface="Times New Roman" panose="02020603050405020304" pitchFamily="18" charset="0"/>
                <a:cs typeface="Times New Roman" panose="02020603050405020304" pitchFamily="18" charset="0"/>
              </a:rPr>
              <a:t>&lt;</a:t>
            </a:r>
            <a:r>
              <a:rPr lang="en-IN" b="0" i="0" dirty="0">
                <a:solidFill>
                  <a:srgbClr val="A52A2A"/>
                </a:solidFill>
                <a:effectLst/>
                <a:latin typeface="Times New Roman" panose="02020603050405020304" pitchFamily="18" charset="0"/>
                <a:cs typeface="Times New Roman" panose="02020603050405020304" pitchFamily="18" charset="0"/>
              </a:rPr>
              <a:t>/html</a:t>
            </a:r>
            <a:r>
              <a:rPr lang="en-IN" b="0" i="0" dirty="0">
                <a:solidFill>
                  <a:srgbClr val="0000CD"/>
                </a:solidFill>
                <a:effectLst/>
                <a:latin typeface="Times New Roman" panose="02020603050405020304" pitchFamily="18" charset="0"/>
                <a:cs typeface="Times New Roman" panose="02020603050405020304" pitchFamily="18" charset="0"/>
              </a:rPr>
              <a:t>&gt;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28190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B1F8F-57C6-6D59-7575-AF161DF11E62}"/>
              </a:ext>
            </a:extLst>
          </p:cNvPr>
          <p:cNvSpPr>
            <a:spLocks noGrp="1"/>
          </p:cNvSpPr>
          <p:nvPr>
            <p:ph type="title"/>
          </p:nvPr>
        </p:nvSpPr>
        <p:spPr/>
        <p:txBody>
          <a:bodyPr>
            <a:normAutofit/>
          </a:bodyPr>
          <a:lstStyle/>
          <a:p>
            <a:r>
              <a:rPr lang="en-US" sz="3600" b="0" i="0" dirty="0">
                <a:solidFill>
                  <a:srgbClr val="000000"/>
                </a:solidFill>
                <a:effectLst/>
                <a:latin typeface="Times New Roman" panose="02020603050405020304" pitchFamily="18" charset="0"/>
                <a:cs typeface="Times New Roman" panose="02020603050405020304" pitchFamily="18" charset="0"/>
              </a:rPr>
              <a:t>The file may be opened in one of the following modes:</a:t>
            </a:r>
            <a:endParaRPr lang="en-IN" sz="3600"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3DB32DC9-2CBB-EEA9-2EC6-CE4C9C9E533A}"/>
              </a:ext>
            </a:extLst>
          </p:cNvPr>
          <p:cNvGraphicFramePr>
            <a:graphicFrameLocks noGrp="1"/>
          </p:cNvGraphicFramePr>
          <p:nvPr>
            <p:ph idx="1"/>
            <p:extLst>
              <p:ext uri="{D42A27DB-BD31-4B8C-83A1-F6EECF244321}">
                <p14:modId xmlns:p14="http://schemas.microsoft.com/office/powerpoint/2010/main" val="3677499214"/>
              </p:ext>
            </p:extLst>
          </p:nvPr>
        </p:nvGraphicFramePr>
        <p:xfrm>
          <a:off x="1081548" y="1474436"/>
          <a:ext cx="9930581" cy="5436646"/>
        </p:xfrm>
        <a:graphic>
          <a:graphicData uri="http://schemas.openxmlformats.org/drawingml/2006/table">
            <a:tbl>
              <a:tblPr/>
              <a:tblGrid>
                <a:gridCol w="1367841">
                  <a:extLst>
                    <a:ext uri="{9D8B030D-6E8A-4147-A177-3AD203B41FA5}">
                      <a16:colId xmlns:a16="http://schemas.microsoft.com/office/drawing/2014/main" val="359729341"/>
                    </a:ext>
                  </a:extLst>
                </a:gridCol>
                <a:gridCol w="8562740">
                  <a:extLst>
                    <a:ext uri="{9D8B030D-6E8A-4147-A177-3AD203B41FA5}">
                      <a16:colId xmlns:a16="http://schemas.microsoft.com/office/drawing/2014/main" val="2900967400"/>
                    </a:ext>
                  </a:extLst>
                </a:gridCol>
              </a:tblGrid>
              <a:tr h="383852">
                <a:tc>
                  <a:txBody>
                    <a:bodyPr/>
                    <a:lstStyle/>
                    <a:p>
                      <a:pPr algn="l" fontAlgn="t"/>
                      <a:r>
                        <a:rPr lang="en-IN" sz="2000">
                          <a:effectLst/>
                          <a:latin typeface="Times New Roman" panose="02020603050405020304" pitchFamily="18" charset="0"/>
                          <a:cs typeface="Times New Roman" panose="02020603050405020304" pitchFamily="18" charset="0"/>
                        </a:rPr>
                        <a:t>Modes</a:t>
                      </a:r>
                    </a:p>
                  </a:txBody>
                  <a:tcPr marL="58604" marR="29302" marT="29302" marB="2930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2000">
                          <a:effectLst/>
                          <a:latin typeface="Times New Roman" panose="02020603050405020304" pitchFamily="18" charset="0"/>
                          <a:cs typeface="Times New Roman" panose="02020603050405020304" pitchFamily="18" charset="0"/>
                        </a:rPr>
                        <a:t>Description</a:t>
                      </a:r>
                    </a:p>
                  </a:txBody>
                  <a:tcPr marL="29302" marR="29302" marT="29302" marB="2930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4266769154"/>
                  </a:ext>
                </a:extLst>
              </a:tr>
              <a:tr h="383852">
                <a:tc>
                  <a:txBody>
                    <a:bodyPr/>
                    <a:lstStyle/>
                    <a:p>
                      <a:pPr algn="l" fontAlgn="t"/>
                      <a:r>
                        <a:rPr lang="en-IN" sz="2000">
                          <a:effectLst/>
                          <a:latin typeface="Times New Roman" panose="02020603050405020304" pitchFamily="18" charset="0"/>
                          <a:cs typeface="Times New Roman" panose="02020603050405020304" pitchFamily="18" charset="0"/>
                        </a:rPr>
                        <a:t>r</a:t>
                      </a:r>
                    </a:p>
                  </a:txBody>
                  <a:tcPr marL="58604" marR="29302" marT="29302" marB="2930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2000" b="1">
                          <a:effectLst/>
                          <a:latin typeface="Times New Roman" panose="02020603050405020304" pitchFamily="18" charset="0"/>
                          <a:cs typeface="Times New Roman" panose="02020603050405020304" pitchFamily="18" charset="0"/>
                        </a:rPr>
                        <a:t>Open a file for read only</a:t>
                      </a:r>
                      <a:r>
                        <a:rPr lang="en-US" sz="2000">
                          <a:effectLst/>
                          <a:latin typeface="Times New Roman" panose="02020603050405020304" pitchFamily="18" charset="0"/>
                          <a:cs typeface="Times New Roman" panose="02020603050405020304" pitchFamily="18" charset="0"/>
                        </a:rPr>
                        <a:t>. File pointer starts at the beginning of the file</a:t>
                      </a:r>
                    </a:p>
                  </a:txBody>
                  <a:tcPr marL="29302" marR="29302" marT="29302" marB="2930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4105727783"/>
                  </a:ext>
                </a:extLst>
              </a:tr>
              <a:tr h="697913">
                <a:tc>
                  <a:txBody>
                    <a:bodyPr/>
                    <a:lstStyle/>
                    <a:p>
                      <a:pPr algn="l" fontAlgn="t"/>
                      <a:r>
                        <a:rPr lang="en-IN" sz="2000">
                          <a:effectLst/>
                          <a:latin typeface="Times New Roman" panose="02020603050405020304" pitchFamily="18" charset="0"/>
                          <a:cs typeface="Times New Roman" panose="02020603050405020304" pitchFamily="18" charset="0"/>
                        </a:rPr>
                        <a:t>w</a:t>
                      </a:r>
                    </a:p>
                  </a:txBody>
                  <a:tcPr marL="58604" marR="29302" marT="29302" marB="2930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2000" b="1">
                          <a:effectLst/>
                          <a:latin typeface="Times New Roman" panose="02020603050405020304" pitchFamily="18" charset="0"/>
                          <a:cs typeface="Times New Roman" panose="02020603050405020304" pitchFamily="18" charset="0"/>
                        </a:rPr>
                        <a:t>Open a file for write only</a:t>
                      </a:r>
                      <a:r>
                        <a:rPr lang="en-US" sz="2000">
                          <a:effectLst/>
                          <a:latin typeface="Times New Roman" panose="02020603050405020304" pitchFamily="18" charset="0"/>
                          <a:cs typeface="Times New Roman" panose="02020603050405020304" pitchFamily="18" charset="0"/>
                        </a:rPr>
                        <a:t>. Erases the contents of the file or creates a new file if it doesn't exist. File pointer starts at the beginning of the file</a:t>
                      </a:r>
                    </a:p>
                  </a:txBody>
                  <a:tcPr marL="29302" marR="29302" marT="29302" marB="2930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294645335"/>
                  </a:ext>
                </a:extLst>
              </a:tr>
              <a:tr h="697913">
                <a:tc>
                  <a:txBody>
                    <a:bodyPr/>
                    <a:lstStyle/>
                    <a:p>
                      <a:pPr algn="l" fontAlgn="t"/>
                      <a:r>
                        <a:rPr lang="en-IN" sz="2000">
                          <a:effectLst/>
                          <a:latin typeface="Times New Roman" panose="02020603050405020304" pitchFamily="18" charset="0"/>
                          <a:cs typeface="Times New Roman" panose="02020603050405020304" pitchFamily="18" charset="0"/>
                        </a:rPr>
                        <a:t>a</a:t>
                      </a:r>
                    </a:p>
                  </a:txBody>
                  <a:tcPr marL="58604" marR="29302" marT="29302" marB="2930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2000" b="1" dirty="0">
                          <a:effectLst/>
                          <a:latin typeface="Times New Roman" panose="02020603050405020304" pitchFamily="18" charset="0"/>
                          <a:cs typeface="Times New Roman" panose="02020603050405020304" pitchFamily="18" charset="0"/>
                        </a:rPr>
                        <a:t>Open a file for write only</a:t>
                      </a:r>
                      <a:r>
                        <a:rPr lang="en-US" sz="2000" dirty="0">
                          <a:effectLst/>
                          <a:latin typeface="Times New Roman" panose="02020603050405020304" pitchFamily="18" charset="0"/>
                          <a:cs typeface="Times New Roman" panose="02020603050405020304" pitchFamily="18" charset="0"/>
                        </a:rPr>
                        <a:t>. The existing data in file is preserved. File pointer starts at the end of the file. Creates a new file if the file doesn't exist</a:t>
                      </a:r>
                    </a:p>
                  </a:txBody>
                  <a:tcPr marL="29302" marR="29302" marT="29302" marB="2930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2715540913"/>
                  </a:ext>
                </a:extLst>
              </a:tr>
              <a:tr h="540883">
                <a:tc>
                  <a:txBody>
                    <a:bodyPr/>
                    <a:lstStyle/>
                    <a:p>
                      <a:pPr algn="l" fontAlgn="t"/>
                      <a:r>
                        <a:rPr lang="en-IN" sz="2000">
                          <a:effectLst/>
                          <a:latin typeface="Times New Roman" panose="02020603050405020304" pitchFamily="18" charset="0"/>
                          <a:cs typeface="Times New Roman" panose="02020603050405020304" pitchFamily="18" charset="0"/>
                        </a:rPr>
                        <a:t>x</a:t>
                      </a:r>
                    </a:p>
                  </a:txBody>
                  <a:tcPr marL="58604" marR="29302" marT="29302" marB="2930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2000" b="1">
                          <a:effectLst/>
                          <a:latin typeface="Times New Roman" panose="02020603050405020304" pitchFamily="18" charset="0"/>
                          <a:cs typeface="Times New Roman" panose="02020603050405020304" pitchFamily="18" charset="0"/>
                        </a:rPr>
                        <a:t>Creates a new file for write only</a:t>
                      </a:r>
                      <a:r>
                        <a:rPr lang="en-US" sz="2000">
                          <a:effectLst/>
                          <a:latin typeface="Times New Roman" panose="02020603050405020304" pitchFamily="18" charset="0"/>
                          <a:cs typeface="Times New Roman" panose="02020603050405020304" pitchFamily="18" charset="0"/>
                        </a:rPr>
                        <a:t>. Returns FALSE and an error if file already exists</a:t>
                      </a:r>
                    </a:p>
                  </a:txBody>
                  <a:tcPr marL="29302" marR="29302" marT="29302" marB="2930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4036600532"/>
                  </a:ext>
                </a:extLst>
              </a:tr>
              <a:tr h="383852">
                <a:tc>
                  <a:txBody>
                    <a:bodyPr/>
                    <a:lstStyle/>
                    <a:p>
                      <a:pPr algn="l" fontAlgn="t"/>
                      <a:r>
                        <a:rPr lang="en-IN" sz="2000">
                          <a:effectLst/>
                          <a:latin typeface="Times New Roman" panose="02020603050405020304" pitchFamily="18" charset="0"/>
                          <a:cs typeface="Times New Roman" panose="02020603050405020304" pitchFamily="18" charset="0"/>
                        </a:rPr>
                        <a:t>r+</a:t>
                      </a:r>
                    </a:p>
                  </a:txBody>
                  <a:tcPr marL="58604" marR="29302" marT="29302" marB="2930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2000" b="1">
                          <a:effectLst/>
                          <a:latin typeface="Times New Roman" panose="02020603050405020304" pitchFamily="18" charset="0"/>
                          <a:cs typeface="Times New Roman" panose="02020603050405020304" pitchFamily="18" charset="0"/>
                        </a:rPr>
                        <a:t>Open a file for read/write</a:t>
                      </a:r>
                      <a:r>
                        <a:rPr lang="en-US" sz="2000">
                          <a:effectLst/>
                          <a:latin typeface="Times New Roman" panose="02020603050405020304" pitchFamily="18" charset="0"/>
                          <a:cs typeface="Times New Roman" panose="02020603050405020304" pitchFamily="18" charset="0"/>
                        </a:rPr>
                        <a:t>. File pointer starts at the beginning of the file</a:t>
                      </a:r>
                    </a:p>
                  </a:txBody>
                  <a:tcPr marL="29302" marR="29302" marT="29302" marB="2930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299112357"/>
                  </a:ext>
                </a:extLst>
              </a:tr>
              <a:tr h="697913">
                <a:tc>
                  <a:txBody>
                    <a:bodyPr/>
                    <a:lstStyle/>
                    <a:p>
                      <a:pPr algn="l" fontAlgn="t"/>
                      <a:r>
                        <a:rPr lang="en-IN" sz="2000">
                          <a:effectLst/>
                          <a:latin typeface="Times New Roman" panose="02020603050405020304" pitchFamily="18" charset="0"/>
                          <a:cs typeface="Times New Roman" panose="02020603050405020304" pitchFamily="18" charset="0"/>
                        </a:rPr>
                        <a:t>w+</a:t>
                      </a:r>
                    </a:p>
                  </a:txBody>
                  <a:tcPr marL="58604" marR="29302" marT="29302" marB="2930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2000" b="1">
                          <a:effectLst/>
                          <a:latin typeface="Times New Roman" panose="02020603050405020304" pitchFamily="18" charset="0"/>
                          <a:cs typeface="Times New Roman" panose="02020603050405020304" pitchFamily="18" charset="0"/>
                        </a:rPr>
                        <a:t>Open a file for read/write</a:t>
                      </a:r>
                      <a:r>
                        <a:rPr lang="en-US" sz="2000">
                          <a:effectLst/>
                          <a:latin typeface="Times New Roman" panose="02020603050405020304" pitchFamily="18" charset="0"/>
                          <a:cs typeface="Times New Roman" panose="02020603050405020304" pitchFamily="18" charset="0"/>
                        </a:rPr>
                        <a:t>. Erases the contents of the file or creates a new file if it doesn't exist. File pointer starts at the beginning of the file</a:t>
                      </a:r>
                    </a:p>
                  </a:txBody>
                  <a:tcPr marL="29302" marR="29302" marT="29302" marB="2930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209939739"/>
                  </a:ext>
                </a:extLst>
              </a:tr>
              <a:tr h="854943">
                <a:tc>
                  <a:txBody>
                    <a:bodyPr/>
                    <a:lstStyle/>
                    <a:p>
                      <a:pPr algn="l" fontAlgn="t"/>
                      <a:r>
                        <a:rPr lang="en-IN" sz="2000">
                          <a:effectLst/>
                          <a:latin typeface="Times New Roman" panose="02020603050405020304" pitchFamily="18" charset="0"/>
                          <a:cs typeface="Times New Roman" panose="02020603050405020304" pitchFamily="18" charset="0"/>
                        </a:rPr>
                        <a:t>a+</a:t>
                      </a:r>
                    </a:p>
                  </a:txBody>
                  <a:tcPr marL="58604" marR="29302" marT="29302" marB="2930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2000" b="1">
                          <a:effectLst/>
                          <a:latin typeface="Times New Roman" panose="02020603050405020304" pitchFamily="18" charset="0"/>
                          <a:cs typeface="Times New Roman" panose="02020603050405020304" pitchFamily="18" charset="0"/>
                        </a:rPr>
                        <a:t>Open a file for read/write</a:t>
                      </a:r>
                      <a:r>
                        <a:rPr lang="en-US" sz="2000">
                          <a:effectLst/>
                          <a:latin typeface="Times New Roman" panose="02020603050405020304" pitchFamily="18" charset="0"/>
                          <a:cs typeface="Times New Roman" panose="02020603050405020304" pitchFamily="18" charset="0"/>
                        </a:rPr>
                        <a:t>. The existing data in file is preserved. File pointer starts at the end of the file. Creates a new file if the file doesn't exist</a:t>
                      </a:r>
                    </a:p>
                  </a:txBody>
                  <a:tcPr marL="29302" marR="29302" marT="29302" marB="2930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992353646"/>
                  </a:ext>
                </a:extLst>
              </a:tr>
              <a:tr h="540883">
                <a:tc>
                  <a:txBody>
                    <a:bodyPr/>
                    <a:lstStyle/>
                    <a:p>
                      <a:pPr algn="l" fontAlgn="t"/>
                      <a:r>
                        <a:rPr lang="en-IN" sz="2000">
                          <a:effectLst/>
                          <a:latin typeface="Times New Roman" panose="02020603050405020304" pitchFamily="18" charset="0"/>
                          <a:cs typeface="Times New Roman" panose="02020603050405020304" pitchFamily="18" charset="0"/>
                        </a:rPr>
                        <a:t>x+</a:t>
                      </a:r>
                    </a:p>
                  </a:txBody>
                  <a:tcPr marL="58604" marR="29302" marT="29302" marB="2930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2000" b="1" dirty="0">
                          <a:effectLst/>
                          <a:latin typeface="Times New Roman" panose="02020603050405020304" pitchFamily="18" charset="0"/>
                          <a:cs typeface="Times New Roman" panose="02020603050405020304" pitchFamily="18" charset="0"/>
                        </a:rPr>
                        <a:t>Creates a new file for read/write</a:t>
                      </a:r>
                      <a:r>
                        <a:rPr lang="en-US" sz="2000" dirty="0">
                          <a:effectLst/>
                          <a:latin typeface="Times New Roman" panose="02020603050405020304" pitchFamily="18" charset="0"/>
                          <a:cs typeface="Times New Roman" panose="02020603050405020304" pitchFamily="18" charset="0"/>
                        </a:rPr>
                        <a:t>. Returns FALSE and an error if file already exists</a:t>
                      </a:r>
                    </a:p>
                  </a:txBody>
                  <a:tcPr marL="29302" marR="29302" marT="29302" marB="2930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881293312"/>
                  </a:ext>
                </a:extLst>
              </a:tr>
            </a:tbl>
          </a:graphicData>
        </a:graphic>
      </p:graphicFrame>
    </p:spTree>
    <p:extLst>
      <p:ext uri="{BB962C8B-B14F-4D97-AF65-F5344CB8AC3E}">
        <p14:creationId xmlns:p14="http://schemas.microsoft.com/office/powerpoint/2010/main" val="2136343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14353-5C87-9EFB-E3C9-E80CAC692D25}"/>
              </a:ext>
            </a:extLst>
          </p:cNvPr>
          <p:cNvSpPr>
            <a:spLocks noGrp="1"/>
          </p:cNvSpPr>
          <p:nvPr>
            <p:ph type="title"/>
          </p:nvPr>
        </p:nvSpPr>
        <p:spPr/>
        <p:txBody>
          <a:bodyPr/>
          <a:lstStyle/>
          <a:p>
            <a:r>
              <a:rPr lang="en-IN" b="0" i="0" dirty="0">
                <a:solidFill>
                  <a:srgbClr val="000000"/>
                </a:solidFill>
                <a:effectLst/>
                <a:latin typeface="Times New Roman" panose="02020603050405020304" pitchFamily="18" charset="0"/>
                <a:cs typeface="Times New Roman" panose="02020603050405020304" pitchFamily="18" charset="0"/>
              </a:rPr>
              <a:t>PHP Read File - </a:t>
            </a:r>
            <a:r>
              <a:rPr lang="en-IN" b="0" i="0" dirty="0" err="1">
                <a:solidFill>
                  <a:srgbClr val="000000"/>
                </a:solidFill>
                <a:effectLst/>
                <a:latin typeface="Times New Roman" panose="02020603050405020304" pitchFamily="18" charset="0"/>
                <a:cs typeface="Times New Roman" panose="02020603050405020304" pitchFamily="18" charset="0"/>
              </a:rPr>
              <a:t>fread</a:t>
            </a:r>
            <a:r>
              <a:rPr lang="en-IN" b="0" i="0" dirty="0">
                <a:solidFill>
                  <a:srgbClr val="000000"/>
                </a:solidFill>
                <a:effectLst/>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5C138CB-F797-1259-3642-A86B054E0BD9}"/>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fread</a:t>
            </a:r>
            <a:r>
              <a:rPr lang="en-US" dirty="0">
                <a:latin typeface="Times New Roman" panose="02020603050405020304" pitchFamily="18" charset="0"/>
                <a:cs typeface="Times New Roman" panose="02020603050405020304" pitchFamily="18" charset="0"/>
              </a:rPr>
              <a:t>() function reads from an open file.</a:t>
            </a:r>
          </a:p>
          <a:p>
            <a:r>
              <a:rPr lang="en-US" dirty="0">
                <a:latin typeface="Times New Roman" panose="02020603050405020304" pitchFamily="18" charset="0"/>
                <a:cs typeface="Times New Roman" panose="02020603050405020304" pitchFamily="18" charset="0"/>
              </a:rPr>
              <a:t>The first parameter of </a:t>
            </a:r>
            <a:r>
              <a:rPr lang="en-US" dirty="0" err="1">
                <a:latin typeface="Times New Roman" panose="02020603050405020304" pitchFamily="18" charset="0"/>
                <a:cs typeface="Times New Roman" panose="02020603050405020304" pitchFamily="18" charset="0"/>
              </a:rPr>
              <a:t>fread</a:t>
            </a:r>
            <a:r>
              <a:rPr lang="en-US" dirty="0">
                <a:latin typeface="Times New Roman" panose="02020603050405020304" pitchFamily="18" charset="0"/>
                <a:cs typeface="Times New Roman" panose="02020603050405020304" pitchFamily="18" charset="0"/>
              </a:rPr>
              <a:t>() contains the name of the file to read from and the second parameter specifies the maximum number of bytes to read.</a:t>
            </a:r>
          </a:p>
          <a:p>
            <a:r>
              <a:rPr lang="en-US" dirty="0">
                <a:latin typeface="Times New Roman" panose="02020603050405020304" pitchFamily="18" charset="0"/>
                <a:cs typeface="Times New Roman" panose="02020603050405020304" pitchFamily="18" charset="0"/>
              </a:rPr>
              <a:t>The following PHP code reads the "webdictionary.txt" file to the end:</a:t>
            </a:r>
          </a:p>
          <a:p>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fread</a:t>
            </a:r>
            <a:r>
              <a:rPr lang="en-US" b="1" dirty="0">
                <a:latin typeface="Times New Roman" panose="02020603050405020304" pitchFamily="18" charset="0"/>
                <a:cs typeface="Times New Roman" panose="02020603050405020304" pitchFamily="18" charset="0"/>
              </a:rPr>
              <a:t>($</a:t>
            </a:r>
            <a:r>
              <a:rPr lang="en-US" b="1" dirty="0" err="1">
                <a:latin typeface="Times New Roman" panose="02020603050405020304" pitchFamily="18" charset="0"/>
                <a:cs typeface="Times New Roman" panose="02020603050405020304" pitchFamily="18" charset="0"/>
              </a:rPr>
              <a:t>myfile,filesize</a:t>
            </a:r>
            <a:r>
              <a:rPr lang="en-US" b="1" dirty="0">
                <a:latin typeface="Times New Roman" panose="02020603050405020304" pitchFamily="18" charset="0"/>
                <a:cs typeface="Times New Roman" panose="02020603050405020304" pitchFamily="18" charset="0"/>
              </a:rPr>
              <a:t>("webdictionary.txt"));</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2313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686AA-9BAC-DB1B-A779-C7BBD190C533}"/>
              </a:ext>
            </a:extLst>
          </p:cNvPr>
          <p:cNvSpPr>
            <a:spLocks noGrp="1"/>
          </p:cNvSpPr>
          <p:nvPr>
            <p:ph type="title"/>
          </p:nvPr>
        </p:nvSpPr>
        <p:spPr/>
        <p:txBody>
          <a:bodyPr/>
          <a:lstStyle/>
          <a:p>
            <a:r>
              <a:rPr lang="en-IN" b="0" i="0" dirty="0">
                <a:solidFill>
                  <a:srgbClr val="000000"/>
                </a:solidFill>
                <a:effectLst/>
                <a:latin typeface="Times New Roman" panose="02020603050405020304" pitchFamily="18" charset="0"/>
                <a:cs typeface="Times New Roman" panose="02020603050405020304" pitchFamily="18" charset="0"/>
              </a:rPr>
              <a:t>PHP Close File - </a:t>
            </a:r>
            <a:r>
              <a:rPr lang="en-IN" b="0" i="0" dirty="0" err="1">
                <a:solidFill>
                  <a:srgbClr val="000000"/>
                </a:solidFill>
                <a:effectLst/>
                <a:latin typeface="Times New Roman" panose="02020603050405020304" pitchFamily="18" charset="0"/>
                <a:cs typeface="Times New Roman" panose="02020603050405020304" pitchFamily="18" charset="0"/>
              </a:rPr>
              <a:t>fclose</a:t>
            </a:r>
            <a:r>
              <a:rPr lang="en-IN" b="0" i="0" dirty="0">
                <a:solidFill>
                  <a:srgbClr val="000000"/>
                </a:solidFill>
                <a:effectLst/>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34A5D38-6407-4933-5452-DBBCBC1A9B8F}"/>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fclose</a:t>
            </a:r>
            <a:r>
              <a:rPr lang="en-US" dirty="0">
                <a:latin typeface="Times New Roman" panose="02020603050405020304" pitchFamily="18" charset="0"/>
                <a:cs typeface="Times New Roman" panose="02020603050405020304" pitchFamily="18" charset="0"/>
              </a:rPr>
              <a:t>() function is used to close an open file.</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&lt;?</a:t>
            </a:r>
            <a:r>
              <a:rPr lang="en-US" dirty="0" err="1">
                <a:latin typeface="Times New Roman" panose="02020603050405020304" pitchFamily="18" charset="0"/>
                <a:cs typeface="Times New Roman" panose="02020603050405020304" pitchFamily="18" charset="0"/>
              </a:rPr>
              <a:t>php</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myfile</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fopen</a:t>
            </a:r>
            <a:r>
              <a:rPr lang="en-US" dirty="0">
                <a:latin typeface="Times New Roman" panose="02020603050405020304" pitchFamily="18" charset="0"/>
                <a:cs typeface="Times New Roman" panose="02020603050405020304" pitchFamily="18" charset="0"/>
              </a:rPr>
              <a:t>("webdictionary.txt", "r");</a:t>
            </a:r>
          </a:p>
          <a:p>
            <a:pPr marL="0" indent="0">
              <a:buNone/>
            </a:pPr>
            <a:r>
              <a:rPr lang="en-US" dirty="0">
                <a:latin typeface="Times New Roman" panose="02020603050405020304" pitchFamily="18" charset="0"/>
                <a:cs typeface="Times New Roman" panose="02020603050405020304" pitchFamily="18" charset="0"/>
              </a:rPr>
              <a:t>// some code to be executed....</a:t>
            </a:r>
          </a:p>
          <a:p>
            <a:pPr marL="0" indent="0">
              <a:buNone/>
            </a:pPr>
            <a:r>
              <a:rPr lang="en-US" dirty="0" err="1">
                <a:latin typeface="Times New Roman" panose="02020603050405020304" pitchFamily="18" charset="0"/>
                <a:cs typeface="Times New Roman" panose="02020603050405020304" pitchFamily="18" charset="0"/>
              </a:rPr>
              <a:t>fclose</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myfile</a:t>
            </a: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?&gt;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69130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1F671-351D-50A7-2122-F8A43DE2CD1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PHP Read Single Line - </a:t>
            </a:r>
            <a:r>
              <a:rPr lang="en-US" dirty="0" err="1">
                <a:latin typeface="Times New Roman" panose="02020603050405020304" pitchFamily="18" charset="0"/>
                <a:cs typeface="Times New Roman" panose="02020603050405020304" pitchFamily="18" charset="0"/>
              </a:rPr>
              <a:t>fgets</a:t>
            </a:r>
            <a:r>
              <a:rPr lang="en-US" dirty="0">
                <a:latin typeface="Times New Roman" panose="02020603050405020304" pitchFamily="18" charset="0"/>
                <a:cs typeface="Times New Roman" panose="02020603050405020304" pitchFamily="18" charset="0"/>
              </a:rPr>
              <a:t>()</a:t>
            </a:r>
            <a:endParaRPr lang="en-IN" dirty="0"/>
          </a:p>
        </p:txBody>
      </p:sp>
      <p:sp>
        <p:nvSpPr>
          <p:cNvPr id="3" name="Content Placeholder 2">
            <a:extLst>
              <a:ext uri="{FF2B5EF4-FFF2-40B4-BE49-F238E27FC236}">
                <a16:creationId xmlns:a16="http://schemas.microsoft.com/office/drawing/2014/main" id="{507895DD-1D22-F78B-FDA6-BCE2E480C2AB}"/>
              </a:ext>
            </a:extLst>
          </p:cNvPr>
          <p:cNvSpPr>
            <a:spLocks noGrp="1"/>
          </p:cNvSpPr>
          <p:nvPr>
            <p:ph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fgets</a:t>
            </a:r>
            <a:r>
              <a:rPr lang="en-US" dirty="0">
                <a:latin typeface="Times New Roman" panose="02020603050405020304" pitchFamily="18" charset="0"/>
                <a:cs typeface="Times New Roman" panose="02020603050405020304" pitchFamily="18" charset="0"/>
              </a:rPr>
              <a:t>() function is used to read a single line from a file.</a:t>
            </a:r>
          </a:p>
          <a:p>
            <a:r>
              <a:rPr lang="en-US" dirty="0">
                <a:latin typeface="Times New Roman" panose="02020603050405020304" pitchFamily="18" charset="0"/>
                <a:cs typeface="Times New Roman" panose="02020603050405020304" pitchFamily="18" charset="0"/>
              </a:rPr>
              <a:t>The example below outputs the first line of the "webdictionary.txt" file:</a:t>
            </a:r>
          </a:p>
          <a:p>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&lt;?</a:t>
            </a:r>
            <a:r>
              <a:rPr lang="en-US" dirty="0" err="1">
                <a:latin typeface="Times New Roman" panose="02020603050405020304" pitchFamily="18" charset="0"/>
                <a:cs typeface="Times New Roman" panose="02020603050405020304" pitchFamily="18" charset="0"/>
              </a:rPr>
              <a:t>php</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myfile</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fopen</a:t>
            </a:r>
            <a:r>
              <a:rPr lang="en-US" dirty="0">
                <a:latin typeface="Times New Roman" panose="02020603050405020304" pitchFamily="18" charset="0"/>
                <a:cs typeface="Times New Roman" panose="02020603050405020304" pitchFamily="18" charset="0"/>
              </a:rPr>
              <a:t>("webdictionary.txt", "r") or die("Unable to open file!");</a:t>
            </a:r>
          </a:p>
          <a:p>
            <a:pPr marL="0" indent="0">
              <a:buNone/>
            </a:pPr>
            <a:r>
              <a:rPr lang="en-US" dirty="0">
                <a:latin typeface="Times New Roman" panose="02020603050405020304" pitchFamily="18" charset="0"/>
                <a:cs typeface="Times New Roman" panose="02020603050405020304" pitchFamily="18" charset="0"/>
              </a:rPr>
              <a:t>echo </a:t>
            </a:r>
            <a:r>
              <a:rPr lang="en-US" dirty="0" err="1">
                <a:latin typeface="Times New Roman" panose="02020603050405020304" pitchFamily="18" charset="0"/>
                <a:cs typeface="Times New Roman" panose="02020603050405020304" pitchFamily="18" charset="0"/>
              </a:rPr>
              <a:t>fgets</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myfile</a:t>
            </a:r>
            <a:r>
              <a:rPr lang="en-US" dirty="0">
                <a:latin typeface="Times New Roman" panose="02020603050405020304" pitchFamily="18" charset="0"/>
                <a:cs typeface="Times New Roman" panose="02020603050405020304" pitchFamily="18" charset="0"/>
              </a:rPr>
              <a:t>);</a:t>
            </a:r>
          </a:p>
          <a:p>
            <a:pPr marL="0" indent="0">
              <a:buNone/>
            </a:pPr>
            <a:r>
              <a:rPr lang="en-US" dirty="0" err="1">
                <a:latin typeface="Times New Roman" panose="02020603050405020304" pitchFamily="18" charset="0"/>
                <a:cs typeface="Times New Roman" panose="02020603050405020304" pitchFamily="18" charset="0"/>
              </a:rPr>
              <a:t>fclose</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myfile</a:t>
            </a: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?&gt;</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C25925F-88EB-1BC1-4110-DBF526E23D9B}"/>
              </a:ext>
            </a:extLst>
          </p:cNvPr>
          <p:cNvPicPr>
            <a:picLocks noChangeAspect="1"/>
          </p:cNvPicPr>
          <p:nvPr/>
        </p:nvPicPr>
        <p:blipFill>
          <a:blip r:embed="rId2"/>
          <a:stretch>
            <a:fillRect/>
          </a:stretch>
        </p:blipFill>
        <p:spPr>
          <a:xfrm>
            <a:off x="7653337" y="5139096"/>
            <a:ext cx="4200525" cy="1390650"/>
          </a:xfrm>
          <a:prstGeom prst="rect">
            <a:avLst/>
          </a:prstGeom>
        </p:spPr>
      </p:pic>
    </p:spTree>
    <p:extLst>
      <p:ext uri="{BB962C8B-B14F-4D97-AF65-F5344CB8AC3E}">
        <p14:creationId xmlns:p14="http://schemas.microsoft.com/office/powerpoint/2010/main" val="2718060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E26A-9A08-9C8B-5C65-8179236D29E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PHP Check End-Of-File - </a:t>
            </a:r>
            <a:r>
              <a:rPr lang="en-US" dirty="0" err="1">
                <a:latin typeface="Times New Roman" panose="02020603050405020304" pitchFamily="18" charset="0"/>
                <a:cs typeface="Times New Roman" panose="02020603050405020304" pitchFamily="18" charset="0"/>
              </a:rPr>
              <a:t>feof</a:t>
            </a:r>
            <a:r>
              <a:rPr lang="en-US" dirty="0">
                <a:latin typeface="Times New Roman" panose="02020603050405020304" pitchFamily="18" charset="0"/>
                <a:cs typeface="Times New Roman" panose="02020603050405020304" pitchFamily="18" charset="0"/>
              </a:rPr>
              <a:t>()</a:t>
            </a:r>
            <a:endParaRPr lang="en-IN" dirty="0"/>
          </a:p>
        </p:txBody>
      </p:sp>
      <p:sp>
        <p:nvSpPr>
          <p:cNvPr id="3" name="Content Placeholder 2">
            <a:extLst>
              <a:ext uri="{FF2B5EF4-FFF2-40B4-BE49-F238E27FC236}">
                <a16:creationId xmlns:a16="http://schemas.microsoft.com/office/drawing/2014/main" id="{93F7344F-76F0-8664-DECF-E04106AF37BF}"/>
              </a:ext>
            </a:extLst>
          </p:cNvPr>
          <p:cNvSpPr>
            <a:spLocks noGrp="1"/>
          </p:cNvSpPr>
          <p:nvPr>
            <p:ph idx="1"/>
          </p:nvPr>
        </p:nvSpPr>
        <p:spPr/>
        <p:txBody>
          <a:bodyPr>
            <a:normAutofit fontScale="77500" lnSpcReduction="20000"/>
          </a:bodyPr>
          <a:lstStyle/>
          <a:p>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feof</a:t>
            </a:r>
            <a:r>
              <a:rPr lang="en-US" dirty="0">
                <a:latin typeface="Times New Roman" panose="02020603050405020304" pitchFamily="18" charset="0"/>
                <a:cs typeface="Times New Roman" panose="02020603050405020304" pitchFamily="18" charset="0"/>
              </a:rPr>
              <a:t>() function checks if the "end-of-file" (EOF) has been reached.</a:t>
            </a:r>
          </a:p>
          <a:p>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feof</a:t>
            </a:r>
            <a:r>
              <a:rPr lang="en-US" dirty="0">
                <a:latin typeface="Times New Roman" panose="02020603050405020304" pitchFamily="18" charset="0"/>
                <a:cs typeface="Times New Roman" panose="02020603050405020304" pitchFamily="18" charset="0"/>
              </a:rPr>
              <a:t>() function is useful for looping through data of unknown length.</a:t>
            </a:r>
          </a:p>
          <a:p>
            <a:r>
              <a:rPr lang="en-US" dirty="0">
                <a:latin typeface="Times New Roman" panose="02020603050405020304" pitchFamily="18" charset="0"/>
                <a:cs typeface="Times New Roman" panose="02020603050405020304" pitchFamily="18" charset="0"/>
              </a:rPr>
              <a:t>The example below reads the "webdictionary.txt" file line by line, until end-of-file is reached:</a:t>
            </a:r>
          </a:p>
          <a:p>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&lt;?</a:t>
            </a:r>
            <a:r>
              <a:rPr lang="en-US" dirty="0" err="1">
                <a:latin typeface="Times New Roman" panose="02020603050405020304" pitchFamily="18" charset="0"/>
                <a:cs typeface="Times New Roman" panose="02020603050405020304" pitchFamily="18" charset="0"/>
              </a:rPr>
              <a:t>php</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myfile</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fopen</a:t>
            </a:r>
            <a:r>
              <a:rPr lang="en-US" dirty="0">
                <a:latin typeface="Times New Roman" panose="02020603050405020304" pitchFamily="18" charset="0"/>
                <a:cs typeface="Times New Roman" panose="02020603050405020304" pitchFamily="18" charset="0"/>
              </a:rPr>
              <a:t>("webdictionary.txt", "r") or die("Unable to open file!");</a:t>
            </a:r>
          </a:p>
          <a:p>
            <a:pPr marL="0" indent="0">
              <a:buNone/>
            </a:pPr>
            <a:r>
              <a:rPr lang="en-US" dirty="0">
                <a:latin typeface="Times New Roman" panose="02020603050405020304" pitchFamily="18" charset="0"/>
                <a:cs typeface="Times New Roman" panose="02020603050405020304" pitchFamily="18" charset="0"/>
              </a:rPr>
              <a:t>while(!</a:t>
            </a:r>
            <a:r>
              <a:rPr lang="en-US" dirty="0" err="1">
                <a:latin typeface="Times New Roman" panose="02020603050405020304" pitchFamily="18" charset="0"/>
                <a:cs typeface="Times New Roman" panose="02020603050405020304" pitchFamily="18" charset="0"/>
              </a:rPr>
              <a:t>feof</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myfile</a:t>
            </a:r>
            <a:r>
              <a:rPr lang="en-US" dirty="0">
                <a:latin typeface="Times New Roman" panose="02020603050405020304" pitchFamily="18" charset="0"/>
                <a:cs typeface="Times New Roman" panose="02020603050405020304" pitchFamily="18" charset="0"/>
              </a:rPr>
              <a:t>)) {			</a:t>
            </a:r>
            <a:r>
              <a:rPr lang="en-US" b="1" dirty="0">
                <a:solidFill>
                  <a:srgbClr val="7030A0"/>
                </a:solidFill>
                <a:latin typeface="Times New Roman" panose="02020603050405020304" pitchFamily="18" charset="0"/>
                <a:cs typeface="Times New Roman" panose="02020603050405020304" pitchFamily="18" charset="0"/>
              </a:rPr>
              <a:t>// Output one line until end-of-file</a:t>
            </a:r>
          </a:p>
          <a:p>
            <a:pPr marL="0" indent="0">
              <a:buNone/>
            </a:pPr>
            <a:r>
              <a:rPr lang="en-US" dirty="0">
                <a:latin typeface="Times New Roman" panose="02020603050405020304" pitchFamily="18" charset="0"/>
                <a:cs typeface="Times New Roman" panose="02020603050405020304" pitchFamily="18" charset="0"/>
              </a:rPr>
              <a:t>  echo </a:t>
            </a:r>
            <a:r>
              <a:rPr lang="en-US" dirty="0" err="1">
                <a:latin typeface="Times New Roman" panose="02020603050405020304" pitchFamily="18" charset="0"/>
                <a:cs typeface="Times New Roman" panose="02020603050405020304" pitchFamily="18" charset="0"/>
              </a:rPr>
              <a:t>fgets</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myfile</a:t>
            </a:r>
            <a:r>
              <a:rPr lang="en-US" dirty="0">
                <a:latin typeface="Times New Roman" panose="02020603050405020304" pitchFamily="18" charset="0"/>
                <a:cs typeface="Times New Roman" panose="02020603050405020304" pitchFamily="18" charset="0"/>
              </a:rPr>
              <a:t>) . "&lt;</a:t>
            </a:r>
            <a:r>
              <a:rPr lang="en-US" dirty="0" err="1">
                <a:latin typeface="Times New Roman" panose="02020603050405020304" pitchFamily="18" charset="0"/>
                <a:cs typeface="Times New Roman" panose="02020603050405020304" pitchFamily="18" charset="0"/>
              </a:rPr>
              <a:t>br</a:t>
            </a:r>
            <a:r>
              <a:rPr lang="en-US" dirty="0">
                <a:latin typeface="Times New Roman" panose="02020603050405020304" pitchFamily="18" charset="0"/>
                <a:cs typeface="Times New Roman" panose="02020603050405020304" pitchFamily="18" charset="0"/>
              </a:rPr>
              <a:t>&gt;";</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dirty="0" err="1">
                <a:latin typeface="Times New Roman" panose="02020603050405020304" pitchFamily="18" charset="0"/>
                <a:cs typeface="Times New Roman" panose="02020603050405020304" pitchFamily="18" charset="0"/>
              </a:rPr>
              <a:t>fclose</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myfile</a:t>
            </a: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?&gt;</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9E65686-89C5-937F-28CB-6C96BA7E0B10}"/>
              </a:ext>
            </a:extLst>
          </p:cNvPr>
          <p:cNvPicPr>
            <a:picLocks noChangeAspect="1"/>
          </p:cNvPicPr>
          <p:nvPr/>
        </p:nvPicPr>
        <p:blipFill>
          <a:blip r:embed="rId2"/>
          <a:stretch>
            <a:fillRect/>
          </a:stretch>
        </p:blipFill>
        <p:spPr>
          <a:xfrm>
            <a:off x="8091794" y="4805823"/>
            <a:ext cx="3952875" cy="1847850"/>
          </a:xfrm>
          <a:prstGeom prst="rect">
            <a:avLst/>
          </a:prstGeom>
        </p:spPr>
      </p:pic>
    </p:spTree>
    <p:extLst>
      <p:ext uri="{BB962C8B-B14F-4D97-AF65-F5344CB8AC3E}">
        <p14:creationId xmlns:p14="http://schemas.microsoft.com/office/powerpoint/2010/main" val="26229448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73434-1F6F-2C2D-A4B6-0BBA7D13640E}"/>
              </a:ext>
            </a:extLst>
          </p:cNvPr>
          <p:cNvSpPr>
            <a:spLocks noGrp="1"/>
          </p:cNvSpPr>
          <p:nvPr>
            <p:ph type="title"/>
          </p:nvPr>
        </p:nvSpPr>
        <p:spPr>
          <a:xfrm>
            <a:off x="838200" y="365125"/>
            <a:ext cx="10515600" cy="879475"/>
          </a:xfrm>
        </p:spPr>
        <p:txBody>
          <a:bodyPr/>
          <a:lstStyle/>
          <a:p>
            <a:r>
              <a:rPr lang="en-US" dirty="0">
                <a:latin typeface="Times New Roman" panose="02020603050405020304" pitchFamily="18" charset="0"/>
                <a:cs typeface="Times New Roman" panose="02020603050405020304" pitchFamily="18" charset="0"/>
              </a:rPr>
              <a:t>PHP Read Single Character - </a:t>
            </a:r>
            <a:r>
              <a:rPr lang="en-US" dirty="0" err="1">
                <a:latin typeface="Times New Roman" panose="02020603050405020304" pitchFamily="18" charset="0"/>
                <a:cs typeface="Times New Roman" panose="02020603050405020304" pitchFamily="18" charset="0"/>
              </a:rPr>
              <a:t>fgetc</a:t>
            </a:r>
            <a:r>
              <a:rPr lang="en-US" dirty="0">
                <a:latin typeface="Times New Roman" panose="02020603050405020304" pitchFamily="18" charset="0"/>
                <a:cs typeface="Times New Roman" panose="02020603050405020304" pitchFamily="18" charset="0"/>
              </a:rPr>
              <a:t>()</a:t>
            </a:r>
            <a:endParaRPr lang="en-IN" dirty="0"/>
          </a:p>
        </p:txBody>
      </p:sp>
      <p:sp>
        <p:nvSpPr>
          <p:cNvPr id="3" name="Content Placeholder 2">
            <a:extLst>
              <a:ext uri="{FF2B5EF4-FFF2-40B4-BE49-F238E27FC236}">
                <a16:creationId xmlns:a16="http://schemas.microsoft.com/office/drawing/2014/main" id="{5DDA2546-5D39-1BD0-856D-FE996077F685}"/>
              </a:ext>
            </a:extLst>
          </p:cNvPr>
          <p:cNvSpPr>
            <a:spLocks noGrp="1"/>
          </p:cNvSpPr>
          <p:nvPr>
            <p:ph idx="1"/>
          </p:nvPr>
        </p:nvSpPr>
        <p:spPr>
          <a:xfrm>
            <a:off x="838200" y="1244600"/>
            <a:ext cx="10515600" cy="4932363"/>
          </a:xfrm>
        </p:spPr>
        <p:txBody>
          <a:bodyPr>
            <a:normAutofit fontScale="85000" lnSpcReduction="20000"/>
          </a:bodyPr>
          <a:lstStyle/>
          <a:p>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fgetc</a:t>
            </a:r>
            <a:r>
              <a:rPr lang="en-US" dirty="0">
                <a:latin typeface="Times New Roman" panose="02020603050405020304" pitchFamily="18" charset="0"/>
                <a:cs typeface="Times New Roman" panose="02020603050405020304" pitchFamily="18" charset="0"/>
              </a:rPr>
              <a:t>() function is used to read a single character from a file.</a:t>
            </a:r>
          </a:p>
          <a:p>
            <a:r>
              <a:rPr lang="en-US" dirty="0">
                <a:latin typeface="Times New Roman" panose="02020603050405020304" pitchFamily="18" charset="0"/>
                <a:cs typeface="Times New Roman" panose="02020603050405020304" pitchFamily="18" charset="0"/>
              </a:rPr>
              <a:t>The example below reads the "webdictionary.txt" file character by character, until end-of-file is reached:</a:t>
            </a:r>
          </a:p>
          <a:p>
            <a:endParaRPr lang="en-US" dirty="0">
              <a:latin typeface="Times New Roman" panose="02020603050405020304" pitchFamily="18" charset="0"/>
              <a:cs typeface="Times New Roman" panose="02020603050405020304" pitchFamily="18" charset="0"/>
            </a:endParaRPr>
          </a:p>
          <a:p>
            <a:pPr marL="0" indent="0">
              <a:buNone/>
            </a:pPr>
            <a:r>
              <a:rPr lang="en-US" sz="3100" dirty="0">
                <a:latin typeface="Times New Roman" panose="02020603050405020304" pitchFamily="18" charset="0"/>
                <a:cs typeface="Times New Roman" panose="02020603050405020304" pitchFamily="18" charset="0"/>
              </a:rPr>
              <a:t>&lt;?</a:t>
            </a:r>
            <a:r>
              <a:rPr lang="en-US" sz="3100" dirty="0" err="1">
                <a:latin typeface="Times New Roman" panose="02020603050405020304" pitchFamily="18" charset="0"/>
                <a:cs typeface="Times New Roman" panose="02020603050405020304" pitchFamily="18" charset="0"/>
              </a:rPr>
              <a:t>php</a:t>
            </a:r>
            <a:endParaRPr lang="en-US" sz="3100" dirty="0">
              <a:latin typeface="Times New Roman" panose="02020603050405020304" pitchFamily="18" charset="0"/>
              <a:cs typeface="Times New Roman" panose="02020603050405020304" pitchFamily="18" charset="0"/>
            </a:endParaRPr>
          </a:p>
          <a:p>
            <a:pPr marL="0" indent="0">
              <a:buNone/>
            </a:pPr>
            <a:r>
              <a:rPr lang="en-US" sz="3100" dirty="0">
                <a:latin typeface="Times New Roman" panose="02020603050405020304" pitchFamily="18" charset="0"/>
                <a:cs typeface="Times New Roman" panose="02020603050405020304" pitchFamily="18" charset="0"/>
              </a:rPr>
              <a:t>$</a:t>
            </a:r>
            <a:r>
              <a:rPr lang="en-US" sz="3100" dirty="0" err="1">
                <a:latin typeface="Times New Roman" panose="02020603050405020304" pitchFamily="18" charset="0"/>
                <a:cs typeface="Times New Roman" panose="02020603050405020304" pitchFamily="18" charset="0"/>
              </a:rPr>
              <a:t>myfile</a:t>
            </a:r>
            <a:r>
              <a:rPr lang="en-US" sz="3100" dirty="0">
                <a:latin typeface="Times New Roman" panose="02020603050405020304" pitchFamily="18" charset="0"/>
                <a:cs typeface="Times New Roman" panose="02020603050405020304" pitchFamily="18" charset="0"/>
              </a:rPr>
              <a:t> = </a:t>
            </a:r>
            <a:r>
              <a:rPr lang="en-US" sz="3100" dirty="0" err="1">
                <a:latin typeface="Times New Roman" panose="02020603050405020304" pitchFamily="18" charset="0"/>
                <a:cs typeface="Times New Roman" panose="02020603050405020304" pitchFamily="18" charset="0"/>
              </a:rPr>
              <a:t>fopen</a:t>
            </a:r>
            <a:r>
              <a:rPr lang="en-US" sz="3100" dirty="0">
                <a:latin typeface="Times New Roman" panose="02020603050405020304" pitchFamily="18" charset="0"/>
                <a:cs typeface="Times New Roman" panose="02020603050405020304" pitchFamily="18" charset="0"/>
              </a:rPr>
              <a:t>("webdictionary.txt", "r") or die("Unable to open file!");</a:t>
            </a:r>
          </a:p>
          <a:p>
            <a:pPr marL="0" indent="0">
              <a:buNone/>
            </a:pPr>
            <a:r>
              <a:rPr lang="en-US" sz="3100" dirty="0">
                <a:latin typeface="Times New Roman" panose="02020603050405020304" pitchFamily="18" charset="0"/>
                <a:cs typeface="Times New Roman" panose="02020603050405020304" pitchFamily="18" charset="0"/>
              </a:rPr>
              <a:t>// Output one character until end-of-file</a:t>
            </a:r>
          </a:p>
          <a:p>
            <a:pPr marL="0" indent="0">
              <a:buNone/>
            </a:pPr>
            <a:r>
              <a:rPr lang="en-US" sz="3100" dirty="0">
                <a:latin typeface="Times New Roman" panose="02020603050405020304" pitchFamily="18" charset="0"/>
                <a:cs typeface="Times New Roman" panose="02020603050405020304" pitchFamily="18" charset="0"/>
              </a:rPr>
              <a:t>while(!</a:t>
            </a:r>
            <a:r>
              <a:rPr lang="en-US" sz="3100" dirty="0" err="1">
                <a:latin typeface="Times New Roman" panose="02020603050405020304" pitchFamily="18" charset="0"/>
                <a:cs typeface="Times New Roman" panose="02020603050405020304" pitchFamily="18" charset="0"/>
              </a:rPr>
              <a:t>feof</a:t>
            </a:r>
            <a:r>
              <a:rPr lang="en-US" sz="3100" dirty="0">
                <a:latin typeface="Times New Roman" panose="02020603050405020304" pitchFamily="18" charset="0"/>
                <a:cs typeface="Times New Roman" panose="02020603050405020304" pitchFamily="18" charset="0"/>
              </a:rPr>
              <a:t>($</a:t>
            </a:r>
            <a:r>
              <a:rPr lang="en-US" sz="3100" dirty="0" err="1">
                <a:latin typeface="Times New Roman" panose="02020603050405020304" pitchFamily="18" charset="0"/>
                <a:cs typeface="Times New Roman" panose="02020603050405020304" pitchFamily="18" charset="0"/>
              </a:rPr>
              <a:t>myfile</a:t>
            </a:r>
            <a:r>
              <a:rPr lang="en-US" sz="3100" dirty="0">
                <a:latin typeface="Times New Roman" panose="02020603050405020304" pitchFamily="18" charset="0"/>
                <a:cs typeface="Times New Roman" panose="02020603050405020304" pitchFamily="18" charset="0"/>
              </a:rPr>
              <a:t>)) {</a:t>
            </a:r>
          </a:p>
          <a:p>
            <a:pPr marL="0" indent="0">
              <a:buNone/>
            </a:pPr>
            <a:r>
              <a:rPr lang="en-US" sz="3100" dirty="0">
                <a:latin typeface="Times New Roman" panose="02020603050405020304" pitchFamily="18" charset="0"/>
                <a:cs typeface="Times New Roman" panose="02020603050405020304" pitchFamily="18" charset="0"/>
              </a:rPr>
              <a:t>  echo </a:t>
            </a:r>
            <a:r>
              <a:rPr lang="en-US" sz="3100" dirty="0" err="1">
                <a:latin typeface="Times New Roman" panose="02020603050405020304" pitchFamily="18" charset="0"/>
                <a:cs typeface="Times New Roman" panose="02020603050405020304" pitchFamily="18" charset="0"/>
              </a:rPr>
              <a:t>fgetc</a:t>
            </a:r>
            <a:r>
              <a:rPr lang="en-US" sz="3100" dirty="0">
                <a:latin typeface="Times New Roman" panose="02020603050405020304" pitchFamily="18" charset="0"/>
                <a:cs typeface="Times New Roman" panose="02020603050405020304" pitchFamily="18" charset="0"/>
              </a:rPr>
              <a:t>($</a:t>
            </a:r>
            <a:r>
              <a:rPr lang="en-US" sz="3100" dirty="0" err="1">
                <a:latin typeface="Times New Roman" panose="02020603050405020304" pitchFamily="18" charset="0"/>
                <a:cs typeface="Times New Roman" panose="02020603050405020304" pitchFamily="18" charset="0"/>
              </a:rPr>
              <a:t>myfile</a:t>
            </a:r>
            <a:r>
              <a:rPr lang="en-US" sz="3100" dirty="0">
                <a:latin typeface="Times New Roman" panose="02020603050405020304" pitchFamily="18" charset="0"/>
                <a:cs typeface="Times New Roman" panose="02020603050405020304" pitchFamily="18" charset="0"/>
              </a:rPr>
              <a:t>);</a:t>
            </a:r>
          </a:p>
          <a:p>
            <a:pPr marL="0" indent="0">
              <a:buNone/>
            </a:pPr>
            <a:r>
              <a:rPr lang="en-US" sz="3100" dirty="0">
                <a:latin typeface="Times New Roman" panose="02020603050405020304" pitchFamily="18" charset="0"/>
                <a:cs typeface="Times New Roman" panose="02020603050405020304" pitchFamily="18" charset="0"/>
              </a:rPr>
              <a:t>}</a:t>
            </a:r>
          </a:p>
          <a:p>
            <a:pPr marL="0" indent="0">
              <a:buNone/>
            </a:pPr>
            <a:r>
              <a:rPr lang="en-US" sz="3100" dirty="0" err="1">
                <a:latin typeface="Times New Roman" panose="02020603050405020304" pitchFamily="18" charset="0"/>
                <a:cs typeface="Times New Roman" panose="02020603050405020304" pitchFamily="18" charset="0"/>
              </a:rPr>
              <a:t>fclose</a:t>
            </a:r>
            <a:r>
              <a:rPr lang="en-US" sz="3100" dirty="0">
                <a:latin typeface="Times New Roman" panose="02020603050405020304" pitchFamily="18" charset="0"/>
                <a:cs typeface="Times New Roman" panose="02020603050405020304" pitchFamily="18" charset="0"/>
              </a:rPr>
              <a:t>($</a:t>
            </a:r>
            <a:r>
              <a:rPr lang="en-US" sz="3100" dirty="0" err="1">
                <a:latin typeface="Times New Roman" panose="02020603050405020304" pitchFamily="18" charset="0"/>
                <a:cs typeface="Times New Roman" panose="02020603050405020304" pitchFamily="18" charset="0"/>
              </a:rPr>
              <a:t>myfile</a:t>
            </a:r>
            <a:r>
              <a:rPr lang="en-US" sz="3100" dirty="0">
                <a:latin typeface="Times New Roman" panose="02020603050405020304" pitchFamily="18" charset="0"/>
                <a:cs typeface="Times New Roman" panose="02020603050405020304" pitchFamily="18" charset="0"/>
              </a:rPr>
              <a:t>);</a:t>
            </a:r>
          </a:p>
          <a:p>
            <a:pPr marL="0" indent="0">
              <a:buNone/>
            </a:pPr>
            <a:r>
              <a:rPr lang="en-US" sz="3100" dirty="0">
                <a:latin typeface="Times New Roman" panose="02020603050405020304" pitchFamily="18" charset="0"/>
                <a:cs typeface="Times New Roman" panose="02020603050405020304" pitchFamily="18" charset="0"/>
              </a:rPr>
              <a:t>?&gt;</a:t>
            </a:r>
            <a:endParaRPr lang="en-IN" sz="31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9CBBF38-B4D2-29CD-BB9E-1B84C7AEEB09}"/>
              </a:ext>
            </a:extLst>
          </p:cNvPr>
          <p:cNvPicPr>
            <a:picLocks noChangeAspect="1"/>
          </p:cNvPicPr>
          <p:nvPr/>
        </p:nvPicPr>
        <p:blipFill>
          <a:blip r:embed="rId2"/>
          <a:stretch>
            <a:fillRect/>
          </a:stretch>
        </p:blipFill>
        <p:spPr>
          <a:xfrm>
            <a:off x="3695700" y="5595938"/>
            <a:ext cx="8496300" cy="1162050"/>
          </a:xfrm>
          <a:prstGeom prst="rect">
            <a:avLst/>
          </a:prstGeom>
        </p:spPr>
      </p:pic>
    </p:spTree>
    <p:extLst>
      <p:ext uri="{BB962C8B-B14F-4D97-AF65-F5344CB8AC3E}">
        <p14:creationId xmlns:p14="http://schemas.microsoft.com/office/powerpoint/2010/main" val="11550934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A6F72-3E1A-96BF-F7F2-4C219189D467}"/>
              </a:ext>
            </a:extLst>
          </p:cNvPr>
          <p:cNvSpPr>
            <a:spLocks noGrp="1"/>
          </p:cNvSpPr>
          <p:nvPr>
            <p:ph type="title"/>
          </p:nvPr>
        </p:nvSpPr>
        <p:spPr>
          <a:xfrm>
            <a:off x="838200" y="365125"/>
            <a:ext cx="10515600" cy="863907"/>
          </a:xfrm>
        </p:spPr>
        <p:txBody>
          <a:bodyPr/>
          <a:lstStyle/>
          <a:p>
            <a:r>
              <a:rPr lang="en-US" dirty="0">
                <a:latin typeface="Times New Roman" panose="02020603050405020304" pitchFamily="18" charset="0"/>
                <a:cs typeface="Times New Roman" panose="02020603050405020304" pitchFamily="18" charset="0"/>
              </a:rPr>
              <a:t>PHP Write to File - </a:t>
            </a:r>
            <a:r>
              <a:rPr lang="en-US" dirty="0" err="1">
                <a:latin typeface="Times New Roman" panose="02020603050405020304" pitchFamily="18" charset="0"/>
                <a:cs typeface="Times New Roman" panose="02020603050405020304" pitchFamily="18" charset="0"/>
              </a:rPr>
              <a:t>fwrite</a:t>
            </a:r>
            <a:r>
              <a:rPr lang="en-US" dirty="0">
                <a:latin typeface="Times New Roman" panose="02020603050405020304" pitchFamily="18" charset="0"/>
                <a:cs typeface="Times New Roman" panose="02020603050405020304" pitchFamily="18" charset="0"/>
              </a:rPr>
              <a:t>()</a:t>
            </a:r>
            <a:endParaRPr lang="en-IN" dirty="0"/>
          </a:p>
        </p:txBody>
      </p:sp>
      <p:sp>
        <p:nvSpPr>
          <p:cNvPr id="3" name="Content Placeholder 2">
            <a:extLst>
              <a:ext uri="{FF2B5EF4-FFF2-40B4-BE49-F238E27FC236}">
                <a16:creationId xmlns:a16="http://schemas.microsoft.com/office/drawing/2014/main" id="{35FE7028-E071-7A78-4431-D5989C545BF8}"/>
              </a:ext>
            </a:extLst>
          </p:cNvPr>
          <p:cNvSpPr>
            <a:spLocks noGrp="1"/>
          </p:cNvSpPr>
          <p:nvPr>
            <p:ph idx="1"/>
          </p:nvPr>
        </p:nvSpPr>
        <p:spPr>
          <a:xfrm>
            <a:off x="838200" y="1366684"/>
            <a:ext cx="10515600" cy="4810279"/>
          </a:xfrm>
        </p:spPr>
        <p:txBody>
          <a:bodyPr>
            <a:normAutofit fontScale="77500" lnSpcReduction="20000"/>
          </a:bodyPr>
          <a:lstStyle/>
          <a:p>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fwrite</a:t>
            </a:r>
            <a:r>
              <a:rPr lang="en-US" dirty="0">
                <a:latin typeface="Times New Roman" panose="02020603050405020304" pitchFamily="18" charset="0"/>
                <a:cs typeface="Times New Roman" panose="02020603050405020304" pitchFamily="18" charset="0"/>
              </a:rPr>
              <a:t>() function is used to write to a file.</a:t>
            </a:r>
          </a:p>
          <a:p>
            <a:r>
              <a:rPr lang="en-US" dirty="0">
                <a:latin typeface="Times New Roman" panose="02020603050405020304" pitchFamily="18" charset="0"/>
                <a:cs typeface="Times New Roman" panose="02020603050405020304" pitchFamily="18" charset="0"/>
              </a:rPr>
              <a:t>The first parameter of </a:t>
            </a:r>
            <a:r>
              <a:rPr lang="en-US" dirty="0" err="1">
                <a:latin typeface="Times New Roman" panose="02020603050405020304" pitchFamily="18" charset="0"/>
                <a:cs typeface="Times New Roman" panose="02020603050405020304" pitchFamily="18" charset="0"/>
              </a:rPr>
              <a:t>fwrite</a:t>
            </a:r>
            <a:r>
              <a:rPr lang="en-US" dirty="0">
                <a:latin typeface="Times New Roman" panose="02020603050405020304" pitchFamily="18" charset="0"/>
                <a:cs typeface="Times New Roman" panose="02020603050405020304" pitchFamily="18" charset="0"/>
              </a:rPr>
              <a:t>() contains the name of the file to write to and the second parameter is the string to be written.</a:t>
            </a:r>
          </a:p>
          <a:p>
            <a:r>
              <a:rPr lang="en-US" dirty="0">
                <a:latin typeface="Times New Roman" panose="02020603050405020304" pitchFamily="18" charset="0"/>
                <a:cs typeface="Times New Roman" panose="02020603050405020304" pitchFamily="18" charset="0"/>
              </a:rPr>
              <a:t>The example below writes a couple of names into a new file called "newfile.txt":</a:t>
            </a:r>
          </a:p>
          <a:p>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&lt;?</a:t>
            </a:r>
            <a:r>
              <a:rPr lang="en-US" dirty="0" err="1">
                <a:latin typeface="Times New Roman" panose="02020603050405020304" pitchFamily="18" charset="0"/>
                <a:cs typeface="Times New Roman" panose="02020603050405020304" pitchFamily="18" charset="0"/>
              </a:rPr>
              <a:t>php</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myfile</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fopen</a:t>
            </a:r>
            <a:r>
              <a:rPr lang="en-US" dirty="0">
                <a:latin typeface="Times New Roman" panose="02020603050405020304" pitchFamily="18" charset="0"/>
                <a:cs typeface="Times New Roman" panose="02020603050405020304" pitchFamily="18" charset="0"/>
              </a:rPr>
              <a:t>("newfile.txt", "w") or die("Unable to open file!");</a:t>
            </a:r>
          </a:p>
          <a:p>
            <a:pPr marL="0" indent="0">
              <a:buNone/>
            </a:pPr>
            <a:r>
              <a:rPr lang="en-US" dirty="0">
                <a:latin typeface="Times New Roman" panose="02020603050405020304" pitchFamily="18" charset="0"/>
                <a:cs typeface="Times New Roman" panose="02020603050405020304" pitchFamily="18" charset="0"/>
              </a:rPr>
              <a:t>$txt = "John William\n";</a:t>
            </a:r>
          </a:p>
          <a:p>
            <a:pPr marL="0" indent="0">
              <a:buNone/>
            </a:pPr>
            <a:r>
              <a:rPr lang="en-US" dirty="0" err="1">
                <a:latin typeface="Times New Roman" panose="02020603050405020304" pitchFamily="18" charset="0"/>
                <a:cs typeface="Times New Roman" panose="02020603050405020304" pitchFamily="18" charset="0"/>
              </a:rPr>
              <a:t>fwrite</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myfile</a:t>
            </a:r>
            <a:r>
              <a:rPr lang="en-US" dirty="0">
                <a:latin typeface="Times New Roman" panose="02020603050405020304" pitchFamily="18" charset="0"/>
                <a:cs typeface="Times New Roman" panose="02020603050405020304" pitchFamily="18" charset="0"/>
              </a:rPr>
              <a:t>, $txt);</a:t>
            </a:r>
          </a:p>
          <a:p>
            <a:pPr marL="0" indent="0">
              <a:buNone/>
            </a:pPr>
            <a:r>
              <a:rPr lang="en-US" dirty="0">
                <a:latin typeface="Times New Roman" panose="02020603050405020304" pitchFamily="18" charset="0"/>
                <a:cs typeface="Times New Roman" panose="02020603050405020304" pitchFamily="18" charset="0"/>
              </a:rPr>
              <a:t>$txt = "John Smith\n";</a:t>
            </a:r>
          </a:p>
          <a:p>
            <a:pPr marL="0" indent="0">
              <a:buNone/>
            </a:pPr>
            <a:r>
              <a:rPr lang="en-US" dirty="0" err="1">
                <a:latin typeface="Times New Roman" panose="02020603050405020304" pitchFamily="18" charset="0"/>
                <a:cs typeface="Times New Roman" panose="02020603050405020304" pitchFamily="18" charset="0"/>
              </a:rPr>
              <a:t>fwrite</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myfile</a:t>
            </a:r>
            <a:r>
              <a:rPr lang="en-US" dirty="0">
                <a:latin typeface="Times New Roman" panose="02020603050405020304" pitchFamily="18" charset="0"/>
                <a:cs typeface="Times New Roman" panose="02020603050405020304" pitchFamily="18" charset="0"/>
              </a:rPr>
              <a:t>, $txt);</a:t>
            </a:r>
          </a:p>
          <a:p>
            <a:pPr marL="0" indent="0">
              <a:buNone/>
            </a:pPr>
            <a:r>
              <a:rPr lang="en-US" dirty="0" err="1">
                <a:latin typeface="Times New Roman" panose="02020603050405020304" pitchFamily="18" charset="0"/>
                <a:cs typeface="Times New Roman" panose="02020603050405020304" pitchFamily="18" charset="0"/>
              </a:rPr>
              <a:t>fclose</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myfile</a:t>
            </a: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?&gt;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1770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8039D7-BF23-0B8C-1AC5-09E5F5DF9A34}"/>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Notice that we wrote to the file "newfile.txt" twice. </a:t>
            </a:r>
          </a:p>
          <a:p>
            <a:pPr algn="just"/>
            <a:r>
              <a:rPr lang="en-US" dirty="0">
                <a:latin typeface="Times New Roman" panose="02020603050405020304" pitchFamily="18" charset="0"/>
                <a:cs typeface="Times New Roman" panose="02020603050405020304" pitchFamily="18" charset="0"/>
              </a:rPr>
              <a:t>Each time we wrote to the file we sent the string $txt that first contained "John Doe" and second contained "Jane Doe". </a:t>
            </a:r>
          </a:p>
          <a:p>
            <a:pPr algn="just"/>
            <a:r>
              <a:rPr lang="en-US" dirty="0">
                <a:latin typeface="Times New Roman" panose="02020603050405020304" pitchFamily="18" charset="0"/>
                <a:cs typeface="Times New Roman" panose="02020603050405020304" pitchFamily="18" charset="0"/>
              </a:rPr>
              <a:t>After we finished writing, we closed the file using the </a:t>
            </a:r>
            <a:r>
              <a:rPr lang="en-US" dirty="0" err="1">
                <a:latin typeface="Times New Roman" panose="02020603050405020304" pitchFamily="18" charset="0"/>
                <a:cs typeface="Times New Roman" panose="02020603050405020304" pitchFamily="18" charset="0"/>
              </a:rPr>
              <a:t>fclose</a:t>
            </a:r>
            <a:r>
              <a:rPr lang="en-US" dirty="0">
                <a:latin typeface="Times New Roman" panose="02020603050405020304" pitchFamily="18" charset="0"/>
                <a:cs typeface="Times New Roman" panose="02020603050405020304" pitchFamily="18" charset="0"/>
              </a:rPr>
              <a:t>() function.</a:t>
            </a:r>
          </a:p>
          <a:p>
            <a:pPr algn="just"/>
            <a:r>
              <a:rPr lang="en-US" dirty="0">
                <a:latin typeface="Times New Roman" panose="02020603050405020304" pitchFamily="18" charset="0"/>
                <a:cs typeface="Times New Roman" panose="02020603050405020304" pitchFamily="18" charset="0"/>
              </a:rPr>
              <a:t>If we open the "newfile.txt" file it would look like this:</a:t>
            </a:r>
          </a:p>
          <a:p>
            <a:pPr marL="0" indent="0" algn="just">
              <a:buNone/>
            </a:pPr>
            <a:r>
              <a:rPr lang="en-US" b="1" dirty="0">
                <a:latin typeface="Times New Roman" panose="02020603050405020304" pitchFamily="18" charset="0"/>
                <a:cs typeface="Times New Roman" panose="02020603050405020304" pitchFamily="18" charset="0"/>
              </a:rPr>
              <a:t>Output</a:t>
            </a:r>
          </a:p>
          <a:p>
            <a:pPr marL="0" indent="0" algn="just">
              <a:buNone/>
            </a:pPr>
            <a:r>
              <a:rPr lang="en-US" dirty="0">
                <a:latin typeface="Times New Roman" panose="02020603050405020304" pitchFamily="18" charset="0"/>
                <a:cs typeface="Times New Roman" panose="02020603050405020304" pitchFamily="18" charset="0"/>
              </a:rPr>
              <a:t>John William</a:t>
            </a:r>
          </a:p>
          <a:p>
            <a:pPr marL="0" indent="0" algn="just">
              <a:buNone/>
            </a:pPr>
            <a:r>
              <a:rPr lang="en-US" dirty="0">
                <a:latin typeface="Times New Roman" panose="02020603050405020304" pitchFamily="18" charset="0"/>
                <a:cs typeface="Times New Roman" panose="02020603050405020304" pitchFamily="18" charset="0"/>
              </a:rPr>
              <a:t>John Smith</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87380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2EB88-59B3-502C-0947-C0F0AE24172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PHP Overwriting</a:t>
            </a:r>
            <a:endParaRPr lang="en-IN" dirty="0"/>
          </a:p>
        </p:txBody>
      </p:sp>
      <p:sp>
        <p:nvSpPr>
          <p:cNvPr id="3" name="Content Placeholder 2">
            <a:extLst>
              <a:ext uri="{FF2B5EF4-FFF2-40B4-BE49-F238E27FC236}">
                <a16:creationId xmlns:a16="http://schemas.microsoft.com/office/drawing/2014/main" id="{3CFFD699-A5F2-D225-1C7C-0307E94DC859}"/>
              </a:ext>
            </a:extLst>
          </p:cNvPr>
          <p:cNvSpPr>
            <a:spLocks noGrp="1"/>
          </p:cNvSpPr>
          <p:nvPr>
            <p:ph idx="1"/>
          </p:nvPr>
        </p:nvSpPr>
        <p:spPr/>
        <p:txBody>
          <a:bodyPr>
            <a:normAutofit fontScale="70000" lnSpcReduction="20000"/>
          </a:bodyPr>
          <a:lstStyle/>
          <a:p>
            <a:r>
              <a:rPr lang="en-US" dirty="0">
                <a:latin typeface="Times New Roman" panose="02020603050405020304" pitchFamily="18" charset="0"/>
                <a:cs typeface="Times New Roman" panose="02020603050405020304" pitchFamily="18" charset="0"/>
              </a:rPr>
              <a:t>Now that "newfile.txt" contains some data we can show what happens when we open an existing file for writing. All the existing data will be ERASED and we start with an empty file.</a:t>
            </a:r>
          </a:p>
          <a:p>
            <a:r>
              <a:rPr lang="en-US" dirty="0">
                <a:latin typeface="Times New Roman" panose="02020603050405020304" pitchFamily="18" charset="0"/>
                <a:cs typeface="Times New Roman" panose="02020603050405020304" pitchFamily="18" charset="0"/>
              </a:rPr>
              <a:t>In the example below we open our existing file "newfile.txt", and write some new data into it:</a:t>
            </a:r>
          </a:p>
          <a:p>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&lt;?</a:t>
            </a:r>
            <a:r>
              <a:rPr lang="en-US" dirty="0" err="1">
                <a:latin typeface="Times New Roman" panose="02020603050405020304" pitchFamily="18" charset="0"/>
                <a:cs typeface="Times New Roman" panose="02020603050405020304" pitchFamily="18" charset="0"/>
              </a:rPr>
              <a:t>php</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myfile</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fopen</a:t>
            </a:r>
            <a:r>
              <a:rPr lang="en-US" dirty="0">
                <a:latin typeface="Times New Roman" panose="02020603050405020304" pitchFamily="18" charset="0"/>
                <a:cs typeface="Times New Roman" panose="02020603050405020304" pitchFamily="18" charset="0"/>
              </a:rPr>
              <a:t>("newfile.txt", "w") or die("Unable to open file!");</a:t>
            </a:r>
          </a:p>
          <a:p>
            <a:pPr marL="0" indent="0">
              <a:buNone/>
            </a:pPr>
            <a:r>
              <a:rPr lang="en-US" dirty="0">
                <a:latin typeface="Times New Roman" panose="02020603050405020304" pitchFamily="18" charset="0"/>
                <a:cs typeface="Times New Roman" panose="02020603050405020304" pitchFamily="18" charset="0"/>
              </a:rPr>
              <a:t>$txt = "Mickey Mouse\n";</a:t>
            </a:r>
          </a:p>
          <a:p>
            <a:pPr marL="0" indent="0">
              <a:buNone/>
            </a:pPr>
            <a:r>
              <a:rPr lang="en-US" dirty="0" err="1">
                <a:latin typeface="Times New Roman" panose="02020603050405020304" pitchFamily="18" charset="0"/>
                <a:cs typeface="Times New Roman" panose="02020603050405020304" pitchFamily="18" charset="0"/>
              </a:rPr>
              <a:t>fwrite</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myfile</a:t>
            </a:r>
            <a:r>
              <a:rPr lang="en-US" dirty="0">
                <a:latin typeface="Times New Roman" panose="02020603050405020304" pitchFamily="18" charset="0"/>
                <a:cs typeface="Times New Roman" panose="02020603050405020304" pitchFamily="18" charset="0"/>
              </a:rPr>
              <a:t>, $txt);</a:t>
            </a:r>
          </a:p>
          <a:p>
            <a:pPr marL="0" indent="0">
              <a:buNone/>
            </a:pPr>
            <a:r>
              <a:rPr lang="en-US" dirty="0">
                <a:latin typeface="Times New Roman" panose="02020603050405020304" pitchFamily="18" charset="0"/>
                <a:cs typeface="Times New Roman" panose="02020603050405020304" pitchFamily="18" charset="0"/>
              </a:rPr>
              <a:t>$txt = "Minnie Mouse\n";</a:t>
            </a:r>
          </a:p>
          <a:p>
            <a:pPr marL="0" indent="0">
              <a:buNone/>
            </a:pPr>
            <a:r>
              <a:rPr lang="en-US" dirty="0" err="1">
                <a:latin typeface="Times New Roman" panose="02020603050405020304" pitchFamily="18" charset="0"/>
                <a:cs typeface="Times New Roman" panose="02020603050405020304" pitchFamily="18" charset="0"/>
              </a:rPr>
              <a:t>fwrite</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myfile</a:t>
            </a:r>
            <a:r>
              <a:rPr lang="en-US" dirty="0">
                <a:latin typeface="Times New Roman" panose="02020603050405020304" pitchFamily="18" charset="0"/>
                <a:cs typeface="Times New Roman" panose="02020603050405020304" pitchFamily="18" charset="0"/>
              </a:rPr>
              <a:t>, $txt);</a:t>
            </a:r>
          </a:p>
          <a:p>
            <a:pPr marL="0" indent="0">
              <a:buNone/>
            </a:pPr>
            <a:r>
              <a:rPr lang="en-US" dirty="0" err="1">
                <a:latin typeface="Times New Roman" panose="02020603050405020304" pitchFamily="18" charset="0"/>
                <a:cs typeface="Times New Roman" panose="02020603050405020304" pitchFamily="18" charset="0"/>
              </a:rPr>
              <a:t>fclose</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myfile</a:t>
            </a: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?&gt;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28288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C45580-AF42-F778-9A40-69871231535C}"/>
              </a:ext>
            </a:extLst>
          </p:cNvPr>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If we now open the "newfile.txt" file, both John William and John Smith</a:t>
            </a:r>
            <a:r>
              <a:rPr lang="en-IN"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have vanished, and only the data we just wrote is present:</a:t>
            </a:r>
          </a:p>
          <a:p>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Output</a:t>
            </a: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Mickey Mouse</a:t>
            </a:r>
          </a:p>
          <a:p>
            <a:pPr marL="0" indent="0">
              <a:buNone/>
            </a:pPr>
            <a:r>
              <a:rPr lang="en-US" dirty="0">
                <a:latin typeface="Times New Roman" panose="02020603050405020304" pitchFamily="18" charset="0"/>
                <a:cs typeface="Times New Roman" panose="02020603050405020304" pitchFamily="18" charset="0"/>
              </a:rPr>
              <a:t>Minnie Mouse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0753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23F9-253B-312F-174F-70ACFF7BF017}"/>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PHP Append Text</a:t>
            </a:r>
            <a:endParaRPr lang="en-IN" dirty="0"/>
          </a:p>
        </p:txBody>
      </p:sp>
      <p:sp>
        <p:nvSpPr>
          <p:cNvPr id="3" name="Content Placeholder 2">
            <a:extLst>
              <a:ext uri="{FF2B5EF4-FFF2-40B4-BE49-F238E27FC236}">
                <a16:creationId xmlns:a16="http://schemas.microsoft.com/office/drawing/2014/main" id="{9859AFD7-4772-4152-1DF4-BA393CB7E342}"/>
              </a:ext>
            </a:extLst>
          </p:cNvPr>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To append data to a file by using the "a" mode. </a:t>
            </a:r>
          </a:p>
          <a:p>
            <a:r>
              <a:rPr lang="en-US" dirty="0">
                <a:latin typeface="Times New Roman" panose="02020603050405020304" pitchFamily="18" charset="0"/>
                <a:cs typeface="Times New Roman" panose="02020603050405020304" pitchFamily="18" charset="0"/>
              </a:rPr>
              <a:t>The "a" mode appends text to the end of the file, while the "w" mode overrides (and erases) the old content of the file.</a:t>
            </a:r>
          </a:p>
          <a:p>
            <a:r>
              <a:rPr lang="en-US" dirty="0">
                <a:latin typeface="Times New Roman" panose="02020603050405020304" pitchFamily="18" charset="0"/>
                <a:cs typeface="Times New Roman" panose="02020603050405020304" pitchFamily="18" charset="0"/>
              </a:rPr>
              <a:t>In the example below we open our existing file "newfile.txt", and append some text to it:</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923859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CBCE09-D2E4-7BA1-CB33-295FB6EE8A1E}"/>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&lt;?</a:t>
            </a:r>
            <a:r>
              <a:rPr lang="en-US" dirty="0" err="1">
                <a:latin typeface="Times New Roman" panose="02020603050405020304" pitchFamily="18" charset="0"/>
                <a:cs typeface="Times New Roman" panose="02020603050405020304" pitchFamily="18" charset="0"/>
              </a:rPr>
              <a:t>php</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myfile</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fopen</a:t>
            </a:r>
            <a:r>
              <a:rPr lang="en-US" dirty="0">
                <a:latin typeface="Times New Roman" panose="02020603050405020304" pitchFamily="18" charset="0"/>
                <a:cs typeface="Times New Roman" panose="02020603050405020304" pitchFamily="18" charset="0"/>
              </a:rPr>
              <a:t>("newfile.txt", "a") or die("Unable to open file!");</a:t>
            </a:r>
          </a:p>
          <a:p>
            <a:pPr marL="0" indent="0">
              <a:buNone/>
            </a:pPr>
            <a:r>
              <a:rPr lang="en-US" dirty="0">
                <a:latin typeface="Times New Roman" panose="02020603050405020304" pitchFamily="18" charset="0"/>
                <a:cs typeface="Times New Roman" panose="02020603050405020304" pitchFamily="18" charset="0"/>
              </a:rPr>
              <a:t>$txt = "Donald Duck\n";</a:t>
            </a:r>
          </a:p>
          <a:p>
            <a:pPr marL="0" indent="0">
              <a:buNone/>
            </a:pPr>
            <a:r>
              <a:rPr lang="en-US" dirty="0" err="1">
                <a:latin typeface="Times New Roman" panose="02020603050405020304" pitchFamily="18" charset="0"/>
                <a:cs typeface="Times New Roman" panose="02020603050405020304" pitchFamily="18" charset="0"/>
              </a:rPr>
              <a:t>fwrite</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myfile</a:t>
            </a:r>
            <a:r>
              <a:rPr lang="en-US" dirty="0">
                <a:latin typeface="Times New Roman" panose="02020603050405020304" pitchFamily="18" charset="0"/>
                <a:cs typeface="Times New Roman" panose="02020603050405020304" pitchFamily="18" charset="0"/>
              </a:rPr>
              <a:t>, $txt);</a:t>
            </a:r>
          </a:p>
          <a:p>
            <a:pPr marL="0" indent="0">
              <a:buNone/>
            </a:pPr>
            <a:r>
              <a:rPr lang="en-US" dirty="0">
                <a:latin typeface="Times New Roman" panose="02020603050405020304" pitchFamily="18" charset="0"/>
                <a:cs typeface="Times New Roman" panose="02020603050405020304" pitchFamily="18" charset="0"/>
              </a:rPr>
              <a:t>$txt = “Harshith\n";</a:t>
            </a:r>
          </a:p>
          <a:p>
            <a:pPr marL="0" indent="0">
              <a:buNone/>
            </a:pPr>
            <a:r>
              <a:rPr lang="en-US" dirty="0" err="1">
                <a:latin typeface="Times New Roman" panose="02020603050405020304" pitchFamily="18" charset="0"/>
                <a:cs typeface="Times New Roman" panose="02020603050405020304" pitchFamily="18" charset="0"/>
              </a:rPr>
              <a:t>fwrite</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myfile</a:t>
            </a:r>
            <a:r>
              <a:rPr lang="en-US" dirty="0">
                <a:latin typeface="Times New Roman" panose="02020603050405020304" pitchFamily="18" charset="0"/>
                <a:cs typeface="Times New Roman" panose="02020603050405020304" pitchFamily="18" charset="0"/>
              </a:rPr>
              <a:t>, $txt);</a:t>
            </a:r>
          </a:p>
          <a:p>
            <a:pPr marL="0" indent="0">
              <a:buNone/>
            </a:pPr>
            <a:r>
              <a:rPr lang="en-US" dirty="0" err="1">
                <a:latin typeface="Times New Roman" panose="02020603050405020304" pitchFamily="18" charset="0"/>
                <a:cs typeface="Times New Roman" panose="02020603050405020304" pitchFamily="18" charset="0"/>
              </a:rPr>
              <a:t>fclose</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myfile</a:t>
            </a: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?&gt;</a:t>
            </a: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334536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789D06-B170-EEF9-8E48-117229C97E69}"/>
              </a:ext>
            </a:extLst>
          </p:cNvPr>
          <p:cNvSpPr>
            <a:spLocks noGrp="1"/>
          </p:cNvSpPr>
          <p:nvPr>
            <p:ph idx="1"/>
          </p:nvPr>
        </p:nvSpPr>
        <p:spPr/>
        <p:txBody>
          <a:bodyPr/>
          <a:lstStyle/>
          <a:p>
            <a:r>
              <a:rPr lang="en-US" b="0" i="0" dirty="0">
                <a:solidFill>
                  <a:srgbClr val="000000"/>
                </a:solidFill>
                <a:effectLst/>
                <a:latin typeface="Times New Roman" panose="02020603050405020304" pitchFamily="18" charset="0"/>
                <a:cs typeface="Times New Roman" panose="02020603050405020304" pitchFamily="18" charset="0"/>
              </a:rPr>
              <a:t>If we now open the "newfile.txt" file, we will see that Donald Duck and </a:t>
            </a:r>
            <a:r>
              <a:rPr lang="en-US" dirty="0">
                <a:solidFill>
                  <a:srgbClr val="000000"/>
                </a:solidFill>
                <a:latin typeface="Times New Roman" panose="02020603050405020304" pitchFamily="18" charset="0"/>
                <a:cs typeface="Times New Roman" panose="02020603050405020304" pitchFamily="18" charset="0"/>
              </a:rPr>
              <a:t>Harshith </a:t>
            </a:r>
            <a:r>
              <a:rPr lang="en-US" b="0" i="0" dirty="0">
                <a:solidFill>
                  <a:srgbClr val="000000"/>
                </a:solidFill>
                <a:effectLst/>
                <a:latin typeface="Times New Roman" panose="02020603050405020304" pitchFamily="18" charset="0"/>
                <a:cs typeface="Times New Roman" panose="02020603050405020304" pitchFamily="18" charset="0"/>
              </a:rPr>
              <a:t>is appended to the end of the file: </a:t>
            </a:r>
          </a:p>
          <a:p>
            <a:pPr marL="0" indent="0">
              <a:buNone/>
            </a:pPr>
            <a:r>
              <a:rPr lang="en-US" b="1" dirty="0">
                <a:solidFill>
                  <a:srgbClr val="000000"/>
                </a:solidFill>
                <a:latin typeface="Times New Roman" panose="02020603050405020304" pitchFamily="18" charset="0"/>
                <a:cs typeface="Times New Roman" panose="02020603050405020304" pitchFamily="18" charset="0"/>
              </a:rPr>
              <a:t>Output</a:t>
            </a:r>
            <a:r>
              <a:rPr lang="en-US" dirty="0">
                <a:solidFill>
                  <a:srgbClr val="000000"/>
                </a:solidFill>
                <a:latin typeface="Times New Roman" panose="02020603050405020304" pitchFamily="18" charset="0"/>
                <a:cs typeface="Times New Roman" panose="02020603050405020304" pitchFamily="18" charset="0"/>
              </a:rPr>
              <a:t>:</a:t>
            </a:r>
            <a:endParaRPr lang="en-US" b="0" i="0" dirty="0">
              <a:solidFill>
                <a:srgbClr val="000000"/>
              </a:solidFill>
              <a:effectLst/>
              <a:latin typeface="Times New Roman" panose="02020603050405020304" pitchFamily="18" charset="0"/>
              <a:cs typeface="Times New Roman" panose="02020603050405020304" pitchFamily="18" charset="0"/>
            </a:endParaRPr>
          </a:p>
          <a:p>
            <a:pPr marL="0" indent="0">
              <a:buNone/>
            </a:pPr>
            <a:r>
              <a:rPr lang="en-US" b="0" i="0" dirty="0">
                <a:solidFill>
                  <a:srgbClr val="000000"/>
                </a:solidFill>
                <a:effectLst/>
                <a:latin typeface="Times New Roman" panose="02020603050405020304" pitchFamily="18" charset="0"/>
                <a:cs typeface="Times New Roman" panose="02020603050405020304" pitchFamily="18" charset="0"/>
              </a:rPr>
              <a:t>Mickey Mouse</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Minnie Mouse</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Donald Duck</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solidFill>
                  <a:srgbClr val="000000"/>
                </a:solidFill>
                <a:latin typeface="Times New Roman" panose="02020603050405020304" pitchFamily="18" charset="0"/>
                <a:cs typeface="Times New Roman" panose="02020603050405020304" pitchFamily="18" charset="0"/>
              </a:rPr>
              <a:t>Harshith</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506786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2AF5E-E53F-DBE0-DD9C-9502863CBFE9}"/>
              </a:ext>
            </a:extLst>
          </p:cNvPr>
          <p:cNvSpPr>
            <a:spLocks noGrp="1"/>
          </p:cNvSpPr>
          <p:nvPr>
            <p:ph type="title"/>
          </p:nvPr>
        </p:nvSpPr>
        <p:spPr/>
        <p:txBody>
          <a:bodyPr/>
          <a:lstStyle/>
          <a:p>
            <a:r>
              <a:rPr lang="en-IN" b="0" i="0" dirty="0">
                <a:solidFill>
                  <a:srgbClr val="000000"/>
                </a:solidFill>
                <a:effectLst/>
                <a:latin typeface="Times New Roman" panose="02020603050405020304" pitchFamily="18" charset="0"/>
                <a:cs typeface="Times New Roman" panose="02020603050405020304" pitchFamily="18" charset="0"/>
              </a:rPr>
              <a:t>PHP What is OOP?</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994C4BF-5DF7-27F9-4C6D-A83B83AD5075}"/>
              </a:ext>
            </a:extLst>
          </p:cNvPr>
          <p:cNvSpPr>
            <a:spLocks noGrp="1"/>
          </p:cNvSpPr>
          <p:nvPr>
            <p:ph idx="1"/>
          </p:nvPr>
        </p:nvSpPr>
        <p:spPr/>
        <p:txBody>
          <a:bodyPr/>
          <a:lstStyle/>
          <a:p>
            <a:pPr algn="just"/>
            <a:r>
              <a:rPr lang="en-US" b="0" i="0" dirty="0">
                <a:solidFill>
                  <a:srgbClr val="000000"/>
                </a:solidFill>
                <a:effectLst/>
                <a:latin typeface="Times New Roman" panose="02020603050405020304" pitchFamily="18" charset="0"/>
                <a:cs typeface="Times New Roman" panose="02020603050405020304" pitchFamily="18" charset="0"/>
              </a:rPr>
              <a:t>OOP stands for Object-Oriented Programming.</a:t>
            </a:r>
          </a:p>
          <a:p>
            <a:pPr algn="just"/>
            <a:r>
              <a:rPr lang="en-US" b="0" i="0" dirty="0">
                <a:solidFill>
                  <a:srgbClr val="000000"/>
                </a:solidFill>
                <a:effectLst/>
                <a:latin typeface="Times New Roman" panose="02020603050405020304" pitchFamily="18" charset="0"/>
                <a:cs typeface="Times New Roman" panose="02020603050405020304" pitchFamily="18" charset="0"/>
              </a:rPr>
              <a:t>Procedural programming is about writing procedures or functions that perform operations on the data, while object-oriented programming is about creating objects that contain both data and functions.</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592985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8CD33-A9B5-ACF0-9623-FD3462E6F919}"/>
              </a:ext>
            </a:extLst>
          </p:cNvPr>
          <p:cNvSpPr>
            <a:spLocks noGrp="1"/>
          </p:cNvSpPr>
          <p:nvPr>
            <p:ph type="title"/>
          </p:nvPr>
        </p:nvSpPr>
        <p:spPr/>
        <p:txBody>
          <a:bodyPr>
            <a:normAutofit/>
          </a:bodyPr>
          <a:lstStyle/>
          <a:p>
            <a:r>
              <a:rPr lang="en-US" b="0" i="0" dirty="0">
                <a:solidFill>
                  <a:srgbClr val="000000"/>
                </a:solidFill>
                <a:effectLst/>
                <a:latin typeface="Times New Roman" panose="02020603050405020304" pitchFamily="18" charset="0"/>
                <a:cs typeface="Times New Roman" panose="02020603050405020304" pitchFamily="18" charset="0"/>
              </a:rPr>
              <a:t>Object-oriented programming has several advantages over procedural programming:</a:t>
            </a:r>
            <a:endParaRPr lang="en-IN" dirty="0"/>
          </a:p>
        </p:txBody>
      </p:sp>
      <p:sp>
        <p:nvSpPr>
          <p:cNvPr id="3" name="Content Placeholder 2">
            <a:extLst>
              <a:ext uri="{FF2B5EF4-FFF2-40B4-BE49-F238E27FC236}">
                <a16:creationId xmlns:a16="http://schemas.microsoft.com/office/drawing/2014/main" id="{173E1657-FDE8-4E53-CB79-F2F298A9C400}"/>
              </a:ext>
            </a:extLst>
          </p:cNvPr>
          <p:cNvSpPr>
            <a:spLocks noGrp="1"/>
          </p:cNvSpPr>
          <p:nvPr>
            <p:ph idx="1"/>
          </p:nvPr>
        </p:nvSpPr>
        <p:spPr/>
        <p:txBody>
          <a:bodyPr>
            <a:normAutofit/>
          </a:bodyPr>
          <a:lstStyle/>
          <a:p>
            <a:pPr algn="just">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OOP is faster and easier to execute</a:t>
            </a:r>
          </a:p>
          <a:p>
            <a:pPr algn="just">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OOP provides a clear structure for the programs</a:t>
            </a:r>
          </a:p>
          <a:p>
            <a:pPr algn="just">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OOP helps to keep the PHP code DRY "Don't Repeat Yourself", and makes the code easier to maintain, modify and debug</a:t>
            </a:r>
          </a:p>
          <a:p>
            <a:pPr algn="just">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OOP makes it possible to create full reusable applications with less code and shorter development time</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742114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F50B0-D17D-2D0A-9B26-45646D6F5BB9}"/>
              </a:ext>
            </a:extLst>
          </p:cNvPr>
          <p:cNvSpPr>
            <a:spLocks noGrp="1"/>
          </p:cNvSpPr>
          <p:nvPr>
            <p:ph type="title"/>
          </p:nvPr>
        </p:nvSpPr>
        <p:spPr/>
        <p:txBody>
          <a:bodyPr/>
          <a:lstStyle/>
          <a:p>
            <a:r>
              <a:rPr lang="en-US" b="0" i="0" dirty="0">
                <a:solidFill>
                  <a:srgbClr val="000000"/>
                </a:solidFill>
                <a:effectLst/>
                <a:latin typeface="Times New Roman" panose="02020603050405020304" pitchFamily="18" charset="0"/>
                <a:cs typeface="Times New Roman" panose="02020603050405020304" pitchFamily="18" charset="0"/>
              </a:rPr>
              <a:t>PHP - What are Classes and Objects?</a:t>
            </a:r>
            <a:endParaRPr lang="en-IN" dirty="0"/>
          </a:p>
        </p:txBody>
      </p:sp>
      <p:sp>
        <p:nvSpPr>
          <p:cNvPr id="3" name="Content Placeholder 2">
            <a:extLst>
              <a:ext uri="{FF2B5EF4-FFF2-40B4-BE49-F238E27FC236}">
                <a16:creationId xmlns:a16="http://schemas.microsoft.com/office/drawing/2014/main" id="{D9D907CF-75E2-4064-BB6B-8E0DE69F8F91}"/>
              </a:ext>
            </a:extLst>
          </p:cNvPr>
          <p:cNvSpPr>
            <a:spLocks noGrp="1"/>
          </p:cNvSpPr>
          <p:nvPr>
            <p:ph idx="1"/>
          </p:nvPr>
        </p:nvSpPr>
        <p:spPr/>
        <p:txBody>
          <a:bodyPr/>
          <a:lstStyle/>
          <a:p>
            <a:pPr algn="l"/>
            <a:r>
              <a:rPr lang="en-US" b="0" i="0" dirty="0">
                <a:solidFill>
                  <a:srgbClr val="000000"/>
                </a:solidFill>
                <a:effectLst/>
                <a:latin typeface="Times New Roman" panose="02020603050405020304" pitchFamily="18" charset="0"/>
                <a:cs typeface="Times New Roman" panose="02020603050405020304" pitchFamily="18" charset="0"/>
              </a:rPr>
              <a:t>Classes and objects are the two main aspects of object-oriented programming.</a:t>
            </a:r>
          </a:p>
          <a:p>
            <a:pPr algn="l"/>
            <a:r>
              <a:rPr lang="en-US" b="0" i="0" dirty="0">
                <a:solidFill>
                  <a:srgbClr val="000000"/>
                </a:solidFill>
                <a:effectLst/>
                <a:latin typeface="Times New Roman" panose="02020603050405020304" pitchFamily="18" charset="0"/>
                <a:cs typeface="Times New Roman" panose="02020603050405020304" pitchFamily="18" charset="0"/>
              </a:rPr>
              <a:t>Look at the following illustration to see the difference between class and objects:</a:t>
            </a:r>
          </a:p>
          <a:p>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6C82411-AF3E-B0AA-10DE-01366C690C28}"/>
              </a:ext>
            </a:extLst>
          </p:cNvPr>
          <p:cNvPicPr>
            <a:picLocks noChangeAspect="1"/>
          </p:cNvPicPr>
          <p:nvPr/>
        </p:nvPicPr>
        <p:blipFill>
          <a:blip r:embed="rId2"/>
          <a:stretch>
            <a:fillRect/>
          </a:stretch>
        </p:blipFill>
        <p:spPr>
          <a:xfrm>
            <a:off x="4537434" y="3565822"/>
            <a:ext cx="6740166" cy="2927053"/>
          </a:xfrm>
          <a:prstGeom prst="rect">
            <a:avLst/>
          </a:prstGeom>
        </p:spPr>
      </p:pic>
    </p:spTree>
    <p:extLst>
      <p:ext uri="{BB962C8B-B14F-4D97-AF65-F5344CB8AC3E}">
        <p14:creationId xmlns:p14="http://schemas.microsoft.com/office/powerpoint/2010/main" val="69787893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BBBBE9-8DCE-C4A8-C932-6FF36850DC0A}"/>
              </a:ext>
            </a:extLst>
          </p:cNvPr>
          <p:cNvSpPr>
            <a:spLocks noGrp="1"/>
          </p:cNvSpPr>
          <p:nvPr>
            <p:ph idx="1"/>
          </p:nvPr>
        </p:nvSpPr>
        <p:spPr/>
        <p:txBody>
          <a:bodyPr/>
          <a:lstStyle/>
          <a:p>
            <a:pPr algn="just"/>
            <a:r>
              <a:rPr lang="en-US" b="0" i="0" dirty="0">
                <a:solidFill>
                  <a:srgbClr val="000000"/>
                </a:solidFill>
                <a:effectLst/>
                <a:latin typeface="Times New Roman" panose="02020603050405020304" pitchFamily="18" charset="0"/>
                <a:cs typeface="Times New Roman" panose="02020603050405020304" pitchFamily="18" charset="0"/>
              </a:rPr>
              <a:t>So, a class is a template for objects, and an object is an instance of a class.</a:t>
            </a:r>
          </a:p>
          <a:p>
            <a:pPr algn="just"/>
            <a:r>
              <a:rPr lang="en-US" b="0" i="0" dirty="0">
                <a:solidFill>
                  <a:srgbClr val="000000"/>
                </a:solidFill>
                <a:effectLst/>
                <a:latin typeface="Times New Roman" panose="02020603050405020304" pitchFamily="18" charset="0"/>
                <a:cs typeface="Times New Roman" panose="02020603050405020304" pitchFamily="18" charset="0"/>
              </a:rPr>
              <a:t>When the individual objects are created, they inherit all the properties and behaviors from the class, but each object will have different values for the properties.</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615015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B95C9-CBBF-8C57-5F40-58A7DA77BBC6}"/>
              </a:ext>
            </a:extLst>
          </p:cNvPr>
          <p:cNvSpPr>
            <a:spLocks noGrp="1"/>
          </p:cNvSpPr>
          <p:nvPr>
            <p:ph type="title"/>
          </p:nvPr>
        </p:nvSpPr>
        <p:spPr/>
        <p:txBody>
          <a:bodyPr/>
          <a:lstStyle/>
          <a:p>
            <a:r>
              <a:rPr lang="en-US" b="0" i="0" dirty="0">
                <a:solidFill>
                  <a:srgbClr val="000000"/>
                </a:solidFill>
                <a:effectLst/>
                <a:latin typeface="Times New Roman" panose="02020603050405020304" pitchFamily="18" charset="0"/>
                <a:cs typeface="Times New Roman" panose="02020603050405020304" pitchFamily="18" charset="0"/>
              </a:rPr>
              <a:t>OOP Case</a:t>
            </a:r>
            <a:endParaRPr lang="en-IN" dirty="0"/>
          </a:p>
        </p:txBody>
      </p:sp>
      <p:sp>
        <p:nvSpPr>
          <p:cNvPr id="3" name="Content Placeholder 2">
            <a:extLst>
              <a:ext uri="{FF2B5EF4-FFF2-40B4-BE49-F238E27FC236}">
                <a16:creationId xmlns:a16="http://schemas.microsoft.com/office/drawing/2014/main" id="{A71E8A0A-E72D-1B0C-A5B0-1637C8D44DB4}"/>
              </a:ext>
            </a:extLst>
          </p:cNvPr>
          <p:cNvSpPr>
            <a:spLocks noGrp="1"/>
          </p:cNvSpPr>
          <p:nvPr>
            <p:ph idx="1"/>
          </p:nvPr>
        </p:nvSpPr>
        <p:spPr/>
        <p:txBody>
          <a:bodyPr/>
          <a:lstStyle/>
          <a:p>
            <a:pPr algn="just"/>
            <a:r>
              <a:rPr lang="en-US" b="0" i="0" dirty="0">
                <a:solidFill>
                  <a:srgbClr val="000000"/>
                </a:solidFill>
                <a:effectLst/>
                <a:latin typeface="Times New Roman" panose="02020603050405020304" pitchFamily="18" charset="0"/>
                <a:cs typeface="Times New Roman" panose="02020603050405020304" pitchFamily="18" charset="0"/>
              </a:rPr>
              <a:t>Let's assume we have a class named Fruit. A Fruit can have properties like name, color, weight, etc. We can define variables like $name, $color, and $weight to hold the values of these properties.</a:t>
            </a:r>
          </a:p>
          <a:p>
            <a:pPr algn="just"/>
            <a:r>
              <a:rPr lang="en-US" b="0" i="0" dirty="0">
                <a:solidFill>
                  <a:srgbClr val="000000"/>
                </a:solidFill>
                <a:effectLst/>
                <a:latin typeface="Times New Roman" panose="02020603050405020304" pitchFamily="18" charset="0"/>
                <a:cs typeface="Times New Roman" panose="02020603050405020304" pitchFamily="18" charset="0"/>
              </a:rPr>
              <a:t>When the individual objects (apple, banana, etc.) are created, they inherit all the properties and behaviors from the class, but each object will have different values for the properties.</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199689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EF196-C7CD-6D9E-B0CC-A6D5D0E73D50}"/>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Define a Class</a:t>
            </a:r>
            <a:endParaRPr lang="en-IN" dirty="0"/>
          </a:p>
        </p:txBody>
      </p:sp>
      <p:sp>
        <p:nvSpPr>
          <p:cNvPr id="3" name="Content Placeholder 2">
            <a:extLst>
              <a:ext uri="{FF2B5EF4-FFF2-40B4-BE49-F238E27FC236}">
                <a16:creationId xmlns:a16="http://schemas.microsoft.com/office/drawing/2014/main" id="{0156D675-1006-7923-B082-0F7EB64B9402}"/>
              </a:ext>
            </a:extLst>
          </p:cNvPr>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A class is defined by using the class keyword, followed by the name of the class and a pair of curly braces ({}). All its properties and methods go inside the braces: </a:t>
            </a:r>
          </a:p>
          <a:p>
            <a:pPr marL="0" indent="0">
              <a:buNone/>
            </a:pPr>
            <a:r>
              <a:rPr lang="en-US" b="1" dirty="0">
                <a:latin typeface="Times New Roman" panose="02020603050405020304" pitchFamily="18" charset="0"/>
                <a:cs typeface="Times New Roman" panose="02020603050405020304" pitchFamily="18" charset="0"/>
              </a:rPr>
              <a:t>Syntax</a:t>
            </a:r>
          </a:p>
          <a:p>
            <a:pPr marL="0" indent="0">
              <a:buNone/>
            </a:pPr>
            <a:r>
              <a:rPr lang="en-US" dirty="0">
                <a:latin typeface="Times New Roman" panose="02020603050405020304" pitchFamily="18" charset="0"/>
                <a:cs typeface="Times New Roman" panose="02020603050405020304" pitchFamily="18" charset="0"/>
              </a:rPr>
              <a:t>&lt;?</a:t>
            </a:r>
            <a:r>
              <a:rPr lang="en-US" dirty="0" err="1">
                <a:latin typeface="Times New Roman" panose="02020603050405020304" pitchFamily="18" charset="0"/>
                <a:cs typeface="Times New Roman" panose="02020603050405020304" pitchFamily="18" charset="0"/>
              </a:rPr>
              <a:t>php</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class Fruit {</a:t>
            </a:r>
          </a:p>
          <a:p>
            <a:pPr marL="0" indent="0">
              <a:buNone/>
            </a:pPr>
            <a:r>
              <a:rPr lang="en-US" dirty="0">
                <a:latin typeface="Times New Roman" panose="02020603050405020304" pitchFamily="18" charset="0"/>
                <a:cs typeface="Times New Roman" panose="02020603050405020304" pitchFamily="18" charset="0"/>
              </a:rPr>
              <a:t>  // code goes here...</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?&gt;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02019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183F9-1A9F-FBD2-E877-5CF8AE831A07}"/>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Example</a:t>
            </a:r>
            <a:endParaRPr lang="en-IN" dirty="0"/>
          </a:p>
        </p:txBody>
      </p:sp>
      <p:sp>
        <p:nvSpPr>
          <p:cNvPr id="3" name="Content Placeholder 2">
            <a:extLst>
              <a:ext uri="{FF2B5EF4-FFF2-40B4-BE49-F238E27FC236}">
                <a16:creationId xmlns:a16="http://schemas.microsoft.com/office/drawing/2014/main" id="{9B8574A9-8A2B-14DD-1B1A-214AEE40ECB1}"/>
              </a:ext>
            </a:extLst>
          </p:cNvPr>
          <p:cNvSpPr>
            <a:spLocks noGrp="1"/>
          </p:cNvSpPr>
          <p:nvPr>
            <p:ph sz="half" idx="1"/>
          </p:nvPr>
        </p:nvSpPr>
        <p:spPr/>
        <p:txBody>
          <a:bodyPr>
            <a:normAutofit fontScale="85000" lnSpcReduction="20000"/>
          </a:bodyPr>
          <a:lstStyle/>
          <a:p>
            <a:pPr marL="0" indent="0">
              <a:buNone/>
            </a:pPr>
            <a:r>
              <a:rPr lang="en-US" dirty="0">
                <a:latin typeface="Times New Roman" panose="02020603050405020304" pitchFamily="18" charset="0"/>
                <a:cs typeface="Times New Roman" panose="02020603050405020304" pitchFamily="18" charset="0"/>
              </a:rPr>
              <a:t>&lt;?</a:t>
            </a:r>
            <a:r>
              <a:rPr lang="en-US" dirty="0" err="1">
                <a:latin typeface="Times New Roman" panose="02020603050405020304" pitchFamily="18" charset="0"/>
                <a:cs typeface="Times New Roman" panose="02020603050405020304" pitchFamily="18" charset="0"/>
              </a:rPr>
              <a:t>php</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class Fruit {</a:t>
            </a:r>
          </a:p>
          <a:p>
            <a:pPr marL="0" indent="0">
              <a:buNone/>
            </a:pPr>
            <a:r>
              <a:rPr lang="en-US" dirty="0">
                <a:latin typeface="Times New Roman" panose="02020603050405020304" pitchFamily="18" charset="0"/>
                <a:cs typeface="Times New Roman" panose="02020603050405020304" pitchFamily="18" charset="0"/>
              </a:rPr>
              <a:t>  </a:t>
            </a:r>
            <a:r>
              <a:rPr lang="en-US" b="1" dirty="0">
                <a:solidFill>
                  <a:srgbClr val="7030A0"/>
                </a:solidFill>
                <a:latin typeface="Times New Roman" panose="02020603050405020304" pitchFamily="18" charset="0"/>
                <a:cs typeface="Times New Roman" panose="02020603050405020304" pitchFamily="18" charset="0"/>
              </a:rPr>
              <a:t>// Properties</a:t>
            </a:r>
          </a:p>
          <a:p>
            <a:pPr marL="0" indent="0">
              <a:buNone/>
            </a:pPr>
            <a:r>
              <a:rPr lang="en-US" dirty="0">
                <a:latin typeface="Times New Roman" panose="02020603050405020304" pitchFamily="18" charset="0"/>
                <a:cs typeface="Times New Roman" panose="02020603050405020304" pitchFamily="18" charset="0"/>
              </a:rPr>
              <a:t>  public $name;</a:t>
            </a:r>
          </a:p>
          <a:p>
            <a:pPr marL="0" indent="0">
              <a:buNone/>
            </a:pPr>
            <a:r>
              <a:rPr lang="en-US" dirty="0">
                <a:latin typeface="Times New Roman" panose="02020603050405020304" pitchFamily="18" charset="0"/>
                <a:cs typeface="Times New Roman" panose="02020603050405020304" pitchFamily="18" charset="0"/>
              </a:rPr>
              <a:t>  public $color;</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r>
              <a:rPr lang="en-US" b="1" dirty="0">
                <a:solidFill>
                  <a:srgbClr val="7030A0"/>
                </a:solidFill>
                <a:latin typeface="Times New Roman" panose="02020603050405020304" pitchFamily="18" charset="0"/>
                <a:cs typeface="Times New Roman" panose="02020603050405020304" pitchFamily="18" charset="0"/>
              </a:rPr>
              <a:t>// Methods</a:t>
            </a:r>
          </a:p>
          <a:p>
            <a:pPr marL="0" indent="0">
              <a:buNone/>
            </a:pPr>
            <a:r>
              <a:rPr lang="en-US" dirty="0">
                <a:latin typeface="Times New Roman" panose="02020603050405020304" pitchFamily="18" charset="0"/>
                <a:cs typeface="Times New Roman" panose="02020603050405020304" pitchFamily="18" charset="0"/>
              </a:rPr>
              <a:t>  function </a:t>
            </a:r>
            <a:r>
              <a:rPr lang="en-US" dirty="0" err="1">
                <a:latin typeface="Times New Roman" panose="02020603050405020304" pitchFamily="18" charset="0"/>
                <a:cs typeface="Times New Roman" panose="02020603050405020304" pitchFamily="18" charset="0"/>
              </a:rPr>
              <a:t>set_name</a:t>
            </a:r>
            <a:r>
              <a:rPr lang="en-US" dirty="0">
                <a:latin typeface="Times New Roman" panose="02020603050405020304" pitchFamily="18" charset="0"/>
                <a:cs typeface="Times New Roman" panose="02020603050405020304" pitchFamily="18" charset="0"/>
              </a:rPr>
              <a:t>($name) {</a:t>
            </a:r>
          </a:p>
          <a:p>
            <a:pPr marL="0" indent="0">
              <a:buNone/>
            </a:pPr>
            <a:r>
              <a:rPr lang="en-US" dirty="0">
                <a:latin typeface="Times New Roman" panose="02020603050405020304" pitchFamily="18" charset="0"/>
                <a:cs typeface="Times New Roman" panose="02020603050405020304" pitchFamily="18" charset="0"/>
              </a:rPr>
              <a:t>    $this-&gt;name = $name;</a:t>
            </a:r>
          </a:p>
          <a:p>
            <a:pPr marL="0" indent="0">
              <a:buNone/>
            </a:pP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5CD55B55-ABB5-9F2C-A331-2B84D74D7281}"/>
              </a:ext>
            </a:extLst>
          </p:cNvPr>
          <p:cNvSpPr>
            <a:spLocks noGrp="1"/>
          </p:cNvSpPr>
          <p:nvPr>
            <p:ph sz="half" idx="2"/>
          </p:nvPr>
        </p:nvSpPr>
        <p:spPr/>
        <p:txBody>
          <a:bodyPr>
            <a:normAutofit fontScale="85000" lnSpcReduction="20000"/>
          </a:bodyPr>
          <a:lstStyle/>
          <a:p>
            <a:pPr marL="0" indent="0">
              <a:buNone/>
            </a:pPr>
            <a:r>
              <a:rPr lang="en-US" dirty="0">
                <a:latin typeface="Times New Roman" panose="02020603050405020304" pitchFamily="18" charset="0"/>
                <a:cs typeface="Times New Roman" panose="02020603050405020304" pitchFamily="18" charset="0"/>
              </a:rPr>
              <a:t>function </a:t>
            </a:r>
            <a:r>
              <a:rPr lang="en-US" dirty="0" err="1">
                <a:latin typeface="Times New Roman" panose="02020603050405020304" pitchFamily="18" charset="0"/>
                <a:cs typeface="Times New Roman" panose="02020603050405020304" pitchFamily="18" charset="0"/>
              </a:rPr>
              <a:t>get_name</a:t>
            </a: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    return $this-&gt;name;</a:t>
            </a:r>
          </a:p>
          <a:p>
            <a:pPr marL="0" indent="0">
              <a:buNone/>
            </a:pP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?&gt;</a:t>
            </a: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970658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156FA4-9CB2-A49F-516E-4CE8C987A33B}"/>
              </a:ext>
            </a:extLst>
          </p:cNvPr>
          <p:cNvSpPr>
            <a:spLocks noGrp="1"/>
          </p:cNvSpPr>
          <p:nvPr>
            <p:ph idx="1"/>
          </p:nvPr>
        </p:nvSpPr>
        <p:spPr/>
        <p:txBody>
          <a:bodyPr/>
          <a:lstStyle/>
          <a:p>
            <a:pPr algn="just"/>
            <a:r>
              <a:rPr lang="en-US" b="0" i="0" dirty="0">
                <a:solidFill>
                  <a:srgbClr val="000000"/>
                </a:solidFill>
                <a:effectLst/>
                <a:latin typeface="Times New Roman" panose="02020603050405020304" pitchFamily="18" charset="0"/>
                <a:cs typeface="Times New Roman" panose="02020603050405020304" pitchFamily="18" charset="0"/>
              </a:rPr>
              <a:t>A class named Fruit consisting of two properties ($name and $color) and two methods </a:t>
            </a:r>
            <a:r>
              <a:rPr lang="en-US" b="0" i="0" dirty="0" err="1">
                <a:solidFill>
                  <a:srgbClr val="000000"/>
                </a:solidFill>
                <a:effectLst/>
                <a:latin typeface="Times New Roman" panose="02020603050405020304" pitchFamily="18" charset="0"/>
                <a:cs typeface="Times New Roman" panose="02020603050405020304" pitchFamily="18" charset="0"/>
              </a:rPr>
              <a:t>set_name</a:t>
            </a:r>
            <a:r>
              <a:rPr lang="en-US" b="0" i="0" dirty="0">
                <a:solidFill>
                  <a:srgbClr val="000000"/>
                </a:solidFill>
                <a:effectLst/>
                <a:latin typeface="Times New Roman" panose="02020603050405020304" pitchFamily="18" charset="0"/>
                <a:cs typeface="Times New Roman" panose="02020603050405020304" pitchFamily="18" charset="0"/>
              </a:rPr>
              <a:t>() and </a:t>
            </a:r>
            <a:r>
              <a:rPr lang="en-US" b="0" i="0" dirty="0" err="1">
                <a:solidFill>
                  <a:srgbClr val="000000"/>
                </a:solidFill>
                <a:effectLst/>
                <a:latin typeface="Times New Roman" panose="02020603050405020304" pitchFamily="18" charset="0"/>
                <a:cs typeface="Times New Roman" panose="02020603050405020304" pitchFamily="18" charset="0"/>
              </a:rPr>
              <a:t>get_name</a:t>
            </a:r>
            <a:r>
              <a:rPr lang="en-US" b="0" i="0" dirty="0">
                <a:solidFill>
                  <a:srgbClr val="000000"/>
                </a:solidFill>
                <a:effectLst/>
                <a:latin typeface="Times New Roman" panose="02020603050405020304" pitchFamily="18" charset="0"/>
                <a:cs typeface="Times New Roman" panose="02020603050405020304" pitchFamily="18" charset="0"/>
              </a:rPr>
              <a:t>() for setting and getting the $name property: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71959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6BB33-10C4-C575-9359-6B63BEE163D0}"/>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Define Objects</a:t>
            </a:r>
            <a:endParaRPr lang="en-IN" dirty="0"/>
          </a:p>
        </p:txBody>
      </p:sp>
      <p:sp>
        <p:nvSpPr>
          <p:cNvPr id="3" name="Content Placeholder 2">
            <a:extLst>
              <a:ext uri="{FF2B5EF4-FFF2-40B4-BE49-F238E27FC236}">
                <a16:creationId xmlns:a16="http://schemas.microsoft.com/office/drawing/2014/main" id="{73C830C7-9505-DDFB-CB0B-A70A16A837AE}"/>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Classes are nothing without objects! </a:t>
            </a:r>
          </a:p>
          <a:p>
            <a:pPr algn="just"/>
            <a:r>
              <a:rPr lang="en-US" dirty="0">
                <a:latin typeface="Times New Roman" panose="02020603050405020304" pitchFamily="18" charset="0"/>
                <a:cs typeface="Times New Roman" panose="02020603050405020304" pitchFamily="18" charset="0"/>
              </a:rPr>
              <a:t>To create multiple objects from a class. </a:t>
            </a:r>
          </a:p>
          <a:p>
            <a:pPr algn="just"/>
            <a:r>
              <a:rPr lang="en-US" dirty="0">
                <a:latin typeface="Times New Roman" panose="02020603050405020304" pitchFamily="18" charset="0"/>
                <a:cs typeface="Times New Roman" panose="02020603050405020304" pitchFamily="18" charset="0"/>
              </a:rPr>
              <a:t>Each object has all the properties and methods defined in the class, but they will have different property values.</a:t>
            </a:r>
          </a:p>
          <a:p>
            <a:pPr algn="just"/>
            <a:r>
              <a:rPr lang="en-US" dirty="0">
                <a:latin typeface="Times New Roman" panose="02020603050405020304" pitchFamily="18" charset="0"/>
                <a:cs typeface="Times New Roman" panose="02020603050405020304" pitchFamily="18" charset="0"/>
              </a:rPr>
              <a:t>Objects of a class is created using the </a:t>
            </a:r>
            <a:r>
              <a:rPr lang="en-US" b="1" dirty="0">
                <a:solidFill>
                  <a:srgbClr val="FF0000"/>
                </a:solidFill>
                <a:latin typeface="Times New Roman" panose="02020603050405020304" pitchFamily="18" charset="0"/>
                <a:cs typeface="Times New Roman" panose="02020603050405020304" pitchFamily="18" charset="0"/>
              </a:rPr>
              <a:t>new</a:t>
            </a:r>
            <a:r>
              <a:rPr lang="en-US" dirty="0">
                <a:latin typeface="Times New Roman" panose="02020603050405020304" pitchFamily="18" charset="0"/>
                <a:cs typeface="Times New Roman" panose="02020603050405020304" pitchFamily="18" charset="0"/>
              </a:rPr>
              <a:t> keyword.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941828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BF121-1FA6-B855-613E-99AB5F9D7223}"/>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Example</a:t>
            </a:r>
            <a:endParaRPr lang="en-IN" dirty="0"/>
          </a:p>
        </p:txBody>
      </p:sp>
      <p:sp>
        <p:nvSpPr>
          <p:cNvPr id="3" name="Content Placeholder 2">
            <a:extLst>
              <a:ext uri="{FF2B5EF4-FFF2-40B4-BE49-F238E27FC236}">
                <a16:creationId xmlns:a16="http://schemas.microsoft.com/office/drawing/2014/main" id="{FD4D9917-DC44-2F59-A79A-1AE5EBC7841C}"/>
              </a:ext>
            </a:extLst>
          </p:cNvPr>
          <p:cNvSpPr>
            <a:spLocks noGrp="1"/>
          </p:cNvSpPr>
          <p:nvPr>
            <p:ph sz="half" idx="1"/>
          </p:nvPr>
        </p:nvSpPr>
        <p:spPr/>
        <p:txBody>
          <a:bodyPr>
            <a:noAutofit/>
          </a:bodyPr>
          <a:lstStyle/>
          <a:p>
            <a:pPr marL="0" indent="0">
              <a:buNone/>
            </a:pPr>
            <a:r>
              <a:rPr lang="en-US" sz="2000" dirty="0">
                <a:latin typeface="Times New Roman" panose="02020603050405020304" pitchFamily="18" charset="0"/>
                <a:cs typeface="Times New Roman" panose="02020603050405020304" pitchFamily="18" charset="0"/>
              </a:rPr>
              <a:t>&lt;?</a:t>
            </a:r>
            <a:r>
              <a:rPr lang="en-US" sz="2000" dirty="0" err="1">
                <a:latin typeface="Times New Roman" panose="02020603050405020304" pitchFamily="18" charset="0"/>
                <a:cs typeface="Times New Roman" panose="02020603050405020304" pitchFamily="18" charset="0"/>
              </a:rPr>
              <a:t>php</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class Fruit {</a:t>
            </a:r>
          </a:p>
          <a:p>
            <a:pPr marL="0" indent="0">
              <a:buNone/>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 Properties</a:t>
            </a:r>
          </a:p>
          <a:p>
            <a:pPr marL="0" indent="0">
              <a:buNone/>
            </a:pPr>
            <a:r>
              <a:rPr lang="en-US" sz="2000" dirty="0">
                <a:latin typeface="Times New Roman" panose="02020603050405020304" pitchFamily="18" charset="0"/>
                <a:cs typeface="Times New Roman" panose="02020603050405020304" pitchFamily="18" charset="0"/>
              </a:rPr>
              <a:t>  public $name;</a:t>
            </a:r>
          </a:p>
          <a:p>
            <a:pPr marL="0" indent="0">
              <a:buNone/>
            </a:pPr>
            <a:r>
              <a:rPr lang="en-US" sz="2000" dirty="0">
                <a:latin typeface="Times New Roman" panose="02020603050405020304" pitchFamily="18" charset="0"/>
                <a:cs typeface="Times New Roman" panose="02020603050405020304" pitchFamily="18" charset="0"/>
              </a:rPr>
              <a:t>  public $color;</a:t>
            </a:r>
          </a:p>
          <a:p>
            <a:pPr marL="0" indent="0">
              <a:buNone/>
            </a:pPr>
            <a:r>
              <a:rPr lang="en-US" sz="2000" b="1" dirty="0">
                <a:latin typeface="Times New Roman" panose="02020603050405020304" pitchFamily="18" charset="0"/>
                <a:cs typeface="Times New Roman" panose="02020603050405020304" pitchFamily="18" charset="0"/>
              </a:rPr>
              <a:t>  // Methods</a:t>
            </a:r>
          </a:p>
          <a:p>
            <a:pPr marL="0" indent="0">
              <a:buNone/>
            </a:pPr>
            <a:r>
              <a:rPr lang="en-US" sz="2000" dirty="0">
                <a:latin typeface="Times New Roman" panose="02020603050405020304" pitchFamily="18" charset="0"/>
                <a:cs typeface="Times New Roman" panose="02020603050405020304" pitchFamily="18" charset="0"/>
              </a:rPr>
              <a:t>  function </a:t>
            </a:r>
            <a:r>
              <a:rPr lang="en-US" sz="2000" dirty="0" err="1">
                <a:latin typeface="Times New Roman" panose="02020603050405020304" pitchFamily="18" charset="0"/>
                <a:cs typeface="Times New Roman" panose="02020603050405020304" pitchFamily="18" charset="0"/>
              </a:rPr>
              <a:t>set_name</a:t>
            </a:r>
            <a:r>
              <a:rPr lang="en-US" sz="2000" dirty="0">
                <a:latin typeface="Times New Roman" panose="02020603050405020304" pitchFamily="18" charset="0"/>
                <a:cs typeface="Times New Roman" panose="02020603050405020304" pitchFamily="18" charset="0"/>
              </a:rPr>
              <a:t>($name) {</a:t>
            </a:r>
          </a:p>
          <a:p>
            <a:pPr marL="0" indent="0">
              <a:buNone/>
            </a:pPr>
            <a:r>
              <a:rPr lang="en-US" sz="2000" dirty="0">
                <a:latin typeface="Times New Roman" panose="02020603050405020304" pitchFamily="18" charset="0"/>
                <a:cs typeface="Times New Roman" panose="02020603050405020304" pitchFamily="18" charset="0"/>
              </a:rPr>
              <a:t>    $this-&gt;name = $name; }</a:t>
            </a:r>
          </a:p>
          <a:p>
            <a:pPr marL="0" indent="0">
              <a:buNone/>
            </a:pPr>
            <a:r>
              <a:rPr lang="en-US" sz="2000" dirty="0">
                <a:latin typeface="Times New Roman" panose="02020603050405020304" pitchFamily="18" charset="0"/>
                <a:cs typeface="Times New Roman" panose="02020603050405020304" pitchFamily="18" charset="0"/>
              </a:rPr>
              <a:t>  function </a:t>
            </a:r>
            <a:r>
              <a:rPr lang="en-US" sz="2000" dirty="0" err="1">
                <a:latin typeface="Times New Roman" panose="02020603050405020304" pitchFamily="18" charset="0"/>
                <a:cs typeface="Times New Roman" panose="02020603050405020304" pitchFamily="18" charset="0"/>
              </a:rPr>
              <a:t>get_name</a:t>
            </a: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return $this-&gt;name;</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endParaRPr lang="en-IN" sz="20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D1EDD757-EA59-3ABB-2AEB-B11BC191EE65}"/>
              </a:ext>
            </a:extLst>
          </p:cNvPr>
          <p:cNvSpPr>
            <a:spLocks noGrp="1"/>
          </p:cNvSpPr>
          <p:nvPr>
            <p:ph sz="half" idx="2"/>
          </p:nvPr>
        </p:nvSpPr>
        <p:spPr/>
        <p:txBody>
          <a:bodyPr>
            <a:normAutofit fontScale="77500" lnSpcReduction="20000"/>
          </a:bodyPr>
          <a:lstStyle/>
          <a:p>
            <a:pPr marL="0" indent="0">
              <a:buNone/>
            </a:pPr>
            <a:r>
              <a:rPr lang="en-IN" dirty="0">
                <a:latin typeface="Times New Roman" panose="02020603050405020304" pitchFamily="18" charset="0"/>
                <a:cs typeface="Times New Roman" panose="02020603050405020304" pitchFamily="18" charset="0"/>
              </a:rPr>
              <a:t>$apple = new Fruit();</a:t>
            </a:r>
          </a:p>
          <a:p>
            <a:pPr marL="0" indent="0">
              <a:buNone/>
            </a:pPr>
            <a:r>
              <a:rPr lang="en-IN" dirty="0">
                <a:latin typeface="Times New Roman" panose="02020603050405020304" pitchFamily="18" charset="0"/>
                <a:cs typeface="Times New Roman" panose="02020603050405020304" pitchFamily="18" charset="0"/>
              </a:rPr>
              <a:t>$banana = new Fruit();</a:t>
            </a:r>
          </a:p>
          <a:p>
            <a:pPr marL="0" indent="0">
              <a:buNone/>
            </a:pPr>
            <a:r>
              <a:rPr lang="en-IN" dirty="0">
                <a:latin typeface="Times New Roman" panose="02020603050405020304" pitchFamily="18" charset="0"/>
                <a:cs typeface="Times New Roman" panose="02020603050405020304" pitchFamily="18" charset="0"/>
              </a:rPr>
              <a:t>$apple-&gt;</a:t>
            </a:r>
            <a:r>
              <a:rPr lang="en-IN" dirty="0" err="1">
                <a:latin typeface="Times New Roman" panose="02020603050405020304" pitchFamily="18" charset="0"/>
                <a:cs typeface="Times New Roman" panose="02020603050405020304" pitchFamily="18" charset="0"/>
              </a:rPr>
              <a:t>set_name</a:t>
            </a:r>
            <a:r>
              <a:rPr lang="en-IN" dirty="0">
                <a:latin typeface="Times New Roman" panose="02020603050405020304" pitchFamily="18" charset="0"/>
                <a:cs typeface="Times New Roman" panose="02020603050405020304" pitchFamily="18" charset="0"/>
              </a:rPr>
              <a:t>('Apple');</a:t>
            </a:r>
          </a:p>
          <a:p>
            <a:pPr marL="0" indent="0">
              <a:buNone/>
            </a:pPr>
            <a:r>
              <a:rPr lang="en-IN" dirty="0">
                <a:latin typeface="Times New Roman" panose="02020603050405020304" pitchFamily="18" charset="0"/>
                <a:cs typeface="Times New Roman" panose="02020603050405020304" pitchFamily="18" charset="0"/>
              </a:rPr>
              <a:t>$banana-&gt;</a:t>
            </a:r>
            <a:r>
              <a:rPr lang="en-IN" dirty="0" err="1">
                <a:latin typeface="Times New Roman" panose="02020603050405020304" pitchFamily="18" charset="0"/>
                <a:cs typeface="Times New Roman" panose="02020603050405020304" pitchFamily="18" charset="0"/>
              </a:rPr>
              <a:t>set_name</a:t>
            </a:r>
            <a:r>
              <a:rPr lang="en-IN" dirty="0">
                <a:latin typeface="Times New Roman" panose="02020603050405020304" pitchFamily="18" charset="0"/>
                <a:cs typeface="Times New Roman" panose="02020603050405020304" pitchFamily="18" charset="0"/>
              </a:rPr>
              <a:t>('Banana');</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echo $apple-&gt;</a:t>
            </a:r>
            <a:r>
              <a:rPr lang="en-IN" dirty="0" err="1">
                <a:latin typeface="Times New Roman" panose="02020603050405020304" pitchFamily="18" charset="0"/>
                <a:cs typeface="Times New Roman" panose="02020603050405020304" pitchFamily="18" charset="0"/>
              </a:rPr>
              <a:t>get_name</a:t>
            </a:r>
            <a:r>
              <a:rPr lang="en-IN" dirty="0">
                <a:latin typeface="Times New Roman" panose="02020603050405020304" pitchFamily="18" charset="0"/>
                <a:cs typeface="Times New Roman" panose="02020603050405020304" pitchFamily="18" charset="0"/>
              </a:rPr>
              <a:t>();</a:t>
            </a:r>
          </a:p>
          <a:p>
            <a:pPr marL="0" indent="0">
              <a:buNone/>
            </a:pPr>
            <a:r>
              <a:rPr lang="en-IN" dirty="0">
                <a:latin typeface="Times New Roman" panose="02020603050405020304" pitchFamily="18" charset="0"/>
                <a:cs typeface="Times New Roman" panose="02020603050405020304" pitchFamily="18" charset="0"/>
              </a:rPr>
              <a:t>echo "&lt;</a:t>
            </a:r>
            <a:r>
              <a:rPr lang="en-IN" dirty="0" err="1">
                <a:latin typeface="Times New Roman" panose="02020603050405020304" pitchFamily="18" charset="0"/>
                <a:cs typeface="Times New Roman" panose="02020603050405020304" pitchFamily="18" charset="0"/>
              </a:rPr>
              <a:t>br</a:t>
            </a:r>
            <a:r>
              <a:rPr lang="en-IN" dirty="0">
                <a:latin typeface="Times New Roman" panose="02020603050405020304" pitchFamily="18" charset="0"/>
                <a:cs typeface="Times New Roman" panose="02020603050405020304" pitchFamily="18" charset="0"/>
              </a:rPr>
              <a:t>&gt;";</a:t>
            </a:r>
          </a:p>
          <a:p>
            <a:pPr marL="0" indent="0">
              <a:buNone/>
            </a:pPr>
            <a:r>
              <a:rPr lang="en-IN" dirty="0">
                <a:latin typeface="Times New Roman" panose="02020603050405020304" pitchFamily="18" charset="0"/>
                <a:cs typeface="Times New Roman" panose="02020603050405020304" pitchFamily="18" charset="0"/>
              </a:rPr>
              <a:t>echo $banana-&gt;</a:t>
            </a:r>
            <a:r>
              <a:rPr lang="en-IN" dirty="0" err="1">
                <a:latin typeface="Times New Roman" panose="02020603050405020304" pitchFamily="18" charset="0"/>
                <a:cs typeface="Times New Roman" panose="02020603050405020304" pitchFamily="18" charset="0"/>
              </a:rPr>
              <a:t>get_name</a:t>
            </a:r>
            <a:r>
              <a:rPr lang="en-IN" dirty="0">
                <a:latin typeface="Times New Roman" panose="02020603050405020304" pitchFamily="18" charset="0"/>
                <a:cs typeface="Times New Roman" panose="02020603050405020304" pitchFamily="18" charset="0"/>
              </a:rPr>
              <a:t>();</a:t>
            </a:r>
          </a:p>
          <a:p>
            <a:pPr marL="0" indent="0">
              <a:buNone/>
            </a:pPr>
            <a:r>
              <a:rPr lang="en-IN" dirty="0">
                <a:latin typeface="Times New Roman" panose="02020603050405020304" pitchFamily="18" charset="0"/>
                <a:cs typeface="Times New Roman" panose="02020603050405020304" pitchFamily="18" charset="0"/>
              </a:rPr>
              <a:t>?&gt;</a:t>
            </a:r>
          </a:p>
          <a:p>
            <a:pPr marL="0" indent="0">
              <a:buNone/>
            </a:pPr>
            <a:r>
              <a:rPr lang="en-IN" dirty="0">
                <a:latin typeface="Times New Roman" panose="02020603050405020304" pitchFamily="18" charset="0"/>
                <a:cs typeface="Times New Roman" panose="02020603050405020304" pitchFamily="18" charset="0"/>
              </a:rPr>
              <a:t> </a:t>
            </a:r>
          </a:p>
          <a:p>
            <a:pPr marL="0" indent="0">
              <a:buNone/>
            </a:pPr>
            <a:r>
              <a:rPr lang="en-IN" dirty="0">
                <a:latin typeface="Times New Roman" panose="02020603050405020304" pitchFamily="18" charset="0"/>
                <a:cs typeface="Times New Roman" panose="02020603050405020304" pitchFamily="18" charset="0"/>
              </a:rPr>
              <a:t>&lt;/body&gt;</a:t>
            </a:r>
          </a:p>
          <a:p>
            <a:pPr marL="0" indent="0">
              <a:buNone/>
            </a:pPr>
            <a:r>
              <a:rPr lang="en-IN" dirty="0">
                <a:latin typeface="Times New Roman" panose="02020603050405020304" pitchFamily="18" charset="0"/>
                <a:cs typeface="Times New Roman" panose="02020603050405020304" pitchFamily="18" charset="0"/>
              </a:rPr>
              <a:t>&lt;/html&gt;</a:t>
            </a:r>
          </a:p>
        </p:txBody>
      </p:sp>
      <p:pic>
        <p:nvPicPr>
          <p:cNvPr id="6" name="Picture 5">
            <a:extLst>
              <a:ext uri="{FF2B5EF4-FFF2-40B4-BE49-F238E27FC236}">
                <a16:creationId xmlns:a16="http://schemas.microsoft.com/office/drawing/2014/main" id="{68D0134E-F565-D860-4AC0-C4077B2F9B3B}"/>
              </a:ext>
            </a:extLst>
          </p:cNvPr>
          <p:cNvPicPr>
            <a:picLocks noChangeAspect="1"/>
          </p:cNvPicPr>
          <p:nvPr/>
        </p:nvPicPr>
        <p:blipFill>
          <a:blip r:embed="rId2"/>
          <a:stretch>
            <a:fillRect/>
          </a:stretch>
        </p:blipFill>
        <p:spPr>
          <a:xfrm>
            <a:off x="10000943" y="5130800"/>
            <a:ext cx="1924050" cy="1362075"/>
          </a:xfrm>
          <a:prstGeom prst="rect">
            <a:avLst/>
          </a:prstGeom>
        </p:spPr>
      </p:pic>
    </p:spTree>
    <p:extLst>
      <p:ext uri="{BB962C8B-B14F-4D97-AF65-F5344CB8AC3E}">
        <p14:creationId xmlns:p14="http://schemas.microsoft.com/office/powerpoint/2010/main" val="258394050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CB092-3E88-6225-B683-07A3853837E2}"/>
              </a:ext>
            </a:extLst>
          </p:cNvPr>
          <p:cNvSpPr>
            <a:spLocks noGrp="1"/>
          </p:cNvSpPr>
          <p:nvPr>
            <p:ph type="title"/>
          </p:nvPr>
        </p:nvSpPr>
        <p:spPr/>
        <p:txBody>
          <a:bodyPr>
            <a:normAutofit/>
          </a:bodyPr>
          <a:lstStyle/>
          <a:p>
            <a:r>
              <a:rPr lang="en-US" sz="3200" b="0" i="0" dirty="0">
                <a:solidFill>
                  <a:srgbClr val="000000"/>
                </a:solidFill>
                <a:effectLst/>
                <a:latin typeface="Times New Roman" panose="02020603050405020304" pitchFamily="18" charset="0"/>
                <a:cs typeface="Times New Roman" panose="02020603050405020304" pitchFamily="18" charset="0"/>
              </a:rPr>
              <a:t>In the example below, we add two more methods to class Fruit, for setting and getting the $color property:</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7F8E0DC-9B51-6EA4-86E3-367C5245C536}"/>
              </a:ext>
            </a:extLst>
          </p:cNvPr>
          <p:cNvSpPr>
            <a:spLocks noGrp="1"/>
          </p:cNvSpPr>
          <p:nvPr>
            <p:ph sz="half" idx="1"/>
          </p:nvPr>
        </p:nvSpPr>
        <p:spPr>
          <a:xfrm>
            <a:off x="838200" y="1484671"/>
            <a:ext cx="5181600" cy="4692292"/>
          </a:xfrm>
        </p:spPr>
        <p:txBody>
          <a:bodyPr>
            <a:noAutofit/>
          </a:bodyPr>
          <a:lstStyle/>
          <a:p>
            <a:pPr marL="0" indent="0">
              <a:buNone/>
            </a:pPr>
            <a:r>
              <a:rPr lang="en-US" sz="2000" b="0" i="0" dirty="0">
                <a:solidFill>
                  <a:srgbClr val="FF0000"/>
                </a:solidFill>
                <a:effectLst/>
                <a:latin typeface="Times New Roman" panose="02020603050405020304" pitchFamily="18" charset="0"/>
                <a:cs typeface="Times New Roman" panose="02020603050405020304" pitchFamily="18" charset="0"/>
              </a:rPr>
              <a:t>&lt;?</a:t>
            </a:r>
            <a:r>
              <a:rPr lang="en-US" sz="2000" b="0" i="0" dirty="0" err="1">
                <a:solidFill>
                  <a:srgbClr val="FF0000"/>
                </a:solidFill>
                <a:effectLst/>
                <a:latin typeface="Times New Roman" panose="02020603050405020304" pitchFamily="18" charset="0"/>
                <a:cs typeface="Times New Roman" panose="02020603050405020304" pitchFamily="18" charset="0"/>
              </a:rPr>
              <a:t>php</a:t>
            </a: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en-US" sz="2000" b="0" i="0" dirty="0">
                <a:solidFill>
                  <a:srgbClr val="0000CD"/>
                </a:solidFill>
                <a:effectLst/>
                <a:latin typeface="Times New Roman" panose="02020603050405020304" pitchFamily="18" charset="0"/>
                <a:cs typeface="Times New Roman" panose="02020603050405020304" pitchFamily="18" charset="0"/>
              </a:rPr>
              <a:t>class</a:t>
            </a:r>
            <a:r>
              <a:rPr lang="en-US" sz="2000" b="0" i="0" dirty="0">
                <a:solidFill>
                  <a:srgbClr val="000000"/>
                </a:solidFill>
                <a:effectLst/>
                <a:latin typeface="Times New Roman" panose="02020603050405020304" pitchFamily="18" charset="0"/>
                <a:cs typeface="Times New Roman" panose="02020603050405020304" pitchFamily="18" charset="0"/>
              </a:rPr>
              <a:t> Fruit {</a:t>
            </a: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  </a:t>
            </a:r>
            <a:r>
              <a:rPr lang="en-US" sz="2000" b="0" i="0" dirty="0">
                <a:solidFill>
                  <a:srgbClr val="008000"/>
                </a:solidFill>
                <a:effectLst/>
                <a:latin typeface="Times New Roman" panose="02020603050405020304" pitchFamily="18" charset="0"/>
                <a:cs typeface="Times New Roman" panose="02020603050405020304" pitchFamily="18" charset="0"/>
              </a:rPr>
              <a:t>// Properties</a:t>
            </a:r>
            <a:br>
              <a:rPr lang="en-US" sz="2000" b="0" i="0" dirty="0">
                <a:solidFill>
                  <a:srgbClr val="008000"/>
                </a:solidFill>
                <a:effectLst/>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  </a:t>
            </a:r>
            <a:r>
              <a:rPr lang="en-US" sz="2000" b="0" i="0" dirty="0">
                <a:solidFill>
                  <a:srgbClr val="0000CD"/>
                </a:solidFill>
                <a:effectLst/>
                <a:latin typeface="Times New Roman" panose="02020603050405020304" pitchFamily="18" charset="0"/>
                <a:cs typeface="Times New Roman" panose="02020603050405020304" pitchFamily="18" charset="0"/>
              </a:rPr>
              <a:t>public</a:t>
            </a:r>
            <a:r>
              <a:rPr lang="en-US" sz="2000" b="0" i="0" dirty="0">
                <a:solidFill>
                  <a:srgbClr val="000000"/>
                </a:solidFill>
                <a:effectLst/>
                <a:latin typeface="Times New Roman" panose="02020603050405020304" pitchFamily="18" charset="0"/>
                <a:cs typeface="Times New Roman" panose="02020603050405020304" pitchFamily="18" charset="0"/>
              </a:rPr>
              <a:t> $name;</a:t>
            </a: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  </a:t>
            </a:r>
            <a:r>
              <a:rPr lang="en-US" sz="2000" b="0" i="0" dirty="0">
                <a:solidFill>
                  <a:srgbClr val="0000CD"/>
                </a:solidFill>
                <a:effectLst/>
                <a:latin typeface="Times New Roman" panose="02020603050405020304" pitchFamily="18" charset="0"/>
                <a:cs typeface="Times New Roman" panose="02020603050405020304" pitchFamily="18" charset="0"/>
              </a:rPr>
              <a:t>public</a:t>
            </a:r>
            <a:r>
              <a:rPr lang="en-US" sz="2000" b="0" i="0" dirty="0">
                <a:solidFill>
                  <a:srgbClr val="000000"/>
                </a:solidFill>
                <a:effectLst/>
                <a:latin typeface="Times New Roman" panose="02020603050405020304" pitchFamily="18" charset="0"/>
                <a:cs typeface="Times New Roman" panose="02020603050405020304" pitchFamily="18" charset="0"/>
              </a:rPr>
              <a:t> $color;</a:t>
            </a: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  </a:t>
            </a:r>
            <a:r>
              <a:rPr lang="en-US" sz="2000" b="0" i="0" dirty="0">
                <a:solidFill>
                  <a:srgbClr val="008000"/>
                </a:solidFill>
                <a:effectLst/>
                <a:latin typeface="Times New Roman" panose="02020603050405020304" pitchFamily="18" charset="0"/>
                <a:cs typeface="Times New Roman" panose="02020603050405020304" pitchFamily="18" charset="0"/>
              </a:rPr>
              <a:t>// Methods</a:t>
            </a:r>
            <a:br>
              <a:rPr lang="en-US" sz="2000" b="0" i="0" dirty="0">
                <a:solidFill>
                  <a:srgbClr val="008000"/>
                </a:solidFill>
                <a:effectLst/>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  </a:t>
            </a:r>
            <a:r>
              <a:rPr lang="en-US" sz="2000" b="0" i="0" dirty="0">
                <a:solidFill>
                  <a:srgbClr val="0000CD"/>
                </a:solidFill>
                <a:effectLst/>
                <a:latin typeface="Times New Roman" panose="02020603050405020304" pitchFamily="18" charset="0"/>
                <a:cs typeface="Times New Roman" panose="02020603050405020304" pitchFamily="18" charset="0"/>
              </a:rPr>
              <a:t>function</a:t>
            </a:r>
            <a:r>
              <a:rPr lang="en-US" sz="2000" b="0" i="0" dirty="0">
                <a:solidFill>
                  <a:srgbClr val="000000"/>
                </a:solidFill>
                <a:effectLst/>
                <a:latin typeface="Times New Roman" panose="02020603050405020304" pitchFamily="18" charset="0"/>
                <a:cs typeface="Times New Roman" panose="02020603050405020304" pitchFamily="18" charset="0"/>
              </a:rPr>
              <a:t> </a:t>
            </a:r>
            <a:r>
              <a:rPr lang="en-US" sz="2000" b="0" i="0" dirty="0" err="1">
                <a:solidFill>
                  <a:srgbClr val="000000"/>
                </a:solidFill>
                <a:effectLst/>
                <a:latin typeface="Times New Roman" panose="02020603050405020304" pitchFamily="18" charset="0"/>
                <a:cs typeface="Times New Roman" panose="02020603050405020304" pitchFamily="18" charset="0"/>
              </a:rPr>
              <a:t>set_name</a:t>
            </a:r>
            <a:r>
              <a:rPr lang="en-US" sz="2000" b="0" i="0" dirty="0">
                <a:solidFill>
                  <a:srgbClr val="000000"/>
                </a:solidFill>
                <a:effectLst/>
                <a:latin typeface="Times New Roman" panose="02020603050405020304" pitchFamily="18" charset="0"/>
                <a:cs typeface="Times New Roman" panose="02020603050405020304" pitchFamily="18" charset="0"/>
              </a:rPr>
              <a:t>($name) {</a:t>
            </a: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    $this-&gt;name = $name;</a:t>
            </a: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  </a:t>
            </a:r>
            <a:r>
              <a:rPr lang="en-US" sz="2000" b="0" i="0" dirty="0">
                <a:solidFill>
                  <a:srgbClr val="0000CD"/>
                </a:solidFill>
                <a:effectLst/>
                <a:latin typeface="Times New Roman" panose="02020603050405020304" pitchFamily="18" charset="0"/>
                <a:cs typeface="Times New Roman" panose="02020603050405020304" pitchFamily="18" charset="0"/>
              </a:rPr>
              <a:t>function</a:t>
            </a:r>
            <a:r>
              <a:rPr lang="en-US" sz="2000" b="0" i="0" dirty="0">
                <a:solidFill>
                  <a:srgbClr val="000000"/>
                </a:solidFill>
                <a:effectLst/>
                <a:latin typeface="Times New Roman" panose="02020603050405020304" pitchFamily="18" charset="0"/>
                <a:cs typeface="Times New Roman" panose="02020603050405020304" pitchFamily="18" charset="0"/>
              </a:rPr>
              <a:t> </a:t>
            </a:r>
            <a:r>
              <a:rPr lang="en-US" sz="2000" b="0" i="0" dirty="0" err="1">
                <a:solidFill>
                  <a:srgbClr val="000000"/>
                </a:solidFill>
                <a:effectLst/>
                <a:latin typeface="Times New Roman" panose="02020603050405020304" pitchFamily="18" charset="0"/>
                <a:cs typeface="Times New Roman" panose="02020603050405020304" pitchFamily="18" charset="0"/>
              </a:rPr>
              <a:t>get_name</a:t>
            </a:r>
            <a:r>
              <a:rPr lang="en-US" sz="2000" b="0" i="0" dirty="0">
                <a:solidFill>
                  <a:srgbClr val="000000"/>
                </a:solidFill>
                <a:effectLst/>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    </a:t>
            </a:r>
            <a:r>
              <a:rPr lang="en-US" sz="2000" b="0" i="0" dirty="0">
                <a:solidFill>
                  <a:srgbClr val="0000CD"/>
                </a:solidFill>
                <a:effectLst/>
                <a:latin typeface="Times New Roman" panose="02020603050405020304" pitchFamily="18" charset="0"/>
                <a:cs typeface="Times New Roman" panose="02020603050405020304" pitchFamily="18" charset="0"/>
              </a:rPr>
              <a:t>return</a:t>
            </a:r>
            <a:r>
              <a:rPr lang="en-US" sz="2000" b="0" i="0" dirty="0">
                <a:solidFill>
                  <a:srgbClr val="000000"/>
                </a:solidFill>
                <a:effectLst/>
                <a:latin typeface="Times New Roman" panose="02020603050405020304" pitchFamily="18" charset="0"/>
                <a:cs typeface="Times New Roman" panose="02020603050405020304" pitchFamily="18" charset="0"/>
              </a:rPr>
              <a:t> $this-&gt;name;</a:t>
            </a: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  </a:t>
            </a:r>
            <a:r>
              <a:rPr lang="en-US" sz="2000" b="0" i="0" dirty="0">
                <a:solidFill>
                  <a:srgbClr val="0000CD"/>
                </a:solidFill>
                <a:effectLst/>
                <a:latin typeface="Times New Roman" panose="02020603050405020304" pitchFamily="18" charset="0"/>
                <a:cs typeface="Times New Roman" panose="02020603050405020304" pitchFamily="18" charset="0"/>
              </a:rPr>
              <a:t>function</a:t>
            </a:r>
            <a:r>
              <a:rPr lang="en-US" sz="2000" b="0" i="0" dirty="0">
                <a:solidFill>
                  <a:srgbClr val="000000"/>
                </a:solidFill>
                <a:effectLst/>
                <a:latin typeface="Times New Roman" panose="02020603050405020304" pitchFamily="18" charset="0"/>
                <a:cs typeface="Times New Roman" panose="02020603050405020304" pitchFamily="18" charset="0"/>
              </a:rPr>
              <a:t> </a:t>
            </a:r>
            <a:r>
              <a:rPr lang="en-US" sz="2000" b="0" i="0" dirty="0" err="1">
                <a:solidFill>
                  <a:srgbClr val="000000"/>
                </a:solidFill>
                <a:effectLst/>
                <a:latin typeface="Times New Roman" panose="02020603050405020304" pitchFamily="18" charset="0"/>
                <a:cs typeface="Times New Roman" panose="02020603050405020304" pitchFamily="18" charset="0"/>
              </a:rPr>
              <a:t>set_color</a:t>
            </a:r>
            <a:r>
              <a:rPr lang="en-US" sz="2000" b="0" i="0" dirty="0">
                <a:solidFill>
                  <a:srgbClr val="000000"/>
                </a:solidFill>
                <a:effectLst/>
                <a:latin typeface="Times New Roman" panose="02020603050405020304" pitchFamily="18" charset="0"/>
                <a:cs typeface="Times New Roman" panose="02020603050405020304" pitchFamily="18" charset="0"/>
              </a:rPr>
              <a:t>($color) {</a:t>
            </a: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    $this-&gt;color = $color;</a:t>
            </a: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  </a:t>
            </a:r>
            <a:r>
              <a:rPr lang="en-US" sz="2000" b="0" i="0" dirty="0">
                <a:solidFill>
                  <a:srgbClr val="0000CD"/>
                </a:solidFill>
                <a:effectLst/>
                <a:latin typeface="Times New Roman" panose="02020603050405020304" pitchFamily="18" charset="0"/>
                <a:cs typeface="Times New Roman" panose="02020603050405020304" pitchFamily="18" charset="0"/>
              </a:rPr>
              <a:t>function</a:t>
            </a:r>
            <a:r>
              <a:rPr lang="en-US" sz="2000" b="0" i="0" dirty="0">
                <a:solidFill>
                  <a:srgbClr val="000000"/>
                </a:solidFill>
                <a:effectLst/>
                <a:latin typeface="Times New Roman" panose="02020603050405020304" pitchFamily="18" charset="0"/>
                <a:cs typeface="Times New Roman" panose="02020603050405020304" pitchFamily="18" charset="0"/>
              </a:rPr>
              <a:t> </a:t>
            </a:r>
            <a:r>
              <a:rPr lang="en-US" sz="2000" b="0" i="0" dirty="0" err="1">
                <a:solidFill>
                  <a:srgbClr val="000000"/>
                </a:solidFill>
                <a:effectLst/>
                <a:latin typeface="Times New Roman" panose="02020603050405020304" pitchFamily="18" charset="0"/>
                <a:cs typeface="Times New Roman" panose="02020603050405020304" pitchFamily="18" charset="0"/>
              </a:rPr>
              <a:t>get_color</a:t>
            </a:r>
            <a:r>
              <a:rPr lang="en-US" sz="2000" b="0" i="0" dirty="0">
                <a:solidFill>
                  <a:srgbClr val="000000"/>
                </a:solidFill>
                <a:effectLst/>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    </a:t>
            </a:r>
            <a:r>
              <a:rPr lang="en-US" sz="2000" b="0" i="0" dirty="0">
                <a:solidFill>
                  <a:srgbClr val="0000CD"/>
                </a:solidFill>
                <a:effectLst/>
                <a:latin typeface="Times New Roman" panose="02020603050405020304" pitchFamily="18" charset="0"/>
                <a:cs typeface="Times New Roman" panose="02020603050405020304" pitchFamily="18" charset="0"/>
              </a:rPr>
              <a:t>return</a:t>
            </a:r>
            <a:r>
              <a:rPr lang="en-US" sz="2000" b="0" i="0" dirty="0">
                <a:solidFill>
                  <a:srgbClr val="000000"/>
                </a:solidFill>
                <a:effectLst/>
                <a:latin typeface="Times New Roman" panose="02020603050405020304" pitchFamily="18" charset="0"/>
                <a:cs typeface="Times New Roman" panose="02020603050405020304" pitchFamily="18" charset="0"/>
              </a:rPr>
              <a:t> $this-&gt;color;</a:t>
            </a: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  } }</a:t>
            </a: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CBE66045-84A8-C948-2709-E2FEF1BB04C9}"/>
              </a:ext>
            </a:extLst>
          </p:cNvPr>
          <p:cNvSpPr>
            <a:spLocks noGrp="1"/>
          </p:cNvSpPr>
          <p:nvPr>
            <p:ph sz="half" idx="2"/>
          </p:nvPr>
        </p:nvSpPr>
        <p:spPr/>
        <p:txBody>
          <a:bodyPr>
            <a:normAutofit/>
          </a:bodyPr>
          <a:lstStyle/>
          <a:p>
            <a:pPr marL="0" indent="0">
              <a:buNone/>
            </a:pPr>
            <a:r>
              <a:rPr lang="en-US" sz="3200" b="0" i="0" dirty="0">
                <a:solidFill>
                  <a:srgbClr val="000000"/>
                </a:solidFill>
                <a:effectLst/>
                <a:latin typeface="Times New Roman" panose="02020603050405020304" pitchFamily="18" charset="0"/>
                <a:cs typeface="Times New Roman" panose="02020603050405020304" pitchFamily="18" charset="0"/>
              </a:rPr>
              <a:t>$apple = </a:t>
            </a:r>
            <a:r>
              <a:rPr lang="en-US" sz="3200" b="0" i="0" dirty="0">
                <a:solidFill>
                  <a:srgbClr val="0000CD"/>
                </a:solidFill>
                <a:effectLst/>
                <a:latin typeface="Times New Roman" panose="02020603050405020304" pitchFamily="18" charset="0"/>
                <a:cs typeface="Times New Roman" panose="02020603050405020304" pitchFamily="18" charset="0"/>
              </a:rPr>
              <a:t>new</a:t>
            </a:r>
            <a:r>
              <a:rPr lang="en-US" sz="3200" b="0" i="0" dirty="0">
                <a:solidFill>
                  <a:srgbClr val="000000"/>
                </a:solidFill>
                <a:effectLst/>
                <a:latin typeface="Times New Roman" panose="02020603050405020304" pitchFamily="18" charset="0"/>
                <a:cs typeface="Times New Roman" panose="02020603050405020304" pitchFamily="18" charset="0"/>
              </a:rPr>
              <a:t> Fruit();</a:t>
            </a: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b="0" i="0" dirty="0">
                <a:solidFill>
                  <a:srgbClr val="000000"/>
                </a:solidFill>
                <a:effectLst/>
                <a:latin typeface="Times New Roman" panose="02020603050405020304" pitchFamily="18" charset="0"/>
                <a:cs typeface="Times New Roman" panose="02020603050405020304" pitchFamily="18" charset="0"/>
              </a:rPr>
              <a:t>$apple-&gt;</a:t>
            </a:r>
            <a:r>
              <a:rPr lang="en-US" sz="3200" b="0" i="0" dirty="0" err="1">
                <a:solidFill>
                  <a:srgbClr val="000000"/>
                </a:solidFill>
                <a:effectLst/>
                <a:latin typeface="Times New Roman" panose="02020603050405020304" pitchFamily="18" charset="0"/>
                <a:cs typeface="Times New Roman" panose="02020603050405020304" pitchFamily="18" charset="0"/>
              </a:rPr>
              <a:t>set_name</a:t>
            </a:r>
            <a:r>
              <a:rPr lang="en-US" sz="3200" b="0" i="0" dirty="0">
                <a:solidFill>
                  <a:srgbClr val="000000"/>
                </a:solidFill>
                <a:effectLst/>
                <a:latin typeface="Times New Roman" panose="02020603050405020304" pitchFamily="18" charset="0"/>
                <a:cs typeface="Times New Roman" panose="02020603050405020304" pitchFamily="18" charset="0"/>
              </a:rPr>
              <a:t>(</a:t>
            </a:r>
            <a:r>
              <a:rPr lang="en-US" sz="3200" b="0" i="0" dirty="0">
                <a:solidFill>
                  <a:srgbClr val="A52A2A"/>
                </a:solidFill>
                <a:effectLst/>
                <a:latin typeface="Times New Roman" panose="02020603050405020304" pitchFamily="18" charset="0"/>
                <a:cs typeface="Times New Roman" panose="02020603050405020304" pitchFamily="18" charset="0"/>
              </a:rPr>
              <a:t>'Apple'</a:t>
            </a:r>
            <a:r>
              <a:rPr lang="en-US" sz="3200" b="0" i="0" dirty="0">
                <a:solidFill>
                  <a:srgbClr val="000000"/>
                </a:solidFill>
                <a:effectLst/>
                <a:latin typeface="Times New Roman" panose="02020603050405020304" pitchFamily="18" charset="0"/>
                <a:cs typeface="Times New Roman" panose="02020603050405020304" pitchFamily="18" charset="0"/>
              </a:rPr>
              <a:t>);</a:t>
            </a: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b="0" i="0" dirty="0">
                <a:solidFill>
                  <a:srgbClr val="000000"/>
                </a:solidFill>
                <a:effectLst/>
                <a:latin typeface="Times New Roman" panose="02020603050405020304" pitchFamily="18" charset="0"/>
                <a:cs typeface="Times New Roman" panose="02020603050405020304" pitchFamily="18" charset="0"/>
              </a:rPr>
              <a:t>$apple-&gt;</a:t>
            </a:r>
            <a:r>
              <a:rPr lang="en-US" sz="3200" b="0" i="0" dirty="0" err="1">
                <a:solidFill>
                  <a:srgbClr val="000000"/>
                </a:solidFill>
                <a:effectLst/>
                <a:latin typeface="Times New Roman" panose="02020603050405020304" pitchFamily="18" charset="0"/>
                <a:cs typeface="Times New Roman" panose="02020603050405020304" pitchFamily="18" charset="0"/>
              </a:rPr>
              <a:t>set_color</a:t>
            </a:r>
            <a:r>
              <a:rPr lang="en-US" sz="3200" b="0" i="0" dirty="0">
                <a:solidFill>
                  <a:srgbClr val="000000"/>
                </a:solidFill>
                <a:effectLst/>
                <a:latin typeface="Times New Roman" panose="02020603050405020304" pitchFamily="18" charset="0"/>
                <a:cs typeface="Times New Roman" panose="02020603050405020304" pitchFamily="18" charset="0"/>
              </a:rPr>
              <a:t>(</a:t>
            </a:r>
            <a:r>
              <a:rPr lang="en-US" sz="3200" b="0" i="0" dirty="0">
                <a:solidFill>
                  <a:srgbClr val="A52A2A"/>
                </a:solidFill>
                <a:effectLst/>
                <a:latin typeface="Times New Roman" panose="02020603050405020304" pitchFamily="18" charset="0"/>
                <a:cs typeface="Times New Roman" panose="02020603050405020304" pitchFamily="18" charset="0"/>
              </a:rPr>
              <a:t>'Red'</a:t>
            </a:r>
            <a:r>
              <a:rPr lang="en-US" sz="3200" b="0" i="0" dirty="0">
                <a:solidFill>
                  <a:srgbClr val="000000"/>
                </a:solidFill>
                <a:effectLst/>
                <a:latin typeface="Times New Roman" panose="02020603050405020304" pitchFamily="18" charset="0"/>
                <a:cs typeface="Times New Roman" panose="02020603050405020304" pitchFamily="18" charset="0"/>
              </a:rPr>
              <a:t>);</a:t>
            </a: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b="0" i="0" dirty="0">
                <a:solidFill>
                  <a:srgbClr val="0000CD"/>
                </a:solidFill>
                <a:effectLst/>
                <a:latin typeface="Times New Roman" panose="02020603050405020304" pitchFamily="18" charset="0"/>
                <a:cs typeface="Times New Roman" panose="02020603050405020304" pitchFamily="18" charset="0"/>
              </a:rPr>
              <a:t>echo</a:t>
            </a:r>
            <a:r>
              <a:rPr lang="en-US" sz="3200" b="0" i="0" dirty="0">
                <a:solidFill>
                  <a:srgbClr val="000000"/>
                </a:solidFill>
                <a:effectLst/>
                <a:latin typeface="Times New Roman" panose="02020603050405020304" pitchFamily="18" charset="0"/>
                <a:cs typeface="Times New Roman" panose="02020603050405020304" pitchFamily="18" charset="0"/>
              </a:rPr>
              <a:t> </a:t>
            </a:r>
            <a:r>
              <a:rPr lang="en-US" sz="3200" b="0" i="0" dirty="0">
                <a:solidFill>
                  <a:srgbClr val="A52A2A"/>
                </a:solidFill>
                <a:effectLst/>
                <a:latin typeface="Times New Roman" panose="02020603050405020304" pitchFamily="18" charset="0"/>
                <a:cs typeface="Times New Roman" panose="02020603050405020304" pitchFamily="18" charset="0"/>
              </a:rPr>
              <a:t>"Name: "</a:t>
            </a:r>
            <a:r>
              <a:rPr lang="en-US" sz="3200" b="0" i="0" dirty="0">
                <a:solidFill>
                  <a:srgbClr val="000000"/>
                </a:solidFill>
                <a:effectLst/>
                <a:latin typeface="Times New Roman" panose="02020603050405020304" pitchFamily="18" charset="0"/>
                <a:cs typeface="Times New Roman" panose="02020603050405020304" pitchFamily="18" charset="0"/>
              </a:rPr>
              <a:t> . $apple-&gt;</a:t>
            </a:r>
            <a:r>
              <a:rPr lang="en-US" sz="3200" b="0" i="0" dirty="0" err="1">
                <a:solidFill>
                  <a:srgbClr val="000000"/>
                </a:solidFill>
                <a:effectLst/>
                <a:latin typeface="Times New Roman" panose="02020603050405020304" pitchFamily="18" charset="0"/>
                <a:cs typeface="Times New Roman" panose="02020603050405020304" pitchFamily="18" charset="0"/>
              </a:rPr>
              <a:t>get_name</a:t>
            </a:r>
            <a:r>
              <a:rPr lang="en-US" sz="3200" b="0" i="0" dirty="0">
                <a:solidFill>
                  <a:srgbClr val="000000"/>
                </a:solidFill>
                <a:effectLst/>
                <a:latin typeface="Times New Roman" panose="02020603050405020304" pitchFamily="18" charset="0"/>
                <a:cs typeface="Times New Roman" panose="02020603050405020304" pitchFamily="18" charset="0"/>
              </a:rPr>
              <a:t>();</a:t>
            </a: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b="0" i="0" dirty="0">
                <a:solidFill>
                  <a:srgbClr val="0000CD"/>
                </a:solidFill>
                <a:effectLst/>
                <a:latin typeface="Times New Roman" panose="02020603050405020304" pitchFamily="18" charset="0"/>
                <a:cs typeface="Times New Roman" panose="02020603050405020304" pitchFamily="18" charset="0"/>
              </a:rPr>
              <a:t>echo</a:t>
            </a:r>
            <a:r>
              <a:rPr lang="en-US" sz="3200" b="0" i="0" dirty="0">
                <a:solidFill>
                  <a:srgbClr val="000000"/>
                </a:solidFill>
                <a:effectLst/>
                <a:latin typeface="Times New Roman" panose="02020603050405020304" pitchFamily="18" charset="0"/>
                <a:cs typeface="Times New Roman" panose="02020603050405020304" pitchFamily="18" charset="0"/>
              </a:rPr>
              <a:t> </a:t>
            </a:r>
            <a:r>
              <a:rPr lang="en-US" sz="3200" b="0" i="0" dirty="0">
                <a:solidFill>
                  <a:srgbClr val="A52A2A"/>
                </a:solidFill>
                <a:effectLst/>
                <a:latin typeface="Times New Roman" panose="02020603050405020304" pitchFamily="18" charset="0"/>
                <a:cs typeface="Times New Roman" panose="02020603050405020304" pitchFamily="18" charset="0"/>
              </a:rPr>
              <a:t>"&lt;</a:t>
            </a:r>
            <a:r>
              <a:rPr lang="en-US" sz="3200" b="0" i="0" dirty="0" err="1">
                <a:solidFill>
                  <a:srgbClr val="A52A2A"/>
                </a:solidFill>
                <a:effectLst/>
                <a:latin typeface="Times New Roman" panose="02020603050405020304" pitchFamily="18" charset="0"/>
                <a:cs typeface="Times New Roman" panose="02020603050405020304" pitchFamily="18" charset="0"/>
              </a:rPr>
              <a:t>br</a:t>
            </a:r>
            <a:r>
              <a:rPr lang="en-US" sz="3200" b="0" i="0" dirty="0">
                <a:solidFill>
                  <a:srgbClr val="A52A2A"/>
                </a:solidFill>
                <a:effectLst/>
                <a:latin typeface="Times New Roman" panose="02020603050405020304" pitchFamily="18" charset="0"/>
                <a:cs typeface="Times New Roman" panose="02020603050405020304" pitchFamily="18" charset="0"/>
              </a:rPr>
              <a:t>&gt;"</a:t>
            </a:r>
            <a:r>
              <a:rPr lang="en-US" sz="3200" b="0" i="0" dirty="0">
                <a:solidFill>
                  <a:srgbClr val="000000"/>
                </a:solidFill>
                <a:effectLst/>
                <a:latin typeface="Times New Roman" panose="02020603050405020304" pitchFamily="18" charset="0"/>
                <a:cs typeface="Times New Roman" panose="02020603050405020304" pitchFamily="18" charset="0"/>
              </a:rPr>
              <a:t>;</a:t>
            </a: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b="0" i="0" dirty="0">
                <a:solidFill>
                  <a:srgbClr val="0000CD"/>
                </a:solidFill>
                <a:effectLst/>
                <a:latin typeface="Times New Roman" panose="02020603050405020304" pitchFamily="18" charset="0"/>
                <a:cs typeface="Times New Roman" panose="02020603050405020304" pitchFamily="18" charset="0"/>
              </a:rPr>
              <a:t>echo</a:t>
            </a:r>
            <a:r>
              <a:rPr lang="en-US" sz="3200" b="0" i="0" dirty="0">
                <a:solidFill>
                  <a:srgbClr val="000000"/>
                </a:solidFill>
                <a:effectLst/>
                <a:latin typeface="Times New Roman" panose="02020603050405020304" pitchFamily="18" charset="0"/>
                <a:cs typeface="Times New Roman" panose="02020603050405020304" pitchFamily="18" charset="0"/>
              </a:rPr>
              <a:t> </a:t>
            </a:r>
            <a:r>
              <a:rPr lang="en-US" sz="3200" b="0" i="0" dirty="0">
                <a:solidFill>
                  <a:srgbClr val="A52A2A"/>
                </a:solidFill>
                <a:effectLst/>
                <a:latin typeface="Times New Roman" panose="02020603050405020304" pitchFamily="18" charset="0"/>
                <a:cs typeface="Times New Roman" panose="02020603050405020304" pitchFamily="18" charset="0"/>
              </a:rPr>
              <a:t>"Color: "</a:t>
            </a:r>
            <a:r>
              <a:rPr lang="en-US" sz="3200" b="0" i="0" dirty="0">
                <a:solidFill>
                  <a:srgbClr val="000000"/>
                </a:solidFill>
                <a:effectLst/>
                <a:latin typeface="Times New Roman" panose="02020603050405020304" pitchFamily="18" charset="0"/>
                <a:cs typeface="Times New Roman" panose="02020603050405020304" pitchFamily="18" charset="0"/>
              </a:rPr>
              <a:t> . $apple-&gt;</a:t>
            </a:r>
            <a:r>
              <a:rPr lang="en-US" sz="3200" b="0" i="0" dirty="0" err="1">
                <a:solidFill>
                  <a:srgbClr val="000000"/>
                </a:solidFill>
                <a:effectLst/>
                <a:latin typeface="Times New Roman" panose="02020603050405020304" pitchFamily="18" charset="0"/>
                <a:cs typeface="Times New Roman" panose="02020603050405020304" pitchFamily="18" charset="0"/>
              </a:rPr>
              <a:t>get_color</a:t>
            </a:r>
            <a:r>
              <a:rPr lang="en-US" sz="3200" b="0" i="0" dirty="0">
                <a:solidFill>
                  <a:srgbClr val="000000"/>
                </a:solidFill>
                <a:effectLst/>
                <a:latin typeface="Times New Roman" panose="02020603050405020304" pitchFamily="18" charset="0"/>
                <a:cs typeface="Times New Roman" panose="02020603050405020304" pitchFamily="18" charset="0"/>
              </a:rPr>
              <a:t>();</a:t>
            </a: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b="0" i="0" dirty="0">
                <a:solidFill>
                  <a:srgbClr val="FF0000"/>
                </a:solidFill>
                <a:effectLst/>
                <a:latin typeface="Times New Roman" panose="02020603050405020304" pitchFamily="18" charset="0"/>
                <a:cs typeface="Times New Roman" panose="02020603050405020304" pitchFamily="18" charset="0"/>
              </a:rPr>
              <a:t>?&gt;</a:t>
            </a:r>
            <a:endParaRPr lang="en-IN" sz="32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CE06882E-993E-0030-AAF7-E78A0997C6F3}"/>
              </a:ext>
            </a:extLst>
          </p:cNvPr>
          <p:cNvPicPr>
            <a:picLocks noChangeAspect="1"/>
          </p:cNvPicPr>
          <p:nvPr/>
        </p:nvPicPr>
        <p:blipFill>
          <a:blip r:embed="rId2"/>
          <a:stretch>
            <a:fillRect/>
          </a:stretch>
        </p:blipFill>
        <p:spPr>
          <a:xfrm>
            <a:off x="8045398" y="4845050"/>
            <a:ext cx="2295525" cy="1466850"/>
          </a:xfrm>
          <a:prstGeom prst="rect">
            <a:avLst/>
          </a:prstGeom>
        </p:spPr>
      </p:pic>
    </p:spTree>
    <p:extLst>
      <p:ext uri="{BB962C8B-B14F-4D97-AF65-F5344CB8AC3E}">
        <p14:creationId xmlns:p14="http://schemas.microsoft.com/office/powerpoint/2010/main" val="64768028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87751-B5D9-9B97-5CD7-1FBA97839F96}"/>
              </a:ext>
            </a:extLst>
          </p:cNvPr>
          <p:cNvSpPr>
            <a:spLocks noGrp="1"/>
          </p:cNvSpPr>
          <p:nvPr>
            <p:ph type="title"/>
          </p:nvPr>
        </p:nvSpPr>
        <p:spPr/>
        <p:txBody>
          <a:bodyPr/>
          <a:lstStyle/>
          <a:p>
            <a:r>
              <a:rPr lang="en-US" b="0" i="0" dirty="0">
                <a:solidFill>
                  <a:srgbClr val="000000"/>
                </a:solidFill>
                <a:effectLst/>
                <a:latin typeface="Times New Roman" panose="02020603050405020304" pitchFamily="18" charset="0"/>
                <a:cs typeface="Times New Roman" panose="02020603050405020304" pitchFamily="18" charset="0"/>
              </a:rPr>
              <a:t>The $this Keyword</a:t>
            </a:r>
            <a:endParaRPr lang="en-IN" dirty="0"/>
          </a:p>
        </p:txBody>
      </p:sp>
      <p:sp>
        <p:nvSpPr>
          <p:cNvPr id="3" name="Content Placeholder 2">
            <a:extLst>
              <a:ext uri="{FF2B5EF4-FFF2-40B4-BE49-F238E27FC236}">
                <a16:creationId xmlns:a16="http://schemas.microsoft.com/office/drawing/2014/main" id="{4026BF7E-39C9-ACC9-FF74-1E70D44AD816}"/>
              </a:ext>
            </a:extLst>
          </p:cNvPr>
          <p:cNvSpPr>
            <a:spLocks noGrp="1"/>
          </p:cNvSpPr>
          <p:nvPr>
            <p:ph idx="1"/>
          </p:nvPr>
        </p:nvSpPr>
        <p:spPr/>
        <p:txBody>
          <a:bodyPr/>
          <a:lstStyle/>
          <a:p>
            <a:pPr algn="l"/>
            <a:r>
              <a:rPr lang="en-US" b="0" i="0" dirty="0">
                <a:solidFill>
                  <a:srgbClr val="000000"/>
                </a:solidFill>
                <a:effectLst/>
                <a:latin typeface="Times New Roman" panose="02020603050405020304" pitchFamily="18" charset="0"/>
                <a:cs typeface="Times New Roman" panose="02020603050405020304" pitchFamily="18" charset="0"/>
              </a:rPr>
              <a:t>The $this keyword refers to the current object, and is only available inside methods.</a:t>
            </a:r>
          </a:p>
          <a:p>
            <a:pPr marL="0" indent="0" algn="l">
              <a:buNone/>
            </a:pPr>
            <a:r>
              <a:rPr lang="en-US" b="0" i="0" dirty="0">
                <a:solidFill>
                  <a:srgbClr val="000000"/>
                </a:solidFill>
                <a:effectLst/>
                <a:latin typeface="Times New Roman" panose="02020603050405020304" pitchFamily="18" charset="0"/>
                <a:cs typeface="Times New Roman" panose="02020603050405020304" pitchFamily="18" charset="0"/>
              </a:rPr>
              <a:t>Look at the following example: </a:t>
            </a:r>
          </a:p>
          <a:p>
            <a:pPr marL="0" indent="0" algn="l">
              <a:buNone/>
            </a:pPr>
            <a:r>
              <a:rPr lang="en-US" b="0" i="0" dirty="0">
                <a:solidFill>
                  <a:srgbClr val="FF0000"/>
                </a:solidFill>
                <a:effectLst/>
                <a:latin typeface="Times New Roman" panose="02020603050405020304" pitchFamily="18" charset="0"/>
                <a:cs typeface="Times New Roman" panose="02020603050405020304" pitchFamily="18" charset="0"/>
              </a:rPr>
              <a:t>&lt;?</a:t>
            </a:r>
            <a:r>
              <a:rPr lang="en-US" b="0" i="0" dirty="0" err="1">
                <a:solidFill>
                  <a:srgbClr val="FF0000"/>
                </a:solidFill>
                <a:effectLst/>
                <a:latin typeface="Times New Roman" panose="02020603050405020304" pitchFamily="18" charset="0"/>
                <a:cs typeface="Times New Roman" panose="02020603050405020304" pitchFamily="18" charset="0"/>
              </a:rPr>
              <a:t>php</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CD"/>
                </a:solidFill>
                <a:effectLst/>
                <a:latin typeface="Times New Roman" panose="02020603050405020304" pitchFamily="18" charset="0"/>
                <a:cs typeface="Times New Roman" panose="02020603050405020304" pitchFamily="18" charset="0"/>
              </a:rPr>
              <a:t>class</a:t>
            </a:r>
            <a:r>
              <a:rPr lang="en-US" b="0" i="0" dirty="0">
                <a:solidFill>
                  <a:srgbClr val="000000"/>
                </a:solidFill>
                <a:effectLst/>
                <a:latin typeface="Times New Roman" panose="02020603050405020304" pitchFamily="18" charset="0"/>
                <a:cs typeface="Times New Roman" panose="02020603050405020304" pitchFamily="18" charset="0"/>
              </a:rPr>
              <a:t> Fruit {</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public</a:t>
            </a:r>
            <a:r>
              <a:rPr lang="en-US" b="0" i="0" dirty="0">
                <a:solidFill>
                  <a:srgbClr val="000000"/>
                </a:solidFill>
                <a:effectLst/>
                <a:latin typeface="Times New Roman" panose="02020603050405020304" pitchFamily="18" charset="0"/>
                <a:cs typeface="Times New Roman" panose="02020603050405020304" pitchFamily="18" charset="0"/>
              </a:rPr>
              <a:t> $name;</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$apple = </a:t>
            </a:r>
            <a:r>
              <a:rPr lang="en-US" b="0" i="0" dirty="0">
                <a:solidFill>
                  <a:srgbClr val="0000CD"/>
                </a:solidFill>
                <a:effectLst/>
                <a:latin typeface="Times New Roman" panose="02020603050405020304" pitchFamily="18" charset="0"/>
                <a:cs typeface="Times New Roman" panose="02020603050405020304" pitchFamily="18" charset="0"/>
              </a:rPr>
              <a:t>new</a:t>
            </a:r>
            <a:r>
              <a:rPr lang="en-US" b="0" i="0" dirty="0">
                <a:solidFill>
                  <a:srgbClr val="000000"/>
                </a:solidFill>
                <a:effectLst/>
                <a:latin typeface="Times New Roman" panose="02020603050405020304" pitchFamily="18" charset="0"/>
                <a:cs typeface="Times New Roman" panose="02020603050405020304" pitchFamily="18" charset="0"/>
              </a:rPr>
              <a:t> Fruit();</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FF0000"/>
                </a:solidFill>
                <a:effectLst/>
                <a:latin typeface="Times New Roman" panose="02020603050405020304" pitchFamily="18" charset="0"/>
                <a:cs typeface="Times New Roman" panose="02020603050405020304" pitchFamily="18" charset="0"/>
              </a:rPr>
              <a:t>?&gt;</a:t>
            </a:r>
            <a:endParaRPr lang="en-US" b="0" i="0" dirty="0">
              <a:solidFill>
                <a:srgbClr val="000000"/>
              </a:solidFill>
              <a:effectLst/>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253304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055181-E333-9E18-9B71-C066ADCF4140}"/>
              </a:ext>
            </a:extLst>
          </p:cNvPr>
          <p:cNvSpPr>
            <a:spLocks noGrp="1"/>
          </p:cNvSpPr>
          <p:nvPr>
            <p:ph idx="1"/>
          </p:nvPr>
        </p:nvSpPr>
        <p:spPr>
          <a:xfrm>
            <a:off x="838200" y="285135"/>
            <a:ext cx="10134600" cy="5891828"/>
          </a:xfrm>
        </p:spPr>
        <p:txBody>
          <a:bodyPr>
            <a:normAutofit lnSpcReduction="10000"/>
          </a:bodyPr>
          <a:lstStyle/>
          <a:p>
            <a:pPr marL="0" indent="0" algn="l">
              <a:buNone/>
            </a:pPr>
            <a:r>
              <a:rPr lang="en-US" b="0" i="0" dirty="0">
                <a:solidFill>
                  <a:srgbClr val="000000"/>
                </a:solidFill>
                <a:effectLst/>
                <a:latin typeface="Times New Roman" panose="02020603050405020304" pitchFamily="18" charset="0"/>
                <a:cs typeface="Times New Roman" panose="02020603050405020304" pitchFamily="18" charset="0"/>
              </a:rPr>
              <a:t>So, where can we change the value of the $name property? There are two ways:</a:t>
            </a:r>
          </a:p>
          <a:p>
            <a:pPr marL="0" indent="0" algn="l">
              <a:buNone/>
            </a:pPr>
            <a:r>
              <a:rPr lang="en-US" b="0" i="0" dirty="0">
                <a:solidFill>
                  <a:srgbClr val="000000"/>
                </a:solidFill>
                <a:effectLst/>
                <a:latin typeface="Times New Roman" panose="02020603050405020304" pitchFamily="18" charset="0"/>
                <a:cs typeface="Times New Roman" panose="02020603050405020304" pitchFamily="18" charset="0"/>
              </a:rPr>
              <a:t>1. Inside the class (by adding a </a:t>
            </a:r>
            <a:r>
              <a:rPr lang="en-US" b="0" i="0" dirty="0" err="1">
                <a:solidFill>
                  <a:srgbClr val="000000"/>
                </a:solidFill>
                <a:effectLst/>
                <a:latin typeface="Times New Roman" panose="02020603050405020304" pitchFamily="18" charset="0"/>
                <a:cs typeface="Times New Roman" panose="02020603050405020304" pitchFamily="18" charset="0"/>
              </a:rPr>
              <a:t>set_name</a:t>
            </a:r>
            <a:r>
              <a:rPr lang="en-US" b="0" i="0" dirty="0">
                <a:solidFill>
                  <a:srgbClr val="000000"/>
                </a:solidFill>
                <a:effectLst/>
                <a:latin typeface="Times New Roman" panose="02020603050405020304" pitchFamily="18" charset="0"/>
                <a:cs typeface="Times New Roman" panose="02020603050405020304" pitchFamily="18" charset="0"/>
              </a:rPr>
              <a:t>() method and use $this):</a:t>
            </a:r>
          </a:p>
          <a:p>
            <a:pPr marL="0" indent="0">
              <a:buNone/>
            </a:pPr>
            <a:r>
              <a:rPr lang="en-US" b="0" i="0" dirty="0">
                <a:solidFill>
                  <a:srgbClr val="FF0000"/>
                </a:solidFill>
                <a:effectLst/>
                <a:latin typeface="Times New Roman" panose="02020603050405020304" pitchFamily="18" charset="0"/>
                <a:cs typeface="Times New Roman" panose="02020603050405020304" pitchFamily="18" charset="0"/>
              </a:rPr>
              <a:t>&lt;?</a:t>
            </a:r>
            <a:r>
              <a:rPr lang="en-US" b="0" i="0" dirty="0" err="1">
                <a:solidFill>
                  <a:srgbClr val="FF0000"/>
                </a:solidFill>
                <a:effectLst/>
                <a:latin typeface="Times New Roman" panose="02020603050405020304" pitchFamily="18" charset="0"/>
                <a:cs typeface="Times New Roman" panose="02020603050405020304" pitchFamily="18" charset="0"/>
              </a:rPr>
              <a:t>php</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CD"/>
                </a:solidFill>
                <a:effectLst/>
                <a:latin typeface="Times New Roman" panose="02020603050405020304" pitchFamily="18" charset="0"/>
                <a:cs typeface="Times New Roman" panose="02020603050405020304" pitchFamily="18" charset="0"/>
              </a:rPr>
              <a:t>class</a:t>
            </a:r>
            <a:r>
              <a:rPr lang="en-US" b="0" i="0" dirty="0">
                <a:solidFill>
                  <a:srgbClr val="000000"/>
                </a:solidFill>
                <a:effectLst/>
                <a:latin typeface="Times New Roman" panose="02020603050405020304" pitchFamily="18" charset="0"/>
                <a:cs typeface="Times New Roman" panose="02020603050405020304" pitchFamily="18" charset="0"/>
              </a:rPr>
              <a:t> Fruit {</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public</a:t>
            </a:r>
            <a:r>
              <a:rPr lang="en-US" b="0" i="0" dirty="0">
                <a:solidFill>
                  <a:srgbClr val="000000"/>
                </a:solidFill>
                <a:effectLst/>
                <a:latin typeface="Times New Roman" panose="02020603050405020304" pitchFamily="18" charset="0"/>
                <a:cs typeface="Times New Roman" panose="02020603050405020304" pitchFamily="18" charset="0"/>
              </a:rPr>
              <a:t> $name;</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function</a:t>
            </a: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err="1">
                <a:solidFill>
                  <a:srgbClr val="000000"/>
                </a:solidFill>
                <a:effectLst/>
                <a:latin typeface="Times New Roman" panose="02020603050405020304" pitchFamily="18" charset="0"/>
                <a:cs typeface="Times New Roman" panose="02020603050405020304" pitchFamily="18" charset="0"/>
              </a:rPr>
              <a:t>set_name</a:t>
            </a:r>
            <a:r>
              <a:rPr lang="en-US" b="0" i="0" dirty="0">
                <a:solidFill>
                  <a:srgbClr val="000000"/>
                </a:solidFill>
                <a:effectLst/>
                <a:latin typeface="Times New Roman" panose="02020603050405020304" pitchFamily="18" charset="0"/>
                <a:cs typeface="Times New Roman" panose="02020603050405020304" pitchFamily="18" charset="0"/>
              </a:rPr>
              <a:t>($name) {</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$this-&gt;name = $name;</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$apple = </a:t>
            </a:r>
            <a:r>
              <a:rPr lang="en-US" b="0" i="0" dirty="0">
                <a:solidFill>
                  <a:srgbClr val="0000CD"/>
                </a:solidFill>
                <a:effectLst/>
                <a:latin typeface="Times New Roman" panose="02020603050405020304" pitchFamily="18" charset="0"/>
                <a:cs typeface="Times New Roman" panose="02020603050405020304" pitchFamily="18" charset="0"/>
              </a:rPr>
              <a:t>new</a:t>
            </a:r>
            <a:r>
              <a:rPr lang="en-US" b="0" i="0" dirty="0">
                <a:solidFill>
                  <a:srgbClr val="000000"/>
                </a:solidFill>
                <a:effectLst/>
                <a:latin typeface="Times New Roman" panose="02020603050405020304" pitchFamily="18" charset="0"/>
                <a:cs typeface="Times New Roman" panose="02020603050405020304" pitchFamily="18" charset="0"/>
              </a:rPr>
              <a:t> Fruit();</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$apple-&gt;</a:t>
            </a:r>
            <a:r>
              <a:rPr lang="en-US" b="0" i="0" dirty="0" err="1">
                <a:solidFill>
                  <a:srgbClr val="000000"/>
                </a:solidFill>
                <a:effectLst/>
                <a:latin typeface="Times New Roman" panose="02020603050405020304" pitchFamily="18" charset="0"/>
                <a:cs typeface="Times New Roman" panose="02020603050405020304" pitchFamily="18" charset="0"/>
              </a:rPr>
              <a:t>set_name</a:t>
            </a:r>
            <a:r>
              <a:rPr lang="en-US" b="0" i="0" dirty="0">
                <a:solidFill>
                  <a:srgbClr val="000000"/>
                </a:solidFill>
                <a:effectLst/>
                <a:latin typeface="Times New Roman" panose="02020603050405020304" pitchFamily="18" charset="0"/>
                <a:cs typeface="Times New Roman" panose="02020603050405020304" pitchFamily="18" charset="0"/>
              </a:rPr>
              <a:t>(</a:t>
            </a:r>
            <a:r>
              <a:rPr lang="en-US" b="0" i="0" dirty="0">
                <a:solidFill>
                  <a:srgbClr val="A52A2A"/>
                </a:solidFill>
                <a:effectLst/>
                <a:latin typeface="Times New Roman" panose="02020603050405020304" pitchFamily="18" charset="0"/>
                <a:cs typeface="Times New Roman" panose="02020603050405020304" pitchFamily="18" charset="0"/>
              </a:rPr>
              <a:t>"Apple"</a:t>
            </a:r>
            <a:r>
              <a:rPr lang="en-US" b="0" i="0" dirty="0">
                <a:solidFill>
                  <a:srgbClr val="000000"/>
                </a:solidFill>
                <a:effectLst/>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CD"/>
                </a:solidFill>
                <a:effectLst/>
                <a:latin typeface="Times New Roman" panose="02020603050405020304" pitchFamily="18" charset="0"/>
                <a:cs typeface="Times New Roman" panose="02020603050405020304" pitchFamily="18" charset="0"/>
              </a:rPr>
              <a:t>echo</a:t>
            </a:r>
            <a:r>
              <a:rPr lang="en-US" b="0" i="0" dirty="0">
                <a:solidFill>
                  <a:srgbClr val="000000"/>
                </a:solidFill>
                <a:effectLst/>
                <a:latin typeface="Times New Roman" panose="02020603050405020304" pitchFamily="18" charset="0"/>
                <a:cs typeface="Times New Roman" panose="02020603050405020304" pitchFamily="18" charset="0"/>
              </a:rPr>
              <a:t> $apple-&gt;name;</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FF0000"/>
                </a:solidFill>
                <a:effectLst/>
                <a:latin typeface="Times New Roman" panose="02020603050405020304" pitchFamily="18" charset="0"/>
                <a:cs typeface="Times New Roman" panose="02020603050405020304" pitchFamily="18" charset="0"/>
              </a:rPr>
              <a:t>?&gt;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959130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1C7436-CFC1-9ADB-ED15-AF47E7370C64}"/>
              </a:ext>
            </a:extLst>
          </p:cNvPr>
          <p:cNvSpPr>
            <a:spLocks noGrp="1"/>
          </p:cNvSpPr>
          <p:nvPr>
            <p:ph idx="1"/>
          </p:nvPr>
        </p:nvSpPr>
        <p:spPr>
          <a:xfrm>
            <a:off x="838200" y="1347019"/>
            <a:ext cx="10515600" cy="4829944"/>
          </a:xfrm>
        </p:spPr>
        <p:txBody>
          <a:bodyPr>
            <a:normAutofit/>
          </a:bodyPr>
          <a:lstStyle/>
          <a:p>
            <a:pPr marL="0" indent="0">
              <a:buNone/>
            </a:pPr>
            <a:r>
              <a:rPr lang="en-US" b="0" i="0" dirty="0">
                <a:solidFill>
                  <a:srgbClr val="000000"/>
                </a:solidFill>
                <a:effectLst/>
                <a:latin typeface="Times New Roman" panose="02020603050405020304" pitchFamily="18" charset="0"/>
                <a:cs typeface="Times New Roman" panose="02020603050405020304" pitchFamily="18" charset="0"/>
              </a:rPr>
              <a:t>2. Outside the class (by directly changing the property value):</a:t>
            </a:r>
          </a:p>
          <a:p>
            <a:pPr marL="0" indent="0">
              <a:buNone/>
            </a:pPr>
            <a:r>
              <a:rPr lang="en-US" b="0" i="0" dirty="0">
                <a:solidFill>
                  <a:srgbClr val="FF0000"/>
                </a:solidFill>
                <a:effectLst/>
                <a:latin typeface="Times New Roman" panose="02020603050405020304" pitchFamily="18" charset="0"/>
                <a:cs typeface="Times New Roman" panose="02020603050405020304" pitchFamily="18" charset="0"/>
              </a:rPr>
              <a:t>&lt;?</a:t>
            </a:r>
            <a:r>
              <a:rPr lang="en-US" b="0" i="0" dirty="0" err="1">
                <a:solidFill>
                  <a:srgbClr val="FF0000"/>
                </a:solidFill>
                <a:effectLst/>
                <a:latin typeface="Times New Roman" panose="02020603050405020304" pitchFamily="18" charset="0"/>
                <a:cs typeface="Times New Roman" panose="02020603050405020304" pitchFamily="18" charset="0"/>
              </a:rPr>
              <a:t>php</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CD"/>
                </a:solidFill>
                <a:effectLst/>
                <a:latin typeface="Times New Roman" panose="02020603050405020304" pitchFamily="18" charset="0"/>
                <a:cs typeface="Times New Roman" panose="02020603050405020304" pitchFamily="18" charset="0"/>
              </a:rPr>
              <a:t>class</a:t>
            </a:r>
            <a:r>
              <a:rPr lang="en-US" b="0" i="0" dirty="0">
                <a:solidFill>
                  <a:srgbClr val="000000"/>
                </a:solidFill>
                <a:effectLst/>
                <a:latin typeface="Times New Roman" panose="02020603050405020304" pitchFamily="18" charset="0"/>
                <a:cs typeface="Times New Roman" panose="02020603050405020304" pitchFamily="18" charset="0"/>
              </a:rPr>
              <a:t> Fruit {</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public</a:t>
            </a:r>
            <a:r>
              <a:rPr lang="en-US" b="0" i="0" dirty="0">
                <a:solidFill>
                  <a:srgbClr val="000000"/>
                </a:solidFill>
                <a:effectLst/>
                <a:latin typeface="Times New Roman" panose="02020603050405020304" pitchFamily="18" charset="0"/>
                <a:cs typeface="Times New Roman" panose="02020603050405020304" pitchFamily="18" charset="0"/>
              </a:rPr>
              <a:t> $name;</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$apple = </a:t>
            </a:r>
            <a:r>
              <a:rPr lang="en-US" b="0" i="0" dirty="0">
                <a:solidFill>
                  <a:srgbClr val="0000CD"/>
                </a:solidFill>
                <a:effectLst/>
                <a:latin typeface="Times New Roman" panose="02020603050405020304" pitchFamily="18" charset="0"/>
                <a:cs typeface="Times New Roman" panose="02020603050405020304" pitchFamily="18" charset="0"/>
              </a:rPr>
              <a:t>new</a:t>
            </a:r>
            <a:r>
              <a:rPr lang="en-US" b="0" i="0" dirty="0">
                <a:solidFill>
                  <a:srgbClr val="000000"/>
                </a:solidFill>
                <a:effectLst/>
                <a:latin typeface="Times New Roman" panose="02020603050405020304" pitchFamily="18" charset="0"/>
                <a:cs typeface="Times New Roman" panose="02020603050405020304" pitchFamily="18" charset="0"/>
              </a:rPr>
              <a:t> Fruit();</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$apple-&gt;name = </a:t>
            </a:r>
            <a:r>
              <a:rPr lang="en-US" b="0" i="0" dirty="0">
                <a:solidFill>
                  <a:srgbClr val="A52A2A"/>
                </a:solidFill>
                <a:effectLst/>
                <a:latin typeface="Times New Roman" panose="02020603050405020304" pitchFamily="18" charset="0"/>
                <a:cs typeface="Times New Roman" panose="02020603050405020304" pitchFamily="18" charset="0"/>
              </a:rPr>
              <a:t>"Apple"</a:t>
            </a:r>
            <a:r>
              <a:rPr lang="en-US" b="0" i="0" dirty="0">
                <a:solidFill>
                  <a:srgbClr val="000000"/>
                </a:solidFill>
                <a:effectLst/>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CD"/>
                </a:solidFill>
                <a:effectLst/>
                <a:latin typeface="Times New Roman" panose="02020603050405020304" pitchFamily="18" charset="0"/>
                <a:cs typeface="Times New Roman" panose="02020603050405020304" pitchFamily="18" charset="0"/>
              </a:rPr>
              <a:t>echo</a:t>
            </a:r>
            <a:r>
              <a:rPr lang="en-US" b="0" i="0" dirty="0">
                <a:solidFill>
                  <a:srgbClr val="000000"/>
                </a:solidFill>
                <a:effectLst/>
                <a:latin typeface="Times New Roman" panose="02020603050405020304" pitchFamily="18" charset="0"/>
                <a:cs typeface="Times New Roman" panose="02020603050405020304" pitchFamily="18" charset="0"/>
              </a:rPr>
              <a:t> $apple-&gt;name;</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FF0000"/>
                </a:solidFill>
                <a:effectLst/>
                <a:latin typeface="Times New Roman" panose="02020603050405020304" pitchFamily="18" charset="0"/>
                <a:cs typeface="Times New Roman" panose="02020603050405020304" pitchFamily="18" charset="0"/>
              </a:rPr>
              <a:t>?&gt;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696744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F591F-451B-6C38-DCD8-4149ECF66631}"/>
              </a:ext>
            </a:extLst>
          </p:cNvPr>
          <p:cNvSpPr>
            <a:spLocks noGrp="1"/>
          </p:cNvSpPr>
          <p:nvPr>
            <p:ph type="title"/>
          </p:nvPr>
        </p:nvSpPr>
        <p:spPr/>
        <p:txBody>
          <a:bodyPr/>
          <a:lstStyle/>
          <a:p>
            <a:r>
              <a:rPr lang="en-IN" b="0" i="0" dirty="0">
                <a:solidFill>
                  <a:srgbClr val="000000"/>
                </a:solidFill>
                <a:effectLst/>
                <a:latin typeface="Times New Roman" panose="02020603050405020304" pitchFamily="18" charset="0"/>
                <a:cs typeface="Times New Roman" panose="02020603050405020304" pitchFamily="18" charset="0"/>
              </a:rPr>
              <a:t>PHP – </a:t>
            </a:r>
            <a:r>
              <a:rPr lang="en-IN" b="0" i="0" dirty="0" err="1">
                <a:solidFill>
                  <a:srgbClr val="000000"/>
                </a:solidFill>
                <a:effectLst/>
                <a:latin typeface="Times New Roman" panose="02020603050405020304" pitchFamily="18" charset="0"/>
                <a:cs typeface="Times New Roman" panose="02020603050405020304" pitchFamily="18" charset="0"/>
              </a:rPr>
              <a:t>instanceof</a:t>
            </a:r>
            <a:r>
              <a:rPr lang="en-IN" b="0" i="0" dirty="0">
                <a:solidFill>
                  <a:srgbClr val="000000"/>
                </a:solidFill>
                <a:effectLst/>
                <a:latin typeface="Times New Roman" panose="02020603050405020304" pitchFamily="18" charset="0"/>
                <a:cs typeface="Times New Roman" panose="02020603050405020304" pitchFamily="18" charset="0"/>
              </a:rPr>
              <a:t> : </a:t>
            </a:r>
            <a:r>
              <a:rPr lang="en-US" b="0" i="0" dirty="0">
                <a:solidFill>
                  <a:srgbClr val="000000"/>
                </a:solidFill>
                <a:effectLst/>
                <a:latin typeface="Times New Roman" panose="02020603050405020304" pitchFamily="18" charset="0"/>
                <a:cs typeface="Times New Roman" panose="02020603050405020304" pitchFamily="18" charset="0"/>
              </a:rPr>
              <a:t>keyword to check if an object belongs to a specific class: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D681276-6C4E-66EB-CDBD-AF952F8AA11A}"/>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&lt;?</a:t>
            </a:r>
            <a:r>
              <a:rPr lang="en-US" dirty="0" err="1">
                <a:latin typeface="Times New Roman" panose="02020603050405020304" pitchFamily="18" charset="0"/>
                <a:cs typeface="Times New Roman" panose="02020603050405020304" pitchFamily="18" charset="0"/>
              </a:rPr>
              <a:t>php</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class Fruit {</a:t>
            </a:r>
          </a:p>
          <a:p>
            <a:pPr marL="0" indent="0">
              <a:buNone/>
            </a:pPr>
            <a:r>
              <a:rPr lang="en-US" dirty="0">
                <a:latin typeface="Times New Roman" panose="02020603050405020304" pitchFamily="18" charset="0"/>
                <a:cs typeface="Times New Roman" panose="02020603050405020304" pitchFamily="18" charset="0"/>
              </a:rPr>
              <a:t>}</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$apple = new Fruit();</a:t>
            </a:r>
          </a:p>
          <a:p>
            <a:pPr marL="0" indent="0">
              <a:buNone/>
            </a:pPr>
            <a:r>
              <a:rPr lang="en-US" dirty="0" err="1">
                <a:latin typeface="Times New Roman" panose="02020603050405020304" pitchFamily="18" charset="0"/>
                <a:cs typeface="Times New Roman" panose="02020603050405020304" pitchFamily="18" charset="0"/>
              </a:rPr>
              <a:t>var_dump</a:t>
            </a:r>
            <a:r>
              <a:rPr lang="en-US" dirty="0">
                <a:latin typeface="Times New Roman" panose="02020603050405020304" pitchFamily="18" charset="0"/>
                <a:cs typeface="Times New Roman" panose="02020603050405020304" pitchFamily="18" charset="0"/>
              </a:rPr>
              <a:t>($apple </a:t>
            </a:r>
            <a:r>
              <a:rPr lang="en-US" dirty="0" err="1">
                <a:latin typeface="Times New Roman" panose="02020603050405020304" pitchFamily="18" charset="0"/>
                <a:cs typeface="Times New Roman" panose="02020603050405020304" pitchFamily="18" charset="0"/>
              </a:rPr>
              <a:t>instanceof</a:t>
            </a:r>
            <a:r>
              <a:rPr lang="en-US" dirty="0">
                <a:latin typeface="Times New Roman" panose="02020603050405020304" pitchFamily="18" charset="0"/>
                <a:cs typeface="Times New Roman" panose="02020603050405020304" pitchFamily="18" charset="0"/>
              </a:rPr>
              <a:t> Fruit);</a:t>
            </a:r>
          </a:p>
          <a:p>
            <a:pPr marL="0" indent="0">
              <a:buNone/>
            </a:pPr>
            <a:r>
              <a:rPr lang="en-US" dirty="0">
                <a:latin typeface="Times New Roman" panose="02020603050405020304" pitchFamily="18" charset="0"/>
                <a:cs typeface="Times New Roman" panose="02020603050405020304" pitchFamily="18" charset="0"/>
              </a:rPr>
              <a:t>?&gt;</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982F45C-C06F-D9E5-EAB5-0A9975212933}"/>
              </a:ext>
            </a:extLst>
          </p:cNvPr>
          <p:cNvPicPr>
            <a:picLocks noChangeAspect="1"/>
          </p:cNvPicPr>
          <p:nvPr/>
        </p:nvPicPr>
        <p:blipFill>
          <a:blip r:embed="rId2"/>
          <a:stretch>
            <a:fillRect/>
          </a:stretch>
        </p:blipFill>
        <p:spPr>
          <a:xfrm>
            <a:off x="9885106" y="5753100"/>
            <a:ext cx="2057400" cy="847725"/>
          </a:xfrm>
          <a:prstGeom prst="rect">
            <a:avLst/>
          </a:prstGeom>
        </p:spPr>
      </p:pic>
    </p:spTree>
    <p:extLst>
      <p:ext uri="{BB962C8B-B14F-4D97-AF65-F5344CB8AC3E}">
        <p14:creationId xmlns:p14="http://schemas.microsoft.com/office/powerpoint/2010/main" val="95814615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5A2F4-A1AF-3CFA-56C9-EC113AF5D6F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The __construct Function</a:t>
            </a:r>
            <a:endParaRPr lang="en-IN" dirty="0"/>
          </a:p>
        </p:txBody>
      </p:sp>
      <p:sp>
        <p:nvSpPr>
          <p:cNvPr id="3" name="Content Placeholder 2">
            <a:extLst>
              <a:ext uri="{FF2B5EF4-FFF2-40B4-BE49-F238E27FC236}">
                <a16:creationId xmlns:a16="http://schemas.microsoft.com/office/drawing/2014/main" id="{DA483156-DF4A-47B0-D2FA-0A302068075E}"/>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A constructor allows you to initialize an object's properties upon creation of the object.</a:t>
            </a:r>
          </a:p>
          <a:p>
            <a:pPr algn="just"/>
            <a:r>
              <a:rPr lang="en-US" dirty="0">
                <a:latin typeface="Times New Roman" panose="02020603050405020304" pitchFamily="18" charset="0"/>
                <a:cs typeface="Times New Roman" panose="02020603050405020304" pitchFamily="18" charset="0"/>
              </a:rPr>
              <a:t>To create a __construct() function, PHP will automatically call this function when you create an object from a class.</a:t>
            </a:r>
          </a:p>
          <a:p>
            <a:pPr algn="just"/>
            <a:r>
              <a:rPr lang="en-US" b="1" dirty="0">
                <a:latin typeface="Times New Roman" panose="02020603050405020304" pitchFamily="18" charset="0"/>
                <a:cs typeface="Times New Roman" panose="02020603050405020304" pitchFamily="18" charset="0"/>
              </a:rPr>
              <a:t>Notice</a:t>
            </a:r>
            <a:r>
              <a:rPr lang="en-US" dirty="0">
                <a:latin typeface="Times New Roman" panose="02020603050405020304" pitchFamily="18" charset="0"/>
                <a:cs typeface="Times New Roman" panose="02020603050405020304" pitchFamily="18" charset="0"/>
              </a:rPr>
              <a:t> that the construct function starts with two underscores (__)!</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772441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09F2CF-B455-853E-145B-FF2BF73E239C}"/>
              </a:ext>
            </a:extLst>
          </p:cNvPr>
          <p:cNvSpPr>
            <a:spLocks noGrp="1"/>
          </p:cNvSpPr>
          <p:nvPr>
            <p:ph idx="1"/>
          </p:nvPr>
        </p:nvSpPr>
        <p:spPr>
          <a:xfrm>
            <a:off x="838200" y="365125"/>
            <a:ext cx="10515600" cy="5811838"/>
          </a:xfrm>
        </p:spPr>
        <p:txBody>
          <a:bodyPr>
            <a:normAutofit fontScale="92500" lnSpcReduction="20000"/>
          </a:bodyPr>
          <a:lstStyle/>
          <a:p>
            <a:pPr marL="0" indent="0">
              <a:buNone/>
            </a:pPr>
            <a:r>
              <a:rPr lang="en-US" b="0" i="0" dirty="0">
                <a:solidFill>
                  <a:srgbClr val="FF0000"/>
                </a:solidFill>
                <a:effectLst/>
                <a:latin typeface="Times New Roman" panose="02020603050405020304" pitchFamily="18" charset="0"/>
                <a:cs typeface="Times New Roman" panose="02020603050405020304" pitchFamily="18" charset="0"/>
              </a:rPr>
              <a:t>Example:</a:t>
            </a:r>
          </a:p>
          <a:p>
            <a:pPr marL="0" indent="0">
              <a:buNone/>
            </a:pPr>
            <a:endParaRPr lang="en-US" b="0" i="0" dirty="0">
              <a:solidFill>
                <a:srgbClr val="FF0000"/>
              </a:solidFill>
              <a:effectLst/>
              <a:latin typeface="Times New Roman" panose="02020603050405020304" pitchFamily="18" charset="0"/>
              <a:cs typeface="Times New Roman" panose="02020603050405020304" pitchFamily="18" charset="0"/>
            </a:endParaRPr>
          </a:p>
          <a:p>
            <a:pPr marL="0" indent="0">
              <a:buNone/>
            </a:pPr>
            <a:r>
              <a:rPr lang="en-US" b="0" i="0" dirty="0">
                <a:solidFill>
                  <a:srgbClr val="FF0000"/>
                </a:solidFill>
                <a:effectLst/>
                <a:latin typeface="Times New Roman" panose="02020603050405020304" pitchFamily="18" charset="0"/>
                <a:cs typeface="Times New Roman" panose="02020603050405020304" pitchFamily="18" charset="0"/>
              </a:rPr>
              <a:t>&lt;?</a:t>
            </a:r>
            <a:r>
              <a:rPr lang="en-US" b="0" i="0" dirty="0" err="1">
                <a:solidFill>
                  <a:srgbClr val="FF0000"/>
                </a:solidFill>
                <a:effectLst/>
                <a:latin typeface="Times New Roman" panose="02020603050405020304" pitchFamily="18" charset="0"/>
                <a:cs typeface="Times New Roman" panose="02020603050405020304" pitchFamily="18" charset="0"/>
              </a:rPr>
              <a:t>php</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CD"/>
                </a:solidFill>
                <a:effectLst/>
                <a:latin typeface="Times New Roman" panose="02020603050405020304" pitchFamily="18" charset="0"/>
                <a:cs typeface="Times New Roman" panose="02020603050405020304" pitchFamily="18" charset="0"/>
              </a:rPr>
              <a:t>class</a:t>
            </a:r>
            <a:r>
              <a:rPr lang="en-US" b="0" i="0" dirty="0">
                <a:solidFill>
                  <a:srgbClr val="000000"/>
                </a:solidFill>
                <a:effectLst/>
                <a:latin typeface="Times New Roman" panose="02020603050405020304" pitchFamily="18" charset="0"/>
                <a:cs typeface="Times New Roman" panose="02020603050405020304" pitchFamily="18" charset="0"/>
              </a:rPr>
              <a:t> Fruit {</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public</a:t>
            </a:r>
            <a:r>
              <a:rPr lang="en-US" b="0" i="0" dirty="0">
                <a:solidFill>
                  <a:srgbClr val="000000"/>
                </a:solidFill>
                <a:effectLst/>
                <a:latin typeface="Times New Roman" panose="02020603050405020304" pitchFamily="18" charset="0"/>
                <a:cs typeface="Times New Roman" panose="02020603050405020304" pitchFamily="18" charset="0"/>
              </a:rPr>
              <a:t> $name;</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public</a:t>
            </a:r>
            <a:r>
              <a:rPr lang="en-US" b="0" i="0" dirty="0">
                <a:solidFill>
                  <a:srgbClr val="000000"/>
                </a:solidFill>
                <a:effectLst/>
                <a:latin typeface="Times New Roman" panose="02020603050405020304" pitchFamily="18" charset="0"/>
                <a:cs typeface="Times New Roman" panose="02020603050405020304" pitchFamily="18" charset="0"/>
              </a:rPr>
              <a:t> $color;</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function</a:t>
            </a:r>
            <a:r>
              <a:rPr lang="en-US" b="0" i="0" dirty="0">
                <a:solidFill>
                  <a:srgbClr val="000000"/>
                </a:solidFill>
                <a:effectLst/>
                <a:latin typeface="Times New Roman" panose="02020603050405020304" pitchFamily="18" charset="0"/>
                <a:cs typeface="Times New Roman" panose="02020603050405020304" pitchFamily="18" charset="0"/>
              </a:rPr>
              <a:t> __construct($name) {</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$this-&gt;name = $name;</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function</a:t>
            </a: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err="1">
                <a:solidFill>
                  <a:srgbClr val="000000"/>
                </a:solidFill>
                <a:effectLst/>
                <a:latin typeface="Times New Roman" panose="02020603050405020304" pitchFamily="18" charset="0"/>
                <a:cs typeface="Times New Roman" panose="02020603050405020304" pitchFamily="18" charset="0"/>
              </a:rPr>
              <a:t>get_name</a:t>
            </a:r>
            <a:r>
              <a:rPr lang="en-US" b="0" i="0" dirty="0">
                <a:solidFill>
                  <a:srgbClr val="000000"/>
                </a:solidFill>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return</a:t>
            </a:r>
            <a:r>
              <a:rPr lang="en-US" b="0" i="0" dirty="0">
                <a:solidFill>
                  <a:srgbClr val="000000"/>
                </a:solidFill>
                <a:effectLst/>
                <a:latin typeface="Times New Roman" panose="02020603050405020304" pitchFamily="18" charset="0"/>
                <a:cs typeface="Times New Roman" panose="02020603050405020304" pitchFamily="18" charset="0"/>
              </a:rPr>
              <a:t> $this-&gt;name;</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$apple = </a:t>
            </a:r>
            <a:r>
              <a:rPr lang="en-US" b="0" i="0" dirty="0">
                <a:solidFill>
                  <a:srgbClr val="0000CD"/>
                </a:solidFill>
                <a:effectLst/>
                <a:latin typeface="Times New Roman" panose="02020603050405020304" pitchFamily="18" charset="0"/>
                <a:cs typeface="Times New Roman" panose="02020603050405020304" pitchFamily="18" charset="0"/>
              </a:rPr>
              <a:t>new</a:t>
            </a:r>
            <a:r>
              <a:rPr lang="en-US" b="0" i="0" dirty="0">
                <a:solidFill>
                  <a:srgbClr val="000000"/>
                </a:solidFill>
                <a:effectLst/>
                <a:latin typeface="Times New Roman" panose="02020603050405020304" pitchFamily="18" charset="0"/>
                <a:cs typeface="Times New Roman" panose="02020603050405020304" pitchFamily="18" charset="0"/>
              </a:rPr>
              <a:t> Fruit(</a:t>
            </a:r>
            <a:r>
              <a:rPr lang="en-US" b="0" i="0" dirty="0">
                <a:solidFill>
                  <a:srgbClr val="A52A2A"/>
                </a:solidFill>
                <a:effectLst/>
                <a:latin typeface="Times New Roman" panose="02020603050405020304" pitchFamily="18" charset="0"/>
                <a:cs typeface="Times New Roman" panose="02020603050405020304" pitchFamily="18" charset="0"/>
              </a:rPr>
              <a:t>"Apple"</a:t>
            </a:r>
            <a:r>
              <a:rPr lang="en-US" b="0" i="0" dirty="0">
                <a:solidFill>
                  <a:srgbClr val="000000"/>
                </a:solidFill>
                <a:effectLst/>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CD"/>
                </a:solidFill>
                <a:effectLst/>
                <a:latin typeface="Times New Roman" panose="02020603050405020304" pitchFamily="18" charset="0"/>
                <a:cs typeface="Times New Roman" panose="02020603050405020304" pitchFamily="18" charset="0"/>
              </a:rPr>
              <a:t>echo</a:t>
            </a:r>
            <a:r>
              <a:rPr lang="en-US" b="0" i="0" dirty="0">
                <a:solidFill>
                  <a:srgbClr val="000000"/>
                </a:solidFill>
                <a:effectLst/>
                <a:latin typeface="Times New Roman" panose="02020603050405020304" pitchFamily="18" charset="0"/>
                <a:cs typeface="Times New Roman" panose="02020603050405020304" pitchFamily="18" charset="0"/>
              </a:rPr>
              <a:t> $apple-&gt;</a:t>
            </a:r>
            <a:r>
              <a:rPr lang="en-US" b="0" i="0" dirty="0" err="1">
                <a:solidFill>
                  <a:srgbClr val="000000"/>
                </a:solidFill>
                <a:effectLst/>
                <a:latin typeface="Times New Roman" panose="02020603050405020304" pitchFamily="18" charset="0"/>
                <a:cs typeface="Times New Roman" panose="02020603050405020304" pitchFamily="18" charset="0"/>
              </a:rPr>
              <a:t>get_name</a:t>
            </a:r>
            <a:r>
              <a:rPr lang="en-US" b="0" i="0" dirty="0">
                <a:solidFill>
                  <a:srgbClr val="000000"/>
                </a:solidFill>
                <a:effectLst/>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FF0000"/>
                </a:solidFill>
                <a:effectLst/>
                <a:latin typeface="Times New Roman" panose="02020603050405020304" pitchFamily="18" charset="0"/>
                <a:cs typeface="Times New Roman" panose="02020603050405020304" pitchFamily="18" charset="0"/>
              </a:rPr>
              <a:t>?&gt;</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C60DFFB-6806-3643-D306-219CD56DF190}"/>
              </a:ext>
            </a:extLst>
          </p:cNvPr>
          <p:cNvPicPr>
            <a:picLocks noChangeAspect="1"/>
          </p:cNvPicPr>
          <p:nvPr/>
        </p:nvPicPr>
        <p:blipFill>
          <a:blip r:embed="rId2"/>
          <a:stretch>
            <a:fillRect/>
          </a:stretch>
        </p:blipFill>
        <p:spPr>
          <a:xfrm>
            <a:off x="9186094" y="5035345"/>
            <a:ext cx="2000250" cy="838200"/>
          </a:xfrm>
          <a:prstGeom prst="rect">
            <a:avLst/>
          </a:prstGeom>
        </p:spPr>
      </p:pic>
    </p:spTree>
    <p:extLst>
      <p:ext uri="{BB962C8B-B14F-4D97-AF65-F5344CB8AC3E}">
        <p14:creationId xmlns:p14="http://schemas.microsoft.com/office/powerpoint/2010/main" val="415641449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3A311-4C8A-1680-27CC-D9C768B5A76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The __destruct Function</a:t>
            </a:r>
            <a:endParaRPr lang="en-IN" dirty="0"/>
          </a:p>
        </p:txBody>
      </p:sp>
      <p:sp>
        <p:nvSpPr>
          <p:cNvPr id="3" name="Content Placeholder 2">
            <a:extLst>
              <a:ext uri="{FF2B5EF4-FFF2-40B4-BE49-F238E27FC236}">
                <a16:creationId xmlns:a16="http://schemas.microsoft.com/office/drawing/2014/main" id="{35452B69-A12B-D869-AC43-2823C3A560CA}"/>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A destructor is called when the object is destructed or the script is stopped or exited.</a:t>
            </a:r>
          </a:p>
          <a:p>
            <a:r>
              <a:rPr lang="en-US" dirty="0">
                <a:latin typeface="Times New Roman" panose="02020603050405020304" pitchFamily="18" charset="0"/>
                <a:cs typeface="Times New Roman" panose="02020603050405020304" pitchFamily="18" charset="0"/>
              </a:rPr>
              <a:t>If you create a __destruct() function, PHP will automatically call this function at the end of the script.</a:t>
            </a:r>
          </a:p>
          <a:p>
            <a:r>
              <a:rPr lang="en-US" b="1" dirty="0">
                <a:latin typeface="Times New Roman" panose="02020603050405020304" pitchFamily="18" charset="0"/>
                <a:cs typeface="Times New Roman" panose="02020603050405020304" pitchFamily="18" charset="0"/>
              </a:rPr>
              <a:t>Notice</a:t>
            </a:r>
            <a:r>
              <a:rPr lang="en-US" dirty="0">
                <a:latin typeface="Times New Roman" panose="02020603050405020304" pitchFamily="18" charset="0"/>
                <a:cs typeface="Times New Roman" panose="02020603050405020304" pitchFamily="18" charset="0"/>
              </a:rPr>
              <a:t> that the destruct function starts with two underscores (__)!</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232059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A9DA9-A9D9-321B-35B0-16AF1B76E994}"/>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Example:</a:t>
            </a:r>
          </a:p>
        </p:txBody>
      </p:sp>
      <p:sp>
        <p:nvSpPr>
          <p:cNvPr id="3" name="Content Placeholder 2">
            <a:extLst>
              <a:ext uri="{FF2B5EF4-FFF2-40B4-BE49-F238E27FC236}">
                <a16:creationId xmlns:a16="http://schemas.microsoft.com/office/drawing/2014/main" id="{FC09029E-1D21-A9DF-1D4A-CDA2457908E9}"/>
              </a:ext>
            </a:extLst>
          </p:cNvPr>
          <p:cNvSpPr>
            <a:spLocks noGrp="1"/>
          </p:cNvSpPr>
          <p:nvPr>
            <p:ph idx="1"/>
          </p:nvPr>
        </p:nvSpPr>
        <p:spPr/>
        <p:txBody>
          <a:bodyPr>
            <a:noAutofit/>
          </a:bodyPr>
          <a:lstStyle/>
          <a:p>
            <a:pPr marL="0" indent="0">
              <a:buNone/>
            </a:pPr>
            <a:r>
              <a:rPr lang="en-US" sz="2000" dirty="0">
                <a:latin typeface="Times New Roman" panose="02020603050405020304" pitchFamily="18" charset="0"/>
                <a:cs typeface="Times New Roman" panose="02020603050405020304" pitchFamily="18" charset="0"/>
              </a:rPr>
              <a:t>&lt;?</a:t>
            </a:r>
            <a:r>
              <a:rPr lang="en-US" sz="2000" dirty="0" err="1">
                <a:latin typeface="Times New Roman" panose="02020603050405020304" pitchFamily="18" charset="0"/>
                <a:cs typeface="Times New Roman" panose="02020603050405020304" pitchFamily="18" charset="0"/>
              </a:rPr>
              <a:t>php</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class Fruit {</a:t>
            </a:r>
          </a:p>
          <a:p>
            <a:pPr marL="0" indent="0">
              <a:buNone/>
            </a:pPr>
            <a:r>
              <a:rPr lang="en-US" sz="2000" dirty="0">
                <a:latin typeface="Times New Roman" panose="02020603050405020304" pitchFamily="18" charset="0"/>
                <a:cs typeface="Times New Roman" panose="02020603050405020304" pitchFamily="18" charset="0"/>
              </a:rPr>
              <a:t>  public $name;</a:t>
            </a:r>
          </a:p>
          <a:p>
            <a:pPr marL="0" indent="0">
              <a:buNone/>
            </a:pPr>
            <a:r>
              <a:rPr lang="en-US" sz="2000" dirty="0">
                <a:latin typeface="Times New Roman" panose="02020603050405020304" pitchFamily="18" charset="0"/>
                <a:cs typeface="Times New Roman" panose="02020603050405020304" pitchFamily="18" charset="0"/>
              </a:rPr>
              <a:t>  public $color;</a:t>
            </a:r>
          </a:p>
          <a:p>
            <a:pPr marL="0" indent="0">
              <a:buNone/>
            </a:pPr>
            <a:r>
              <a:rPr lang="en-US" sz="2000" dirty="0">
                <a:latin typeface="Times New Roman" panose="02020603050405020304" pitchFamily="18" charset="0"/>
                <a:cs typeface="Times New Roman" panose="02020603050405020304" pitchFamily="18" charset="0"/>
              </a:rPr>
              <a:t>  function __construct($name) {</a:t>
            </a:r>
          </a:p>
          <a:p>
            <a:pPr marL="0" indent="0">
              <a:buNone/>
            </a:pPr>
            <a:r>
              <a:rPr lang="en-US" sz="2000" dirty="0">
                <a:latin typeface="Times New Roman" panose="02020603050405020304" pitchFamily="18" charset="0"/>
                <a:cs typeface="Times New Roman" panose="02020603050405020304" pitchFamily="18" charset="0"/>
              </a:rPr>
              <a:t>    $this-&gt;name = $name;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function __destruct() {</a:t>
            </a:r>
          </a:p>
          <a:p>
            <a:pPr marL="0" indent="0">
              <a:buNone/>
            </a:pPr>
            <a:r>
              <a:rPr lang="en-US" sz="2000" dirty="0">
                <a:latin typeface="Times New Roman" panose="02020603050405020304" pitchFamily="18" charset="0"/>
                <a:cs typeface="Times New Roman" panose="02020603050405020304" pitchFamily="18" charset="0"/>
              </a:rPr>
              <a:t>    echo "The fruit is {$this-&gt;name}."; </a:t>
            </a:r>
          </a:p>
          <a:p>
            <a:pPr marL="0" indent="0">
              <a:buNone/>
            </a:pPr>
            <a:r>
              <a:rPr lang="en-US" sz="2000" dirty="0">
                <a:latin typeface="Times New Roman" panose="02020603050405020304" pitchFamily="18" charset="0"/>
                <a:cs typeface="Times New Roman" panose="02020603050405020304" pitchFamily="18" charset="0"/>
              </a:rPr>
              <a:t>  } }</a:t>
            </a:r>
          </a:p>
          <a:p>
            <a:pPr marL="0" indent="0">
              <a:buNone/>
            </a:pPr>
            <a:r>
              <a:rPr lang="en-US" sz="2000" dirty="0">
                <a:latin typeface="Times New Roman" panose="02020603050405020304" pitchFamily="18" charset="0"/>
                <a:cs typeface="Times New Roman" panose="02020603050405020304" pitchFamily="18" charset="0"/>
              </a:rPr>
              <a:t>$apple = new Fruit("Apple");</a:t>
            </a:r>
          </a:p>
          <a:p>
            <a:pPr marL="0" indent="0">
              <a:buNone/>
            </a:pPr>
            <a:r>
              <a:rPr lang="en-US" sz="2000" dirty="0">
                <a:latin typeface="Times New Roman" panose="02020603050405020304" pitchFamily="18" charset="0"/>
                <a:cs typeface="Times New Roman" panose="02020603050405020304" pitchFamily="18" charset="0"/>
              </a:rPr>
              <a:t>?&gt;</a:t>
            </a: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58A2B3D-B363-9D3B-5AF9-572FC1FAB70E}"/>
              </a:ext>
            </a:extLst>
          </p:cNvPr>
          <p:cNvPicPr>
            <a:picLocks noChangeAspect="1"/>
          </p:cNvPicPr>
          <p:nvPr/>
        </p:nvPicPr>
        <p:blipFill>
          <a:blip r:embed="rId2"/>
          <a:stretch>
            <a:fillRect/>
          </a:stretch>
        </p:blipFill>
        <p:spPr>
          <a:xfrm>
            <a:off x="8184741" y="4960220"/>
            <a:ext cx="2705100" cy="752475"/>
          </a:xfrm>
          <a:prstGeom prst="rect">
            <a:avLst/>
          </a:prstGeom>
        </p:spPr>
      </p:pic>
    </p:spTree>
    <p:extLst>
      <p:ext uri="{BB962C8B-B14F-4D97-AF65-F5344CB8AC3E}">
        <p14:creationId xmlns:p14="http://schemas.microsoft.com/office/powerpoint/2010/main" val="131323477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8800E-9D69-34C6-7EE1-BF023F500BA9}"/>
              </a:ext>
            </a:extLst>
          </p:cNvPr>
          <p:cNvSpPr>
            <a:spLocks noGrp="1"/>
          </p:cNvSpPr>
          <p:nvPr>
            <p:ph type="title"/>
          </p:nvPr>
        </p:nvSpPr>
        <p:spPr/>
        <p:txBody>
          <a:bodyPr/>
          <a:lstStyle/>
          <a:p>
            <a:r>
              <a:rPr lang="en-IN" b="0" i="0" dirty="0">
                <a:solidFill>
                  <a:srgbClr val="000000"/>
                </a:solidFill>
                <a:effectLst/>
                <a:latin typeface="Times New Roman" panose="02020603050405020304" pitchFamily="18" charset="0"/>
                <a:cs typeface="Times New Roman" panose="02020603050405020304" pitchFamily="18" charset="0"/>
              </a:rPr>
              <a:t>Access Modifiers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7C3C5E4-A3FA-6A4B-C927-AF7BBE78EAC6}"/>
              </a:ext>
            </a:extLst>
          </p:cNvPr>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Properties and methods can have access modifiers which control where they can be accessed.</a:t>
            </a:r>
          </a:p>
          <a:p>
            <a:pPr marL="0" indent="0">
              <a:buNone/>
            </a:pPr>
            <a:r>
              <a:rPr lang="en-US" b="1" dirty="0">
                <a:latin typeface="Times New Roman" panose="02020603050405020304" pitchFamily="18" charset="0"/>
                <a:cs typeface="Times New Roman" panose="02020603050405020304" pitchFamily="18" charset="0"/>
              </a:rPr>
              <a:t>There are three access modifiers:</a:t>
            </a:r>
          </a:p>
          <a:p>
            <a:r>
              <a:rPr lang="en-US" b="1" dirty="0">
                <a:latin typeface="Times New Roman" panose="02020603050405020304" pitchFamily="18" charset="0"/>
                <a:cs typeface="Times New Roman" panose="02020603050405020304" pitchFamily="18" charset="0"/>
              </a:rPr>
              <a:t>public</a:t>
            </a:r>
            <a:r>
              <a:rPr lang="en-US" dirty="0">
                <a:latin typeface="Times New Roman" panose="02020603050405020304" pitchFamily="18" charset="0"/>
                <a:cs typeface="Times New Roman" panose="02020603050405020304" pitchFamily="18" charset="0"/>
              </a:rPr>
              <a:t> - the property or method can be accessed from everywhere. This is default</a:t>
            </a:r>
          </a:p>
          <a:p>
            <a:r>
              <a:rPr lang="en-US" b="1" dirty="0">
                <a:latin typeface="Times New Roman" panose="02020603050405020304" pitchFamily="18" charset="0"/>
                <a:cs typeface="Times New Roman" panose="02020603050405020304" pitchFamily="18" charset="0"/>
              </a:rPr>
              <a:t>protected</a:t>
            </a:r>
            <a:r>
              <a:rPr lang="en-US" dirty="0">
                <a:latin typeface="Times New Roman" panose="02020603050405020304" pitchFamily="18" charset="0"/>
                <a:cs typeface="Times New Roman" panose="02020603050405020304" pitchFamily="18" charset="0"/>
              </a:rPr>
              <a:t> - the property or method can be accessed within the class and by classes derived from that class</a:t>
            </a:r>
          </a:p>
          <a:p>
            <a:r>
              <a:rPr lang="en-US" b="1" dirty="0">
                <a:latin typeface="Times New Roman" panose="02020603050405020304" pitchFamily="18" charset="0"/>
                <a:cs typeface="Times New Roman" panose="02020603050405020304" pitchFamily="18" charset="0"/>
              </a:rPr>
              <a:t>private</a:t>
            </a:r>
            <a:r>
              <a:rPr lang="en-US" dirty="0">
                <a:latin typeface="Times New Roman" panose="02020603050405020304" pitchFamily="18" charset="0"/>
                <a:cs typeface="Times New Roman" panose="02020603050405020304" pitchFamily="18" charset="0"/>
              </a:rPr>
              <a:t> - the property or method can ONLY be accessed within the class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008835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56291-A033-DDF7-6E7F-06A202FEDF46}"/>
              </a:ext>
            </a:extLst>
          </p:cNvPr>
          <p:cNvSpPr>
            <a:spLocks noGrp="1"/>
          </p:cNvSpPr>
          <p:nvPr>
            <p:ph type="title"/>
          </p:nvPr>
        </p:nvSpPr>
        <p:spPr/>
        <p:txBody>
          <a:bodyPr/>
          <a:lstStyle/>
          <a:p>
            <a:r>
              <a:rPr lang="en-IN" b="0" i="0" dirty="0">
                <a:solidFill>
                  <a:srgbClr val="000000"/>
                </a:solidFill>
                <a:effectLst/>
                <a:latin typeface="Times New Roman" panose="02020603050405020304" pitchFamily="18" charset="0"/>
                <a:cs typeface="Times New Roman" panose="02020603050405020304" pitchFamily="18" charset="0"/>
              </a:rPr>
              <a:t>Example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0B91E1E-7308-E6F3-310F-D852367F310B}"/>
              </a:ext>
            </a:extLst>
          </p:cNvPr>
          <p:cNvSpPr>
            <a:spLocks noGrp="1"/>
          </p:cNvSpPr>
          <p:nvPr>
            <p:ph idx="1"/>
          </p:nvPr>
        </p:nvSpPr>
        <p:spPr/>
        <p:txBody>
          <a:bodyPr>
            <a:normAutofit lnSpcReduction="10000"/>
          </a:bodyPr>
          <a:lstStyle/>
          <a:p>
            <a:pPr marL="0" indent="0">
              <a:buNone/>
            </a:pPr>
            <a:r>
              <a:rPr lang="en-IN" b="0" i="0" dirty="0">
                <a:solidFill>
                  <a:srgbClr val="FF0000"/>
                </a:solidFill>
                <a:effectLst/>
                <a:latin typeface="Times New Roman" panose="02020603050405020304" pitchFamily="18" charset="0"/>
                <a:cs typeface="Times New Roman" panose="02020603050405020304" pitchFamily="18" charset="0"/>
              </a:rPr>
              <a:t>&lt;?</a:t>
            </a:r>
            <a:r>
              <a:rPr lang="en-IN" b="0" i="0" dirty="0" err="1">
                <a:solidFill>
                  <a:srgbClr val="FF0000"/>
                </a:solidFill>
                <a:effectLst/>
                <a:latin typeface="Times New Roman" panose="02020603050405020304" pitchFamily="18" charset="0"/>
                <a:cs typeface="Times New Roman" panose="02020603050405020304" pitchFamily="18" charset="0"/>
              </a:rPr>
              <a:t>php</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b="0" i="0" dirty="0">
                <a:solidFill>
                  <a:srgbClr val="0000CD"/>
                </a:solidFill>
                <a:effectLst/>
                <a:latin typeface="Times New Roman" panose="02020603050405020304" pitchFamily="18" charset="0"/>
                <a:cs typeface="Times New Roman" panose="02020603050405020304" pitchFamily="18" charset="0"/>
              </a:rPr>
              <a:t>class</a:t>
            </a:r>
            <a:r>
              <a:rPr lang="en-IN" b="0" i="0" dirty="0">
                <a:solidFill>
                  <a:srgbClr val="000000"/>
                </a:solidFill>
                <a:effectLst/>
                <a:latin typeface="Times New Roman" panose="02020603050405020304" pitchFamily="18" charset="0"/>
                <a:cs typeface="Times New Roman" panose="02020603050405020304" pitchFamily="18" charset="0"/>
              </a:rPr>
              <a:t> Fruit {</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a:solidFill>
                  <a:srgbClr val="0000CD"/>
                </a:solidFill>
                <a:effectLst/>
                <a:latin typeface="Times New Roman" panose="02020603050405020304" pitchFamily="18" charset="0"/>
                <a:cs typeface="Times New Roman" panose="02020603050405020304" pitchFamily="18" charset="0"/>
              </a:rPr>
              <a:t>public</a:t>
            </a:r>
            <a:r>
              <a:rPr lang="en-IN" b="0" i="0" dirty="0">
                <a:solidFill>
                  <a:srgbClr val="000000"/>
                </a:solidFill>
                <a:effectLst/>
                <a:latin typeface="Times New Roman" panose="02020603050405020304" pitchFamily="18" charset="0"/>
                <a:cs typeface="Times New Roman" panose="02020603050405020304" pitchFamily="18" charset="0"/>
              </a:rPr>
              <a:t> $name;</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a:solidFill>
                  <a:srgbClr val="0000CD"/>
                </a:solidFill>
                <a:effectLst/>
                <a:latin typeface="Times New Roman" panose="02020603050405020304" pitchFamily="18" charset="0"/>
                <a:cs typeface="Times New Roman" panose="02020603050405020304" pitchFamily="18" charset="0"/>
              </a:rPr>
              <a:t>protected</a:t>
            </a: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err="1">
                <a:solidFill>
                  <a:srgbClr val="000000"/>
                </a:solidFill>
                <a:effectLst/>
                <a:latin typeface="Times New Roman" panose="02020603050405020304" pitchFamily="18" charset="0"/>
                <a:cs typeface="Times New Roman" panose="02020603050405020304" pitchFamily="18" charset="0"/>
              </a:rPr>
              <a:t>color</a:t>
            </a:r>
            <a:r>
              <a:rPr lang="en-IN" b="0" i="0" dirty="0">
                <a:solidFill>
                  <a:srgbClr val="000000"/>
                </a:solidFill>
                <a:effectLst/>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a:solidFill>
                  <a:srgbClr val="0000CD"/>
                </a:solidFill>
                <a:effectLst/>
                <a:latin typeface="Times New Roman" panose="02020603050405020304" pitchFamily="18" charset="0"/>
                <a:cs typeface="Times New Roman" panose="02020603050405020304" pitchFamily="18" charset="0"/>
              </a:rPr>
              <a:t>private</a:t>
            </a:r>
            <a:r>
              <a:rPr lang="en-IN" b="0" i="0" dirty="0">
                <a:solidFill>
                  <a:srgbClr val="000000"/>
                </a:solidFill>
                <a:effectLst/>
                <a:latin typeface="Times New Roman" panose="02020603050405020304" pitchFamily="18" charset="0"/>
                <a:cs typeface="Times New Roman" panose="02020603050405020304" pitchFamily="18" charset="0"/>
              </a:rPr>
              <a:t> $weight;</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$mango = </a:t>
            </a:r>
            <a:r>
              <a:rPr lang="en-IN" b="0" i="0" dirty="0">
                <a:solidFill>
                  <a:srgbClr val="0000CD"/>
                </a:solidFill>
                <a:effectLst/>
                <a:latin typeface="Times New Roman" panose="02020603050405020304" pitchFamily="18" charset="0"/>
                <a:cs typeface="Times New Roman" panose="02020603050405020304" pitchFamily="18" charset="0"/>
              </a:rPr>
              <a:t>new</a:t>
            </a:r>
            <a:r>
              <a:rPr lang="en-IN" b="0" i="0" dirty="0">
                <a:solidFill>
                  <a:srgbClr val="000000"/>
                </a:solidFill>
                <a:effectLst/>
                <a:latin typeface="Times New Roman" panose="02020603050405020304" pitchFamily="18" charset="0"/>
                <a:cs typeface="Times New Roman" panose="02020603050405020304" pitchFamily="18" charset="0"/>
              </a:rPr>
              <a:t> Fruit();</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$mango-&gt;name = </a:t>
            </a:r>
            <a:r>
              <a:rPr lang="en-IN" b="0" i="0" dirty="0">
                <a:solidFill>
                  <a:srgbClr val="A52A2A"/>
                </a:solidFill>
                <a:effectLst/>
                <a:latin typeface="Times New Roman" panose="02020603050405020304" pitchFamily="18" charset="0"/>
                <a:cs typeface="Times New Roman" panose="02020603050405020304" pitchFamily="18" charset="0"/>
              </a:rPr>
              <a:t>'Mango'</a:t>
            </a: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a:solidFill>
                  <a:srgbClr val="008000"/>
                </a:solidFill>
                <a:effectLst/>
                <a:latin typeface="Times New Roman" panose="02020603050405020304" pitchFamily="18" charset="0"/>
                <a:cs typeface="Times New Roman" panose="02020603050405020304" pitchFamily="18" charset="0"/>
              </a:rPr>
              <a:t>// OK</a:t>
            </a:r>
            <a:br>
              <a:rPr lang="en-IN" b="0" i="0" dirty="0">
                <a:solidFill>
                  <a:srgbClr val="008000"/>
                </a:solidFill>
                <a:effectLst/>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$mango-&gt;</a:t>
            </a:r>
            <a:r>
              <a:rPr lang="en-IN" b="0" i="0" dirty="0" err="1">
                <a:solidFill>
                  <a:srgbClr val="000000"/>
                </a:solidFill>
                <a:effectLst/>
                <a:latin typeface="Times New Roman" panose="02020603050405020304" pitchFamily="18" charset="0"/>
                <a:cs typeface="Times New Roman" panose="02020603050405020304" pitchFamily="18" charset="0"/>
              </a:rPr>
              <a:t>color</a:t>
            </a:r>
            <a:r>
              <a:rPr lang="en-IN" b="0" i="0" dirty="0">
                <a:solidFill>
                  <a:srgbClr val="000000"/>
                </a:solidFill>
                <a:effectLst/>
                <a:latin typeface="Times New Roman" panose="02020603050405020304" pitchFamily="18" charset="0"/>
                <a:cs typeface="Times New Roman" panose="02020603050405020304" pitchFamily="18" charset="0"/>
              </a:rPr>
              <a:t> = </a:t>
            </a:r>
            <a:r>
              <a:rPr lang="en-IN" b="0" i="0" dirty="0">
                <a:solidFill>
                  <a:srgbClr val="A52A2A"/>
                </a:solidFill>
                <a:effectLst/>
                <a:latin typeface="Times New Roman" panose="02020603050405020304" pitchFamily="18" charset="0"/>
                <a:cs typeface="Times New Roman" panose="02020603050405020304" pitchFamily="18" charset="0"/>
              </a:rPr>
              <a:t>'Yellow'</a:t>
            </a: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a:solidFill>
                  <a:srgbClr val="008000"/>
                </a:solidFill>
                <a:effectLst/>
                <a:latin typeface="Times New Roman" panose="02020603050405020304" pitchFamily="18" charset="0"/>
                <a:cs typeface="Times New Roman" panose="02020603050405020304" pitchFamily="18" charset="0"/>
              </a:rPr>
              <a:t>// ERROR</a:t>
            </a:r>
            <a:br>
              <a:rPr lang="en-IN" b="0" i="0" dirty="0">
                <a:solidFill>
                  <a:srgbClr val="008000"/>
                </a:solidFill>
                <a:effectLst/>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$mango-&gt;weight = </a:t>
            </a:r>
            <a:r>
              <a:rPr lang="en-IN" b="0" i="0" dirty="0">
                <a:solidFill>
                  <a:srgbClr val="A52A2A"/>
                </a:solidFill>
                <a:effectLst/>
                <a:latin typeface="Times New Roman" panose="02020603050405020304" pitchFamily="18" charset="0"/>
                <a:cs typeface="Times New Roman" panose="02020603050405020304" pitchFamily="18" charset="0"/>
              </a:rPr>
              <a:t>'300'</a:t>
            </a: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a:solidFill>
                  <a:srgbClr val="008000"/>
                </a:solidFill>
                <a:effectLst/>
                <a:latin typeface="Times New Roman" panose="02020603050405020304" pitchFamily="18" charset="0"/>
                <a:cs typeface="Times New Roman" panose="02020603050405020304" pitchFamily="18" charset="0"/>
              </a:rPr>
              <a:t>// ERROR</a:t>
            </a:r>
            <a:br>
              <a:rPr lang="en-IN" b="0" i="0" dirty="0">
                <a:solidFill>
                  <a:srgbClr val="008000"/>
                </a:solidFill>
                <a:effectLst/>
                <a:latin typeface="Times New Roman" panose="02020603050405020304" pitchFamily="18" charset="0"/>
                <a:cs typeface="Times New Roman" panose="02020603050405020304" pitchFamily="18" charset="0"/>
              </a:rPr>
            </a:br>
            <a:r>
              <a:rPr lang="en-IN" b="0" i="0" dirty="0">
                <a:solidFill>
                  <a:srgbClr val="FF0000"/>
                </a:solidFill>
                <a:effectLst/>
                <a:latin typeface="Times New Roman" panose="02020603050405020304" pitchFamily="18" charset="0"/>
                <a:cs typeface="Times New Roman" panose="02020603050405020304" pitchFamily="18" charset="0"/>
              </a:rPr>
              <a:t>?&gt;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034732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571E4-6059-34DE-193D-F6B5B53F78F1}"/>
              </a:ext>
            </a:extLst>
          </p:cNvPr>
          <p:cNvSpPr>
            <a:spLocks noGrp="1"/>
          </p:cNvSpPr>
          <p:nvPr>
            <p:ph type="title"/>
          </p:nvPr>
        </p:nvSpPr>
        <p:spPr/>
        <p:txBody>
          <a:bodyPr/>
          <a:lstStyle/>
          <a:p>
            <a:r>
              <a:rPr lang="en-IN" b="0" i="0" dirty="0">
                <a:solidFill>
                  <a:srgbClr val="000000"/>
                </a:solidFill>
                <a:effectLst/>
                <a:latin typeface="Times New Roman" panose="02020603050405020304" pitchFamily="18" charset="0"/>
                <a:cs typeface="Times New Roman" panose="02020603050405020304" pitchFamily="18" charset="0"/>
              </a:rPr>
              <a:t>OOP - Inheritance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364CF32-A476-2467-6D24-F5CB517E039F}"/>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Inheritance in OOP = When a class derives from another class.</a:t>
            </a:r>
          </a:p>
          <a:p>
            <a:pPr algn="just"/>
            <a:r>
              <a:rPr lang="en-US" dirty="0">
                <a:latin typeface="Times New Roman" panose="02020603050405020304" pitchFamily="18" charset="0"/>
                <a:cs typeface="Times New Roman" panose="02020603050405020304" pitchFamily="18" charset="0"/>
              </a:rPr>
              <a:t>The child class will inherit all the public and protected properties and methods from the parent class. In addition, it can have its own properties and methods.</a:t>
            </a:r>
          </a:p>
          <a:p>
            <a:pPr algn="just"/>
            <a:r>
              <a:rPr lang="en-US" dirty="0">
                <a:latin typeface="Times New Roman" panose="02020603050405020304" pitchFamily="18" charset="0"/>
                <a:cs typeface="Times New Roman" panose="02020603050405020304" pitchFamily="18" charset="0"/>
              </a:rPr>
              <a:t>An inherited class is defined by using the extends keyword.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797155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FE88D-C6A9-9230-4C10-6B5C545A06C0}"/>
              </a:ext>
            </a:extLst>
          </p:cNvPr>
          <p:cNvSpPr>
            <a:spLocks noGrp="1"/>
          </p:cNvSpPr>
          <p:nvPr>
            <p:ph type="title"/>
          </p:nvPr>
        </p:nvSpPr>
        <p:spPr/>
        <p:txBody>
          <a:bodyPr/>
          <a:lstStyle/>
          <a:p>
            <a:r>
              <a:rPr lang="en-IN" b="0" i="0" dirty="0">
                <a:solidFill>
                  <a:srgbClr val="000000"/>
                </a:solidFill>
                <a:effectLst/>
                <a:latin typeface="Times New Roman" panose="02020603050405020304" pitchFamily="18" charset="0"/>
                <a:cs typeface="Times New Roman" panose="02020603050405020304" pitchFamily="18" charset="0"/>
              </a:rPr>
              <a:t>Example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49AFC66-7A0A-63DA-BC84-386CCC3A6AD7}"/>
              </a:ext>
            </a:extLst>
          </p:cNvPr>
          <p:cNvSpPr>
            <a:spLocks noGrp="1"/>
          </p:cNvSpPr>
          <p:nvPr>
            <p:ph idx="1"/>
          </p:nvPr>
        </p:nvSpPr>
        <p:spPr/>
        <p:txBody>
          <a:bodyPr>
            <a:normAutofit fontScale="92500" lnSpcReduction="10000"/>
          </a:bodyPr>
          <a:lstStyle/>
          <a:p>
            <a:pPr marL="0" indent="0">
              <a:buNone/>
            </a:pPr>
            <a:r>
              <a:rPr lang="en-US" b="0" i="0" dirty="0">
                <a:solidFill>
                  <a:srgbClr val="FF0000"/>
                </a:solidFill>
                <a:effectLst/>
                <a:latin typeface="Times New Roman" panose="02020603050405020304" pitchFamily="18" charset="0"/>
                <a:cs typeface="Times New Roman" panose="02020603050405020304" pitchFamily="18" charset="0"/>
              </a:rPr>
              <a:t>&lt;?</a:t>
            </a:r>
            <a:r>
              <a:rPr lang="en-US" b="0" i="0" dirty="0" err="1">
                <a:solidFill>
                  <a:srgbClr val="FF0000"/>
                </a:solidFill>
                <a:effectLst/>
                <a:latin typeface="Times New Roman" panose="02020603050405020304" pitchFamily="18" charset="0"/>
                <a:cs typeface="Times New Roman" panose="02020603050405020304" pitchFamily="18" charset="0"/>
              </a:rPr>
              <a:t>php</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CD"/>
                </a:solidFill>
                <a:effectLst/>
                <a:latin typeface="Times New Roman" panose="02020603050405020304" pitchFamily="18" charset="0"/>
                <a:cs typeface="Times New Roman" panose="02020603050405020304" pitchFamily="18" charset="0"/>
              </a:rPr>
              <a:t>class</a:t>
            </a:r>
            <a:r>
              <a:rPr lang="en-US" b="0" i="0" dirty="0">
                <a:solidFill>
                  <a:srgbClr val="000000"/>
                </a:solidFill>
                <a:effectLst/>
                <a:latin typeface="Times New Roman" panose="02020603050405020304" pitchFamily="18" charset="0"/>
                <a:cs typeface="Times New Roman" panose="02020603050405020304" pitchFamily="18" charset="0"/>
              </a:rPr>
              <a:t> Fruit {</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public</a:t>
            </a:r>
            <a:r>
              <a:rPr lang="en-US" b="0" i="0" dirty="0">
                <a:solidFill>
                  <a:srgbClr val="000000"/>
                </a:solidFill>
                <a:effectLst/>
                <a:latin typeface="Times New Roman" panose="02020603050405020304" pitchFamily="18" charset="0"/>
                <a:cs typeface="Times New Roman" panose="02020603050405020304" pitchFamily="18" charset="0"/>
              </a:rPr>
              <a:t> $name;</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public</a:t>
            </a:r>
            <a:r>
              <a:rPr lang="en-US" b="0" i="0" dirty="0">
                <a:solidFill>
                  <a:srgbClr val="000000"/>
                </a:solidFill>
                <a:effectLst/>
                <a:latin typeface="Times New Roman" panose="02020603050405020304" pitchFamily="18" charset="0"/>
                <a:cs typeface="Times New Roman" panose="02020603050405020304" pitchFamily="18" charset="0"/>
              </a:rPr>
              <a:t> $color;</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public</a:t>
            </a: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function</a:t>
            </a:r>
            <a:r>
              <a:rPr lang="en-US" b="0" i="0" dirty="0">
                <a:solidFill>
                  <a:srgbClr val="000000"/>
                </a:solidFill>
                <a:effectLst/>
                <a:latin typeface="Times New Roman" panose="02020603050405020304" pitchFamily="18" charset="0"/>
                <a:cs typeface="Times New Roman" panose="02020603050405020304" pitchFamily="18" charset="0"/>
              </a:rPr>
              <a:t> __construct($name, $color) {</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$this-&gt;name = $name;</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$this-&gt;color = $color;</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public</a:t>
            </a: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function</a:t>
            </a:r>
            <a:r>
              <a:rPr lang="en-US" b="0" i="0" dirty="0">
                <a:solidFill>
                  <a:srgbClr val="000000"/>
                </a:solidFill>
                <a:effectLst/>
                <a:latin typeface="Times New Roman" panose="02020603050405020304" pitchFamily="18" charset="0"/>
                <a:cs typeface="Times New Roman" panose="02020603050405020304" pitchFamily="18" charset="0"/>
              </a:rPr>
              <a:t> intro() {</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echo</a:t>
            </a: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A52A2A"/>
                </a:solidFill>
                <a:effectLst/>
                <a:latin typeface="Times New Roman" panose="02020603050405020304" pitchFamily="18" charset="0"/>
                <a:cs typeface="Times New Roman" panose="02020603050405020304" pitchFamily="18" charset="0"/>
              </a:rPr>
              <a:t>"The fruit is {$this-&gt;name} and the color is {$this-&gt;color}."</a:t>
            </a:r>
            <a:r>
              <a:rPr lang="en-US" b="0" i="0" dirty="0">
                <a:solidFill>
                  <a:srgbClr val="000000"/>
                </a:solidFill>
                <a:effectLst/>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123232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3050AE-19F0-2FEE-1A07-F9FCBB6321D2}"/>
              </a:ext>
            </a:extLst>
          </p:cNvPr>
          <p:cNvSpPr>
            <a:spLocks noGrp="1"/>
          </p:cNvSpPr>
          <p:nvPr>
            <p:ph idx="1"/>
          </p:nvPr>
        </p:nvSpPr>
        <p:spPr/>
        <p:txBody>
          <a:bodyPr/>
          <a:lstStyle/>
          <a:p>
            <a:pPr marL="0" indent="0">
              <a:buNone/>
            </a:pPr>
            <a:r>
              <a:rPr lang="en-IN" b="0" i="0" dirty="0">
                <a:solidFill>
                  <a:srgbClr val="008000"/>
                </a:solidFill>
                <a:effectLst/>
                <a:latin typeface="Times New Roman" panose="02020603050405020304" pitchFamily="18" charset="0"/>
                <a:cs typeface="Times New Roman" panose="02020603050405020304" pitchFamily="18" charset="0"/>
              </a:rPr>
              <a:t>// Strawberry is inherited from Fruit</a:t>
            </a:r>
            <a:br>
              <a:rPr lang="en-IN" b="0" i="0" dirty="0">
                <a:solidFill>
                  <a:srgbClr val="008000"/>
                </a:solidFill>
                <a:effectLst/>
                <a:latin typeface="Times New Roman" panose="02020603050405020304" pitchFamily="18" charset="0"/>
                <a:cs typeface="Times New Roman" panose="02020603050405020304" pitchFamily="18" charset="0"/>
              </a:rPr>
            </a:br>
            <a:r>
              <a:rPr lang="en-IN" b="0" i="0" dirty="0">
                <a:solidFill>
                  <a:srgbClr val="0000CD"/>
                </a:solidFill>
                <a:effectLst/>
                <a:latin typeface="Times New Roman" panose="02020603050405020304" pitchFamily="18" charset="0"/>
                <a:cs typeface="Times New Roman" panose="02020603050405020304" pitchFamily="18" charset="0"/>
              </a:rPr>
              <a:t>class</a:t>
            </a:r>
            <a:r>
              <a:rPr lang="en-IN" b="0" i="0" dirty="0">
                <a:solidFill>
                  <a:srgbClr val="000000"/>
                </a:solidFill>
                <a:effectLst/>
                <a:latin typeface="Times New Roman" panose="02020603050405020304" pitchFamily="18" charset="0"/>
                <a:cs typeface="Times New Roman" panose="02020603050405020304" pitchFamily="18" charset="0"/>
              </a:rPr>
              <a:t> Strawberry </a:t>
            </a:r>
            <a:r>
              <a:rPr lang="en-IN" b="0" i="0" dirty="0">
                <a:solidFill>
                  <a:srgbClr val="0000CD"/>
                </a:solidFill>
                <a:effectLst/>
                <a:latin typeface="Times New Roman" panose="02020603050405020304" pitchFamily="18" charset="0"/>
                <a:cs typeface="Times New Roman" panose="02020603050405020304" pitchFamily="18" charset="0"/>
              </a:rPr>
              <a:t>extends</a:t>
            </a:r>
            <a:r>
              <a:rPr lang="en-IN" b="0" i="0" dirty="0">
                <a:solidFill>
                  <a:srgbClr val="000000"/>
                </a:solidFill>
                <a:effectLst/>
                <a:latin typeface="Times New Roman" panose="02020603050405020304" pitchFamily="18" charset="0"/>
                <a:cs typeface="Times New Roman" panose="02020603050405020304" pitchFamily="18" charset="0"/>
              </a:rPr>
              <a:t> Fruit {</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a:solidFill>
                  <a:srgbClr val="0000CD"/>
                </a:solidFill>
                <a:effectLst/>
                <a:latin typeface="Times New Roman" panose="02020603050405020304" pitchFamily="18" charset="0"/>
                <a:cs typeface="Times New Roman" panose="02020603050405020304" pitchFamily="18" charset="0"/>
              </a:rPr>
              <a:t>public</a:t>
            </a: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a:solidFill>
                  <a:srgbClr val="0000CD"/>
                </a:solidFill>
                <a:effectLst/>
                <a:latin typeface="Times New Roman" panose="02020603050405020304" pitchFamily="18" charset="0"/>
                <a:cs typeface="Times New Roman" panose="02020603050405020304" pitchFamily="18" charset="0"/>
              </a:rPr>
              <a:t>function</a:t>
            </a:r>
            <a:r>
              <a:rPr lang="en-IN" b="0" i="0" dirty="0">
                <a:solidFill>
                  <a:srgbClr val="000000"/>
                </a:solidFill>
                <a:effectLst/>
                <a:latin typeface="Times New Roman" panose="02020603050405020304" pitchFamily="18" charset="0"/>
                <a:cs typeface="Times New Roman" panose="02020603050405020304" pitchFamily="18" charset="0"/>
              </a:rPr>
              <a:t> message() {</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a:solidFill>
                  <a:srgbClr val="0000CD"/>
                </a:solidFill>
                <a:effectLst/>
                <a:latin typeface="Times New Roman" panose="02020603050405020304" pitchFamily="18" charset="0"/>
                <a:cs typeface="Times New Roman" panose="02020603050405020304" pitchFamily="18" charset="0"/>
              </a:rPr>
              <a:t>echo</a:t>
            </a: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a:solidFill>
                  <a:srgbClr val="A52A2A"/>
                </a:solidFill>
                <a:effectLst/>
                <a:latin typeface="Times New Roman" panose="02020603050405020304" pitchFamily="18" charset="0"/>
                <a:cs typeface="Times New Roman" panose="02020603050405020304" pitchFamily="18" charset="0"/>
              </a:rPr>
              <a:t>"Am I a fruit or a berry? "</a:t>
            </a:r>
            <a:r>
              <a:rPr lang="en-IN" b="0" i="0" dirty="0">
                <a:solidFill>
                  <a:srgbClr val="000000"/>
                </a:solidFill>
                <a:effectLst/>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$strawberry = </a:t>
            </a:r>
            <a:r>
              <a:rPr lang="en-IN" b="0" i="0" dirty="0">
                <a:solidFill>
                  <a:srgbClr val="0000CD"/>
                </a:solidFill>
                <a:effectLst/>
                <a:latin typeface="Times New Roman" panose="02020603050405020304" pitchFamily="18" charset="0"/>
                <a:cs typeface="Times New Roman" panose="02020603050405020304" pitchFamily="18" charset="0"/>
              </a:rPr>
              <a:t>new</a:t>
            </a:r>
            <a:r>
              <a:rPr lang="en-IN" b="0" i="0" dirty="0">
                <a:solidFill>
                  <a:srgbClr val="000000"/>
                </a:solidFill>
                <a:effectLst/>
                <a:latin typeface="Times New Roman" panose="02020603050405020304" pitchFamily="18" charset="0"/>
                <a:cs typeface="Times New Roman" panose="02020603050405020304" pitchFamily="18" charset="0"/>
              </a:rPr>
              <a:t> Strawberry(</a:t>
            </a:r>
            <a:r>
              <a:rPr lang="en-IN" b="0" i="0" dirty="0">
                <a:solidFill>
                  <a:srgbClr val="A52A2A"/>
                </a:solidFill>
                <a:effectLst/>
                <a:latin typeface="Times New Roman" panose="02020603050405020304" pitchFamily="18" charset="0"/>
                <a:cs typeface="Times New Roman" panose="02020603050405020304" pitchFamily="18" charset="0"/>
              </a:rPr>
              <a:t>"Strawberry"</a:t>
            </a: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a:solidFill>
                  <a:srgbClr val="A52A2A"/>
                </a:solidFill>
                <a:effectLst/>
                <a:latin typeface="Times New Roman" panose="02020603050405020304" pitchFamily="18" charset="0"/>
                <a:cs typeface="Times New Roman" panose="02020603050405020304" pitchFamily="18" charset="0"/>
              </a:rPr>
              <a:t>"red"</a:t>
            </a:r>
            <a:r>
              <a:rPr lang="en-IN" b="0" i="0" dirty="0">
                <a:solidFill>
                  <a:srgbClr val="000000"/>
                </a:solidFill>
                <a:effectLst/>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$strawberry-&gt;message();</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$strawberry-&gt;intro();</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b="0" i="0" dirty="0">
                <a:solidFill>
                  <a:srgbClr val="FF0000"/>
                </a:solidFill>
                <a:effectLst/>
                <a:latin typeface="Times New Roman" panose="02020603050405020304" pitchFamily="18" charset="0"/>
                <a:cs typeface="Times New Roman" panose="02020603050405020304" pitchFamily="18" charset="0"/>
              </a:rPr>
              <a:t>?&gt;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096122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A5320-0D1D-1D9C-66BB-E3CE49E94268}"/>
              </a:ext>
            </a:extLst>
          </p:cNvPr>
          <p:cNvSpPr>
            <a:spLocks noGrp="1"/>
          </p:cNvSpPr>
          <p:nvPr>
            <p:ph type="title"/>
          </p:nvPr>
        </p:nvSpPr>
        <p:spPr/>
        <p:txBody>
          <a:bodyPr>
            <a:normAutofit/>
          </a:bodyPr>
          <a:lstStyle/>
          <a:p>
            <a:r>
              <a:rPr lang="en-US" sz="4000" b="0" i="0" dirty="0">
                <a:solidFill>
                  <a:srgbClr val="000000"/>
                </a:solidFill>
                <a:effectLst/>
                <a:latin typeface="Times New Roman" panose="02020603050405020304" pitchFamily="18" charset="0"/>
                <a:cs typeface="Times New Roman" panose="02020603050405020304" pitchFamily="18" charset="0"/>
              </a:rPr>
              <a:t>Inheritance and the Protected Access Modifier</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964B5F1-674C-7EF1-C354-580BD96E52AC}"/>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protected properties or methods can be accessed within the class and by classes derived from that class.</a:t>
            </a:r>
          </a:p>
          <a:p>
            <a:endParaRPr lang="en-IN" b="0" i="0" dirty="0">
              <a:solidFill>
                <a:srgbClr val="000000"/>
              </a:solidFill>
              <a:effectLst/>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624870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EB76A-1394-DA27-1ECD-B8EDCD6FD547}"/>
              </a:ext>
            </a:extLst>
          </p:cNvPr>
          <p:cNvSpPr>
            <a:spLocks noGrp="1"/>
          </p:cNvSpPr>
          <p:nvPr>
            <p:ph type="title"/>
          </p:nvPr>
        </p:nvSpPr>
        <p:spPr/>
        <p:txBody>
          <a:bodyPr/>
          <a:lstStyle/>
          <a:p>
            <a:r>
              <a:rPr lang="en-IN" b="0" i="0" dirty="0">
                <a:solidFill>
                  <a:srgbClr val="000000"/>
                </a:solidFill>
                <a:effectLst/>
                <a:latin typeface="Times New Roman" panose="02020603050405020304" pitchFamily="18" charset="0"/>
                <a:cs typeface="Times New Roman" panose="02020603050405020304" pitchFamily="18" charset="0"/>
              </a:rPr>
              <a:t>Example: 1</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A3157D6-CFDE-6689-008A-AA14BA09C786}"/>
              </a:ext>
            </a:extLst>
          </p:cNvPr>
          <p:cNvSpPr>
            <a:spLocks noGrp="1"/>
          </p:cNvSpPr>
          <p:nvPr>
            <p:ph idx="1"/>
          </p:nvPr>
        </p:nvSpPr>
        <p:spPr/>
        <p:txBody>
          <a:bodyPr>
            <a:normAutofit fontScale="92500" lnSpcReduction="10000"/>
          </a:bodyPr>
          <a:lstStyle/>
          <a:p>
            <a:pPr marL="0" indent="0">
              <a:buNone/>
            </a:pPr>
            <a:r>
              <a:rPr lang="en-US" b="0" i="0" dirty="0">
                <a:solidFill>
                  <a:srgbClr val="FF0000"/>
                </a:solidFill>
                <a:effectLst/>
                <a:latin typeface="Times New Roman" panose="02020603050405020304" pitchFamily="18" charset="0"/>
                <a:cs typeface="Times New Roman" panose="02020603050405020304" pitchFamily="18" charset="0"/>
              </a:rPr>
              <a:t>&lt;?</a:t>
            </a:r>
            <a:r>
              <a:rPr lang="en-US" b="0" i="0" dirty="0" err="1">
                <a:solidFill>
                  <a:srgbClr val="FF0000"/>
                </a:solidFill>
                <a:effectLst/>
                <a:latin typeface="Times New Roman" panose="02020603050405020304" pitchFamily="18" charset="0"/>
                <a:cs typeface="Times New Roman" panose="02020603050405020304" pitchFamily="18" charset="0"/>
              </a:rPr>
              <a:t>php</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CD"/>
                </a:solidFill>
                <a:effectLst/>
                <a:latin typeface="Times New Roman" panose="02020603050405020304" pitchFamily="18" charset="0"/>
                <a:cs typeface="Times New Roman" panose="02020603050405020304" pitchFamily="18" charset="0"/>
              </a:rPr>
              <a:t>class</a:t>
            </a:r>
            <a:r>
              <a:rPr lang="en-US" b="0" i="0" dirty="0">
                <a:solidFill>
                  <a:srgbClr val="000000"/>
                </a:solidFill>
                <a:effectLst/>
                <a:latin typeface="Times New Roman" panose="02020603050405020304" pitchFamily="18" charset="0"/>
                <a:cs typeface="Times New Roman" panose="02020603050405020304" pitchFamily="18" charset="0"/>
              </a:rPr>
              <a:t> Fruit {</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public</a:t>
            </a:r>
            <a:r>
              <a:rPr lang="en-US" b="0" i="0" dirty="0">
                <a:solidFill>
                  <a:srgbClr val="000000"/>
                </a:solidFill>
                <a:effectLst/>
                <a:latin typeface="Times New Roman" panose="02020603050405020304" pitchFamily="18" charset="0"/>
                <a:cs typeface="Times New Roman" panose="02020603050405020304" pitchFamily="18" charset="0"/>
              </a:rPr>
              <a:t> $name;</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public</a:t>
            </a:r>
            <a:r>
              <a:rPr lang="en-US" b="0" i="0" dirty="0">
                <a:solidFill>
                  <a:srgbClr val="000000"/>
                </a:solidFill>
                <a:effectLst/>
                <a:latin typeface="Times New Roman" panose="02020603050405020304" pitchFamily="18" charset="0"/>
                <a:cs typeface="Times New Roman" panose="02020603050405020304" pitchFamily="18" charset="0"/>
              </a:rPr>
              <a:t> $color;</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public</a:t>
            </a: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function</a:t>
            </a:r>
            <a:r>
              <a:rPr lang="en-US" b="0" i="0" dirty="0">
                <a:solidFill>
                  <a:srgbClr val="000000"/>
                </a:solidFill>
                <a:effectLst/>
                <a:latin typeface="Times New Roman" panose="02020603050405020304" pitchFamily="18" charset="0"/>
                <a:cs typeface="Times New Roman" panose="02020603050405020304" pitchFamily="18" charset="0"/>
              </a:rPr>
              <a:t> __construct($name, $color) {</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$this-&gt;name = $name;</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$this-&gt;color = $color;</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protected</a:t>
            </a: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function</a:t>
            </a:r>
            <a:r>
              <a:rPr lang="en-US" b="0" i="0" dirty="0">
                <a:solidFill>
                  <a:srgbClr val="000000"/>
                </a:solidFill>
                <a:effectLst/>
                <a:latin typeface="Times New Roman" panose="02020603050405020304" pitchFamily="18" charset="0"/>
                <a:cs typeface="Times New Roman" panose="02020603050405020304" pitchFamily="18" charset="0"/>
              </a:rPr>
              <a:t> intro() {</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echo</a:t>
            </a: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A52A2A"/>
                </a:solidFill>
                <a:effectLst/>
                <a:latin typeface="Times New Roman" panose="02020603050405020304" pitchFamily="18" charset="0"/>
                <a:cs typeface="Times New Roman" panose="02020603050405020304" pitchFamily="18" charset="0"/>
              </a:rPr>
              <a:t>"The fruit is {$this-&gt;name} and the color is {$this-&gt;color}."</a:t>
            </a:r>
            <a:r>
              <a:rPr lang="en-US" b="0" i="0" dirty="0">
                <a:solidFill>
                  <a:srgbClr val="000000"/>
                </a:solidFill>
                <a:effectLst/>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496060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609F7B-99BD-F69C-8169-324D71C4E1A8}"/>
              </a:ext>
            </a:extLst>
          </p:cNvPr>
          <p:cNvSpPr>
            <a:spLocks noGrp="1"/>
          </p:cNvSpPr>
          <p:nvPr>
            <p:ph idx="1"/>
          </p:nvPr>
        </p:nvSpPr>
        <p:spPr/>
        <p:txBody>
          <a:bodyPr>
            <a:normAutofit fontScale="92500" lnSpcReduction="10000"/>
          </a:bodyPr>
          <a:lstStyle/>
          <a:p>
            <a:pPr marL="0" indent="0">
              <a:buNone/>
            </a:pPr>
            <a:r>
              <a:rPr lang="en-IN" b="0" i="0" dirty="0">
                <a:solidFill>
                  <a:srgbClr val="0000CD"/>
                </a:solidFill>
                <a:effectLst/>
                <a:latin typeface="Times New Roman" panose="02020603050405020304" pitchFamily="18" charset="0"/>
                <a:cs typeface="Times New Roman" panose="02020603050405020304" pitchFamily="18" charset="0"/>
              </a:rPr>
              <a:t>class</a:t>
            </a:r>
            <a:r>
              <a:rPr lang="en-IN" b="0" i="0" dirty="0">
                <a:solidFill>
                  <a:srgbClr val="000000"/>
                </a:solidFill>
                <a:effectLst/>
                <a:latin typeface="Times New Roman" panose="02020603050405020304" pitchFamily="18" charset="0"/>
                <a:cs typeface="Times New Roman" panose="02020603050405020304" pitchFamily="18" charset="0"/>
              </a:rPr>
              <a:t> Strawberry </a:t>
            </a:r>
            <a:r>
              <a:rPr lang="en-IN" b="0" i="0" dirty="0">
                <a:solidFill>
                  <a:srgbClr val="0000CD"/>
                </a:solidFill>
                <a:effectLst/>
                <a:latin typeface="Times New Roman" panose="02020603050405020304" pitchFamily="18" charset="0"/>
                <a:cs typeface="Times New Roman" panose="02020603050405020304" pitchFamily="18" charset="0"/>
              </a:rPr>
              <a:t>extends</a:t>
            </a:r>
            <a:r>
              <a:rPr lang="en-IN" b="0" i="0" dirty="0">
                <a:solidFill>
                  <a:srgbClr val="000000"/>
                </a:solidFill>
                <a:effectLst/>
                <a:latin typeface="Times New Roman" panose="02020603050405020304" pitchFamily="18" charset="0"/>
                <a:cs typeface="Times New Roman" panose="02020603050405020304" pitchFamily="18" charset="0"/>
              </a:rPr>
              <a:t> Fruit {</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a:solidFill>
                  <a:srgbClr val="0000CD"/>
                </a:solidFill>
                <a:effectLst/>
                <a:latin typeface="Times New Roman" panose="02020603050405020304" pitchFamily="18" charset="0"/>
                <a:cs typeface="Times New Roman" panose="02020603050405020304" pitchFamily="18" charset="0"/>
              </a:rPr>
              <a:t>public</a:t>
            </a: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a:solidFill>
                  <a:srgbClr val="0000CD"/>
                </a:solidFill>
                <a:effectLst/>
                <a:latin typeface="Times New Roman" panose="02020603050405020304" pitchFamily="18" charset="0"/>
                <a:cs typeface="Times New Roman" panose="02020603050405020304" pitchFamily="18" charset="0"/>
              </a:rPr>
              <a:t>function</a:t>
            </a:r>
            <a:r>
              <a:rPr lang="en-IN" b="0" i="0" dirty="0">
                <a:solidFill>
                  <a:srgbClr val="000000"/>
                </a:solidFill>
                <a:effectLst/>
                <a:latin typeface="Times New Roman" panose="02020603050405020304" pitchFamily="18" charset="0"/>
                <a:cs typeface="Times New Roman" panose="02020603050405020304" pitchFamily="18" charset="0"/>
              </a:rPr>
              <a:t> message() {</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a:solidFill>
                  <a:srgbClr val="0000CD"/>
                </a:solidFill>
                <a:effectLst/>
                <a:latin typeface="Times New Roman" panose="02020603050405020304" pitchFamily="18" charset="0"/>
                <a:cs typeface="Times New Roman" panose="02020603050405020304" pitchFamily="18" charset="0"/>
              </a:rPr>
              <a:t>echo</a:t>
            </a: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a:solidFill>
                  <a:srgbClr val="A52A2A"/>
                </a:solidFill>
                <a:effectLst/>
                <a:latin typeface="Times New Roman" panose="02020603050405020304" pitchFamily="18" charset="0"/>
                <a:cs typeface="Times New Roman" panose="02020603050405020304" pitchFamily="18" charset="0"/>
              </a:rPr>
              <a:t>"Am I a fruit or a berry? "</a:t>
            </a:r>
            <a:r>
              <a:rPr lang="en-IN" b="0" i="0" dirty="0">
                <a:solidFill>
                  <a:srgbClr val="000000"/>
                </a:solidFill>
                <a:effectLst/>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b="0" i="0" dirty="0">
                <a:solidFill>
                  <a:srgbClr val="008000"/>
                </a:solidFill>
                <a:effectLst/>
                <a:latin typeface="Times New Roman" panose="02020603050405020304" pitchFamily="18" charset="0"/>
                <a:cs typeface="Times New Roman" panose="02020603050405020304" pitchFamily="18" charset="0"/>
              </a:rPr>
              <a:t>// Try to call all three methods from outside class</a:t>
            </a:r>
            <a:br>
              <a:rPr lang="en-IN" b="0" i="0" dirty="0">
                <a:solidFill>
                  <a:srgbClr val="008000"/>
                </a:solidFill>
                <a:effectLst/>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$strawberry = </a:t>
            </a:r>
            <a:r>
              <a:rPr lang="en-IN" b="0" i="0" dirty="0">
                <a:solidFill>
                  <a:srgbClr val="0000CD"/>
                </a:solidFill>
                <a:effectLst/>
                <a:latin typeface="Times New Roman" panose="02020603050405020304" pitchFamily="18" charset="0"/>
                <a:cs typeface="Times New Roman" panose="02020603050405020304" pitchFamily="18" charset="0"/>
              </a:rPr>
              <a:t>new</a:t>
            </a:r>
            <a:r>
              <a:rPr lang="en-IN" b="0" i="0" dirty="0">
                <a:solidFill>
                  <a:srgbClr val="000000"/>
                </a:solidFill>
                <a:effectLst/>
                <a:latin typeface="Times New Roman" panose="02020603050405020304" pitchFamily="18" charset="0"/>
                <a:cs typeface="Times New Roman" panose="02020603050405020304" pitchFamily="18" charset="0"/>
              </a:rPr>
              <a:t> Strawberry(</a:t>
            </a:r>
            <a:r>
              <a:rPr lang="en-IN" b="0" i="0" dirty="0">
                <a:solidFill>
                  <a:srgbClr val="A52A2A"/>
                </a:solidFill>
                <a:effectLst/>
                <a:latin typeface="Times New Roman" panose="02020603050405020304" pitchFamily="18" charset="0"/>
                <a:cs typeface="Times New Roman" panose="02020603050405020304" pitchFamily="18" charset="0"/>
              </a:rPr>
              <a:t>"Strawberry"</a:t>
            </a: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a:solidFill>
                  <a:srgbClr val="A52A2A"/>
                </a:solidFill>
                <a:effectLst/>
                <a:latin typeface="Times New Roman" panose="02020603050405020304" pitchFamily="18" charset="0"/>
                <a:cs typeface="Times New Roman" panose="02020603050405020304" pitchFamily="18" charset="0"/>
              </a:rPr>
              <a:t>"red"</a:t>
            </a: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a:solidFill>
                  <a:srgbClr val="008000"/>
                </a:solidFill>
                <a:effectLst/>
                <a:latin typeface="Times New Roman" panose="02020603050405020304" pitchFamily="18" charset="0"/>
                <a:cs typeface="Times New Roman" panose="02020603050405020304" pitchFamily="18" charset="0"/>
              </a:rPr>
              <a:t>// OK. __construct() is public</a:t>
            </a:r>
            <a:br>
              <a:rPr lang="en-IN" b="0" i="0" dirty="0">
                <a:solidFill>
                  <a:srgbClr val="008000"/>
                </a:solidFill>
                <a:effectLst/>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$strawberry-&gt;message(); </a:t>
            </a:r>
            <a:r>
              <a:rPr lang="en-IN" b="0" i="0" dirty="0">
                <a:solidFill>
                  <a:srgbClr val="008000"/>
                </a:solidFill>
                <a:effectLst/>
                <a:latin typeface="Times New Roman" panose="02020603050405020304" pitchFamily="18" charset="0"/>
                <a:cs typeface="Times New Roman" panose="02020603050405020304" pitchFamily="18" charset="0"/>
              </a:rPr>
              <a:t>// OK. message() is public</a:t>
            </a:r>
            <a:br>
              <a:rPr lang="en-IN" b="0" i="0" dirty="0">
                <a:solidFill>
                  <a:srgbClr val="008000"/>
                </a:solidFill>
                <a:effectLst/>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$strawberry-&gt;intro(); </a:t>
            </a:r>
            <a:r>
              <a:rPr lang="en-IN" b="0" i="0" dirty="0">
                <a:solidFill>
                  <a:srgbClr val="008000"/>
                </a:solidFill>
                <a:effectLst/>
                <a:latin typeface="Times New Roman" panose="02020603050405020304" pitchFamily="18" charset="0"/>
                <a:cs typeface="Times New Roman" panose="02020603050405020304" pitchFamily="18" charset="0"/>
              </a:rPr>
              <a:t>// ERROR. intro() is protected</a:t>
            </a:r>
            <a:br>
              <a:rPr lang="en-IN" b="0" i="0" dirty="0">
                <a:solidFill>
                  <a:srgbClr val="008000"/>
                </a:solidFill>
                <a:effectLst/>
                <a:latin typeface="Times New Roman" panose="02020603050405020304" pitchFamily="18" charset="0"/>
                <a:cs typeface="Times New Roman" panose="02020603050405020304" pitchFamily="18" charset="0"/>
              </a:rPr>
            </a:br>
            <a:r>
              <a:rPr lang="en-IN" b="0" i="0" dirty="0">
                <a:solidFill>
                  <a:srgbClr val="FF0000"/>
                </a:solidFill>
                <a:effectLst/>
                <a:latin typeface="Times New Roman" panose="02020603050405020304" pitchFamily="18" charset="0"/>
                <a:cs typeface="Times New Roman" panose="02020603050405020304" pitchFamily="18" charset="0"/>
              </a:rPr>
              <a:t>?&gt;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708449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3C98EE-A0E0-C01E-4668-2C25D7128B93}"/>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In the example above we see that if we try to call a protected method (intro()) from outside the class, we will receive an error. public methods will work fine!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888055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21A6E-DEE5-418C-B3E1-1DE13FBD392F}"/>
              </a:ext>
            </a:extLst>
          </p:cNvPr>
          <p:cNvSpPr>
            <a:spLocks noGrp="1"/>
          </p:cNvSpPr>
          <p:nvPr>
            <p:ph type="title"/>
          </p:nvPr>
        </p:nvSpPr>
        <p:spPr/>
        <p:txBody>
          <a:bodyPr/>
          <a:lstStyle/>
          <a:p>
            <a:r>
              <a:rPr lang="en-IN" b="0" i="0" dirty="0">
                <a:solidFill>
                  <a:srgbClr val="000000"/>
                </a:solidFill>
                <a:effectLst/>
                <a:latin typeface="Times New Roman" panose="02020603050405020304" pitchFamily="18" charset="0"/>
                <a:cs typeface="Times New Roman" panose="02020603050405020304" pitchFamily="18" charset="0"/>
              </a:rPr>
              <a:t>Example: 2</a:t>
            </a:r>
            <a:endParaRPr lang="en-IN" dirty="0"/>
          </a:p>
        </p:txBody>
      </p:sp>
      <p:sp>
        <p:nvSpPr>
          <p:cNvPr id="3" name="Content Placeholder 2">
            <a:extLst>
              <a:ext uri="{FF2B5EF4-FFF2-40B4-BE49-F238E27FC236}">
                <a16:creationId xmlns:a16="http://schemas.microsoft.com/office/drawing/2014/main" id="{6C35CEC4-97C2-A134-519D-72FFA897CC84}"/>
              </a:ext>
            </a:extLst>
          </p:cNvPr>
          <p:cNvSpPr>
            <a:spLocks noGrp="1"/>
          </p:cNvSpPr>
          <p:nvPr>
            <p:ph idx="1"/>
          </p:nvPr>
        </p:nvSpPr>
        <p:spPr/>
        <p:txBody>
          <a:bodyPr>
            <a:normAutofit fontScale="92500" lnSpcReduction="10000"/>
          </a:bodyPr>
          <a:lstStyle/>
          <a:p>
            <a:pPr marL="0" indent="0">
              <a:buNone/>
            </a:pPr>
            <a:r>
              <a:rPr lang="en-US" b="0" i="0" dirty="0">
                <a:solidFill>
                  <a:srgbClr val="FF0000"/>
                </a:solidFill>
                <a:effectLst/>
                <a:latin typeface="Times New Roman" panose="02020603050405020304" pitchFamily="18" charset="0"/>
                <a:cs typeface="Times New Roman" panose="02020603050405020304" pitchFamily="18" charset="0"/>
              </a:rPr>
              <a:t>&lt;?</a:t>
            </a:r>
            <a:r>
              <a:rPr lang="en-US" b="0" i="0" dirty="0" err="1">
                <a:solidFill>
                  <a:srgbClr val="FF0000"/>
                </a:solidFill>
                <a:effectLst/>
                <a:latin typeface="Times New Roman" panose="02020603050405020304" pitchFamily="18" charset="0"/>
                <a:cs typeface="Times New Roman" panose="02020603050405020304" pitchFamily="18" charset="0"/>
              </a:rPr>
              <a:t>php</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CD"/>
                </a:solidFill>
                <a:effectLst/>
                <a:latin typeface="Times New Roman" panose="02020603050405020304" pitchFamily="18" charset="0"/>
                <a:cs typeface="Times New Roman" panose="02020603050405020304" pitchFamily="18" charset="0"/>
              </a:rPr>
              <a:t>class</a:t>
            </a:r>
            <a:r>
              <a:rPr lang="en-US" b="0" i="0" dirty="0">
                <a:solidFill>
                  <a:srgbClr val="000000"/>
                </a:solidFill>
                <a:effectLst/>
                <a:latin typeface="Times New Roman" panose="02020603050405020304" pitchFamily="18" charset="0"/>
                <a:cs typeface="Times New Roman" panose="02020603050405020304" pitchFamily="18" charset="0"/>
              </a:rPr>
              <a:t> Fruit {</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public</a:t>
            </a:r>
            <a:r>
              <a:rPr lang="en-US" b="0" i="0" dirty="0">
                <a:solidFill>
                  <a:srgbClr val="000000"/>
                </a:solidFill>
                <a:effectLst/>
                <a:latin typeface="Times New Roman" panose="02020603050405020304" pitchFamily="18" charset="0"/>
                <a:cs typeface="Times New Roman" panose="02020603050405020304" pitchFamily="18" charset="0"/>
              </a:rPr>
              <a:t> $name;</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public</a:t>
            </a:r>
            <a:r>
              <a:rPr lang="en-US" b="0" i="0" dirty="0">
                <a:solidFill>
                  <a:srgbClr val="000000"/>
                </a:solidFill>
                <a:effectLst/>
                <a:latin typeface="Times New Roman" panose="02020603050405020304" pitchFamily="18" charset="0"/>
                <a:cs typeface="Times New Roman" panose="02020603050405020304" pitchFamily="18" charset="0"/>
              </a:rPr>
              <a:t> $color;</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public</a:t>
            </a: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function</a:t>
            </a:r>
            <a:r>
              <a:rPr lang="en-US" b="0" i="0" dirty="0">
                <a:solidFill>
                  <a:srgbClr val="000000"/>
                </a:solidFill>
                <a:effectLst/>
                <a:latin typeface="Times New Roman" panose="02020603050405020304" pitchFamily="18" charset="0"/>
                <a:cs typeface="Times New Roman" panose="02020603050405020304" pitchFamily="18" charset="0"/>
              </a:rPr>
              <a:t> __construct($name, $color) {</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$this-&gt;name = $name;</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$this-&gt;color = $color;</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protected</a:t>
            </a: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function</a:t>
            </a:r>
            <a:r>
              <a:rPr lang="en-US" b="0" i="0" dirty="0">
                <a:solidFill>
                  <a:srgbClr val="000000"/>
                </a:solidFill>
                <a:effectLst/>
                <a:latin typeface="Times New Roman" panose="02020603050405020304" pitchFamily="18" charset="0"/>
                <a:cs typeface="Times New Roman" panose="02020603050405020304" pitchFamily="18" charset="0"/>
              </a:rPr>
              <a:t> intro() {</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echo</a:t>
            </a: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A52A2A"/>
                </a:solidFill>
                <a:effectLst/>
                <a:latin typeface="Times New Roman" panose="02020603050405020304" pitchFamily="18" charset="0"/>
                <a:cs typeface="Times New Roman" panose="02020603050405020304" pitchFamily="18" charset="0"/>
              </a:rPr>
              <a:t>"The fruit is {$this-&gt;name} and the color is {$this-&gt;color}."</a:t>
            </a:r>
            <a:r>
              <a:rPr lang="en-US" b="0" i="0" dirty="0">
                <a:solidFill>
                  <a:srgbClr val="000000"/>
                </a:solidFill>
                <a:effectLst/>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298862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3392DB-C510-2328-7FC5-F036A07C09D1}"/>
              </a:ext>
            </a:extLst>
          </p:cNvPr>
          <p:cNvSpPr>
            <a:spLocks noGrp="1"/>
          </p:cNvSpPr>
          <p:nvPr>
            <p:ph idx="1"/>
          </p:nvPr>
        </p:nvSpPr>
        <p:spPr/>
        <p:txBody>
          <a:bodyPr>
            <a:normAutofit fontScale="92500" lnSpcReduction="10000"/>
          </a:bodyPr>
          <a:lstStyle/>
          <a:p>
            <a:r>
              <a:rPr lang="en-US" b="0" i="0" dirty="0">
                <a:solidFill>
                  <a:srgbClr val="0000CD"/>
                </a:solidFill>
                <a:effectLst/>
                <a:latin typeface="Times New Roman" panose="02020603050405020304" pitchFamily="18" charset="0"/>
                <a:cs typeface="Times New Roman" panose="02020603050405020304" pitchFamily="18" charset="0"/>
              </a:rPr>
              <a:t>class</a:t>
            </a:r>
            <a:r>
              <a:rPr lang="en-US" b="0" i="0" dirty="0">
                <a:solidFill>
                  <a:srgbClr val="000000"/>
                </a:solidFill>
                <a:effectLst/>
                <a:latin typeface="Times New Roman" panose="02020603050405020304" pitchFamily="18" charset="0"/>
                <a:cs typeface="Times New Roman" panose="02020603050405020304" pitchFamily="18" charset="0"/>
              </a:rPr>
              <a:t> Strawberry </a:t>
            </a:r>
            <a:r>
              <a:rPr lang="en-US" b="0" i="0" dirty="0">
                <a:solidFill>
                  <a:srgbClr val="0000CD"/>
                </a:solidFill>
                <a:effectLst/>
                <a:latin typeface="Times New Roman" panose="02020603050405020304" pitchFamily="18" charset="0"/>
                <a:cs typeface="Times New Roman" panose="02020603050405020304" pitchFamily="18" charset="0"/>
              </a:rPr>
              <a:t>extends</a:t>
            </a:r>
            <a:r>
              <a:rPr lang="en-US" b="0" i="0" dirty="0">
                <a:solidFill>
                  <a:srgbClr val="000000"/>
                </a:solidFill>
                <a:effectLst/>
                <a:latin typeface="Times New Roman" panose="02020603050405020304" pitchFamily="18" charset="0"/>
                <a:cs typeface="Times New Roman" panose="02020603050405020304" pitchFamily="18" charset="0"/>
              </a:rPr>
              <a:t> Fruit {</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public</a:t>
            </a: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function</a:t>
            </a:r>
            <a:r>
              <a:rPr lang="en-US" b="0" i="0" dirty="0">
                <a:solidFill>
                  <a:srgbClr val="000000"/>
                </a:solidFill>
                <a:effectLst/>
                <a:latin typeface="Times New Roman" panose="02020603050405020304" pitchFamily="18" charset="0"/>
                <a:cs typeface="Times New Roman" panose="02020603050405020304" pitchFamily="18" charset="0"/>
              </a:rPr>
              <a:t> message() {</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echo</a:t>
            </a: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A52A2A"/>
                </a:solidFill>
                <a:effectLst/>
                <a:latin typeface="Times New Roman" panose="02020603050405020304" pitchFamily="18" charset="0"/>
                <a:cs typeface="Times New Roman" panose="02020603050405020304" pitchFamily="18" charset="0"/>
              </a:rPr>
              <a:t>"Am I a fruit or a berry? "</a:t>
            </a:r>
            <a:r>
              <a:rPr lang="en-US" b="0" i="0" dirty="0">
                <a:solidFill>
                  <a:srgbClr val="000000"/>
                </a:solidFill>
                <a:effectLst/>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8000"/>
                </a:solidFill>
                <a:effectLst/>
                <a:latin typeface="Times New Roman" panose="02020603050405020304" pitchFamily="18" charset="0"/>
                <a:cs typeface="Times New Roman" panose="02020603050405020304" pitchFamily="18" charset="0"/>
              </a:rPr>
              <a:t>// Call protected method from within derived class - OK</a:t>
            </a:r>
            <a:br>
              <a:rPr lang="en-US" b="0" i="0" dirty="0">
                <a:solidFill>
                  <a:srgbClr val="008000"/>
                </a:solidFill>
                <a:effectLst/>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$this -&gt; intro();</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$strawberry = </a:t>
            </a:r>
            <a:r>
              <a:rPr lang="en-US" b="0" i="0" dirty="0">
                <a:solidFill>
                  <a:srgbClr val="0000CD"/>
                </a:solidFill>
                <a:effectLst/>
                <a:latin typeface="Times New Roman" panose="02020603050405020304" pitchFamily="18" charset="0"/>
                <a:cs typeface="Times New Roman" panose="02020603050405020304" pitchFamily="18" charset="0"/>
              </a:rPr>
              <a:t>new</a:t>
            </a:r>
            <a:r>
              <a:rPr lang="en-US" b="0" i="0" dirty="0">
                <a:solidFill>
                  <a:srgbClr val="000000"/>
                </a:solidFill>
                <a:effectLst/>
                <a:latin typeface="Times New Roman" panose="02020603050405020304" pitchFamily="18" charset="0"/>
                <a:cs typeface="Times New Roman" panose="02020603050405020304" pitchFamily="18" charset="0"/>
              </a:rPr>
              <a:t> Strawberry(</a:t>
            </a:r>
            <a:r>
              <a:rPr lang="en-US" b="0" i="0" dirty="0">
                <a:solidFill>
                  <a:srgbClr val="A52A2A"/>
                </a:solidFill>
                <a:effectLst/>
                <a:latin typeface="Times New Roman" panose="02020603050405020304" pitchFamily="18" charset="0"/>
                <a:cs typeface="Times New Roman" panose="02020603050405020304" pitchFamily="18" charset="0"/>
              </a:rPr>
              <a:t>"Strawberry"</a:t>
            </a: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A52A2A"/>
                </a:solidFill>
                <a:effectLst/>
                <a:latin typeface="Times New Roman" panose="02020603050405020304" pitchFamily="18" charset="0"/>
                <a:cs typeface="Times New Roman" panose="02020603050405020304" pitchFamily="18" charset="0"/>
              </a:rPr>
              <a:t>"red"</a:t>
            </a: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8000"/>
                </a:solidFill>
                <a:effectLst/>
                <a:latin typeface="Times New Roman" panose="02020603050405020304" pitchFamily="18" charset="0"/>
                <a:cs typeface="Times New Roman" panose="02020603050405020304" pitchFamily="18" charset="0"/>
              </a:rPr>
              <a:t>// OK. __construct() is public</a:t>
            </a:r>
            <a:br>
              <a:rPr lang="en-US" b="0" i="0" dirty="0">
                <a:solidFill>
                  <a:srgbClr val="008000"/>
                </a:solidFill>
                <a:effectLst/>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$strawberry-&gt;message(); </a:t>
            </a:r>
            <a:r>
              <a:rPr lang="en-US" b="0" i="0" dirty="0">
                <a:solidFill>
                  <a:srgbClr val="008000"/>
                </a:solidFill>
                <a:effectLst/>
                <a:latin typeface="Times New Roman" panose="02020603050405020304" pitchFamily="18" charset="0"/>
                <a:cs typeface="Times New Roman" panose="02020603050405020304" pitchFamily="18" charset="0"/>
              </a:rPr>
              <a:t>// OK. message() is public and it calls intro() (which is protected) from within the derived class</a:t>
            </a:r>
            <a:br>
              <a:rPr lang="en-US" b="0" i="0" dirty="0">
                <a:solidFill>
                  <a:srgbClr val="008000"/>
                </a:solidFill>
                <a:effectLst/>
                <a:latin typeface="Times New Roman" panose="02020603050405020304" pitchFamily="18" charset="0"/>
                <a:cs typeface="Times New Roman" panose="02020603050405020304" pitchFamily="18" charset="0"/>
              </a:rPr>
            </a:br>
            <a:r>
              <a:rPr lang="en-US" b="0" i="0" dirty="0">
                <a:solidFill>
                  <a:srgbClr val="FF0000"/>
                </a:solidFill>
                <a:effectLst/>
                <a:latin typeface="Times New Roman" panose="02020603050405020304" pitchFamily="18" charset="0"/>
                <a:cs typeface="Times New Roman" panose="02020603050405020304" pitchFamily="18" charset="0"/>
              </a:rPr>
              <a:t>?&gt;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021646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242AD-618E-0AF6-566B-0A87F3FE3138}"/>
              </a:ext>
            </a:extLst>
          </p:cNvPr>
          <p:cNvSpPr>
            <a:spLocks noGrp="1"/>
          </p:cNvSpPr>
          <p:nvPr>
            <p:ph type="title"/>
          </p:nvPr>
        </p:nvSpPr>
        <p:spPr/>
        <p:txBody>
          <a:bodyPr/>
          <a:lstStyle/>
          <a:p>
            <a:r>
              <a:rPr lang="en-IN" b="0" i="0" dirty="0">
                <a:solidFill>
                  <a:srgbClr val="000000"/>
                </a:solidFill>
                <a:effectLst/>
                <a:latin typeface="Times New Roman" panose="02020603050405020304" pitchFamily="18" charset="0"/>
                <a:cs typeface="Times New Roman" panose="02020603050405020304" pitchFamily="18" charset="0"/>
              </a:rPr>
              <a:t>PHP MySQL Database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872A100-70B6-ADDC-2A37-CF0D43665C04}"/>
              </a:ext>
            </a:extLst>
          </p:cNvPr>
          <p:cNvSpPr>
            <a:spLocks noGrp="1"/>
          </p:cNvSpPr>
          <p:nvPr>
            <p:ph idx="1"/>
          </p:nvPr>
        </p:nvSpPr>
        <p:spPr>
          <a:xfrm>
            <a:off x="838200" y="1484671"/>
            <a:ext cx="10515600" cy="5008204"/>
          </a:xfrm>
        </p:spPr>
        <p:txBody>
          <a:bodyPr>
            <a:normAutofit fontScale="92500" lnSpcReduction="10000"/>
          </a:bodyPr>
          <a:lstStyle/>
          <a:p>
            <a:pPr algn="just"/>
            <a:r>
              <a:rPr lang="en-US" b="0" i="0" dirty="0">
                <a:solidFill>
                  <a:srgbClr val="000000"/>
                </a:solidFill>
                <a:effectLst/>
                <a:latin typeface="Times New Roman" panose="02020603050405020304" pitchFamily="18" charset="0"/>
                <a:cs typeface="Times New Roman" panose="02020603050405020304" pitchFamily="18" charset="0"/>
              </a:rPr>
              <a:t>With PHP, you can connect to and manipulate databases.</a:t>
            </a:r>
          </a:p>
          <a:p>
            <a:pPr algn="just"/>
            <a:r>
              <a:rPr lang="en-US" b="0" i="0" dirty="0">
                <a:solidFill>
                  <a:srgbClr val="000000"/>
                </a:solidFill>
                <a:effectLst/>
                <a:latin typeface="Times New Roman" panose="02020603050405020304" pitchFamily="18" charset="0"/>
                <a:cs typeface="Times New Roman" panose="02020603050405020304" pitchFamily="18" charset="0"/>
              </a:rPr>
              <a:t>MySQL is the most popular database system used with PHP.</a:t>
            </a:r>
          </a:p>
          <a:p>
            <a:pPr marL="0" indent="0" algn="just">
              <a:buNone/>
            </a:pPr>
            <a:r>
              <a:rPr lang="en-IN" b="1" i="0" dirty="0">
                <a:solidFill>
                  <a:srgbClr val="000000"/>
                </a:solidFill>
                <a:effectLst/>
                <a:latin typeface="Times New Roman" panose="02020603050405020304" pitchFamily="18" charset="0"/>
                <a:cs typeface="Times New Roman" panose="02020603050405020304" pitchFamily="18" charset="0"/>
              </a:rPr>
              <a:t>What is MySQL?</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MySQL is a database system used on the web</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MySQL is a database system that runs on a server</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MySQL is ideal for both small and large applications</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MySQL is very fast, reliable, and easy to use</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MySQL uses standard SQL</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MySQL compiles on a number of platforms</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MySQL is free to download and use</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MySQL is developed, distributed, and supported by Oracle Corporation</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983916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871190-2644-29FA-BC3C-79EDDD40DC02}"/>
              </a:ext>
            </a:extLst>
          </p:cNvPr>
          <p:cNvSpPr>
            <a:spLocks noGrp="1"/>
          </p:cNvSpPr>
          <p:nvPr>
            <p:ph idx="1"/>
          </p:nvPr>
        </p:nvSpPr>
        <p:spPr/>
        <p:txBody>
          <a:bodyPr>
            <a:normAutofit/>
          </a:bodyPr>
          <a:lstStyle/>
          <a:p>
            <a:pPr algn="just"/>
            <a:r>
              <a:rPr lang="en-US" b="0" i="0" dirty="0">
                <a:solidFill>
                  <a:srgbClr val="000000"/>
                </a:solidFill>
                <a:effectLst/>
                <a:latin typeface="Times New Roman" panose="02020603050405020304" pitchFamily="18" charset="0"/>
                <a:cs typeface="Times New Roman" panose="02020603050405020304" pitchFamily="18" charset="0"/>
              </a:rPr>
              <a:t>The data in a MySQL database are stored in tables. A table is a collection of related data, and it consists of columns and rows.</a:t>
            </a:r>
          </a:p>
          <a:p>
            <a:pPr algn="just"/>
            <a:r>
              <a:rPr lang="en-US" b="0" i="0" dirty="0">
                <a:solidFill>
                  <a:srgbClr val="000000"/>
                </a:solidFill>
                <a:effectLst/>
                <a:latin typeface="Times New Roman" panose="02020603050405020304" pitchFamily="18" charset="0"/>
                <a:cs typeface="Times New Roman" panose="02020603050405020304" pitchFamily="18" charset="0"/>
              </a:rPr>
              <a:t>Databases are useful for storing information categorically. A company may have a database with the following tables:</a:t>
            </a:r>
          </a:p>
          <a:p>
            <a:pPr lvl="1" algn="just"/>
            <a:r>
              <a:rPr lang="en-US" b="0" i="0" dirty="0">
                <a:solidFill>
                  <a:srgbClr val="000000"/>
                </a:solidFill>
                <a:effectLst/>
                <a:latin typeface="Times New Roman" panose="02020603050405020304" pitchFamily="18" charset="0"/>
                <a:cs typeface="Times New Roman" panose="02020603050405020304" pitchFamily="18" charset="0"/>
              </a:rPr>
              <a:t>Employees</a:t>
            </a:r>
          </a:p>
          <a:p>
            <a:pPr lvl="1" algn="just"/>
            <a:r>
              <a:rPr lang="en-US" b="0" i="0" dirty="0">
                <a:solidFill>
                  <a:srgbClr val="000000"/>
                </a:solidFill>
                <a:effectLst/>
                <a:latin typeface="Times New Roman" panose="02020603050405020304" pitchFamily="18" charset="0"/>
                <a:cs typeface="Times New Roman" panose="02020603050405020304" pitchFamily="18" charset="0"/>
              </a:rPr>
              <a:t>Products</a:t>
            </a:r>
          </a:p>
          <a:p>
            <a:pPr lvl="1" algn="just"/>
            <a:r>
              <a:rPr lang="en-US" b="0" i="0" dirty="0">
                <a:solidFill>
                  <a:srgbClr val="000000"/>
                </a:solidFill>
                <a:effectLst/>
                <a:latin typeface="Times New Roman" panose="02020603050405020304" pitchFamily="18" charset="0"/>
                <a:cs typeface="Times New Roman" panose="02020603050405020304" pitchFamily="18" charset="0"/>
              </a:rPr>
              <a:t>Customers</a:t>
            </a:r>
          </a:p>
          <a:p>
            <a:pPr lvl="1" algn="just"/>
            <a:r>
              <a:rPr lang="en-US" b="0" i="0" dirty="0">
                <a:solidFill>
                  <a:srgbClr val="000000"/>
                </a:solidFill>
                <a:effectLst/>
                <a:latin typeface="Times New Roman" panose="02020603050405020304" pitchFamily="18" charset="0"/>
                <a:cs typeface="Times New Roman" panose="02020603050405020304" pitchFamily="18" charset="0"/>
              </a:rPr>
              <a:t>Orders</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892941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3628C-6710-34B1-701E-E91498D948A3}"/>
              </a:ext>
            </a:extLst>
          </p:cNvPr>
          <p:cNvSpPr>
            <a:spLocks noGrp="1"/>
          </p:cNvSpPr>
          <p:nvPr>
            <p:ph type="title"/>
          </p:nvPr>
        </p:nvSpPr>
        <p:spPr/>
        <p:txBody>
          <a:bodyPr/>
          <a:lstStyle/>
          <a:p>
            <a:r>
              <a:rPr lang="en-IN" b="0" i="0" dirty="0">
                <a:solidFill>
                  <a:srgbClr val="000000"/>
                </a:solidFill>
                <a:effectLst/>
                <a:latin typeface="Times New Roman" panose="02020603050405020304" pitchFamily="18" charset="0"/>
                <a:cs typeface="Times New Roman" panose="02020603050405020304" pitchFamily="18" charset="0"/>
              </a:rPr>
              <a:t>PHP Connect to MySQL</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4B9892A-CC30-9DF7-4947-CC4079C2D69F}"/>
              </a:ext>
            </a:extLst>
          </p:cNvPr>
          <p:cNvSpPr>
            <a:spLocks noGrp="1"/>
          </p:cNvSpPr>
          <p:nvPr>
            <p:ph idx="1"/>
          </p:nvPr>
        </p:nvSpPr>
        <p:spPr/>
        <p:txBody>
          <a:bodyPr/>
          <a:lstStyle/>
          <a:p>
            <a:pPr marL="0" indent="0" algn="l">
              <a:buNone/>
            </a:pPr>
            <a:r>
              <a:rPr lang="en-US" b="0" i="0" dirty="0">
                <a:solidFill>
                  <a:srgbClr val="000000"/>
                </a:solidFill>
                <a:effectLst/>
                <a:latin typeface="Times New Roman" panose="02020603050405020304" pitchFamily="18" charset="0"/>
                <a:cs typeface="Times New Roman" panose="02020603050405020304" pitchFamily="18" charset="0"/>
              </a:rPr>
              <a:t>PHP 5 and later can work with a MySQL database using:</a:t>
            </a:r>
          </a:p>
          <a:p>
            <a:pPr algn="l">
              <a:buFont typeface="Arial" panose="020B0604020202020204" pitchFamily="34" charset="0"/>
              <a:buChar char="•"/>
            </a:pPr>
            <a:r>
              <a:rPr lang="en-US" b="1" i="0" dirty="0" err="1">
                <a:solidFill>
                  <a:srgbClr val="000000"/>
                </a:solidFill>
                <a:effectLst/>
                <a:latin typeface="Times New Roman" panose="02020603050405020304" pitchFamily="18" charset="0"/>
                <a:cs typeface="Times New Roman" panose="02020603050405020304" pitchFamily="18" charset="0"/>
              </a:rPr>
              <a:t>MySQLi</a:t>
            </a:r>
            <a:r>
              <a:rPr lang="en-US" b="1" i="0" dirty="0">
                <a:solidFill>
                  <a:srgbClr val="000000"/>
                </a:solidFill>
                <a:effectLst/>
                <a:latin typeface="Times New Roman" panose="02020603050405020304" pitchFamily="18" charset="0"/>
                <a:cs typeface="Times New Roman" panose="02020603050405020304" pitchFamily="18" charset="0"/>
              </a:rPr>
              <a:t> extension</a:t>
            </a:r>
            <a:r>
              <a:rPr lang="en-US" b="0" i="0" dirty="0">
                <a:solidFill>
                  <a:srgbClr val="000000"/>
                </a:solidFill>
                <a:effectLst/>
                <a:latin typeface="Times New Roman" panose="02020603050405020304" pitchFamily="18" charset="0"/>
                <a:cs typeface="Times New Roman" panose="02020603050405020304" pitchFamily="18" charset="0"/>
              </a:rPr>
              <a:t> (the "</a:t>
            </a:r>
            <a:r>
              <a:rPr lang="en-US" b="0" i="0" dirty="0" err="1">
                <a:solidFill>
                  <a:srgbClr val="000000"/>
                </a:solidFill>
                <a:effectLst/>
                <a:latin typeface="Times New Roman" panose="02020603050405020304" pitchFamily="18" charset="0"/>
                <a:cs typeface="Times New Roman" panose="02020603050405020304" pitchFamily="18" charset="0"/>
              </a:rPr>
              <a:t>i</a:t>
            </a:r>
            <a:r>
              <a:rPr lang="en-US" b="0" i="0" dirty="0">
                <a:solidFill>
                  <a:srgbClr val="000000"/>
                </a:solidFill>
                <a:effectLst/>
                <a:latin typeface="Times New Roman" panose="02020603050405020304" pitchFamily="18" charset="0"/>
                <a:cs typeface="Times New Roman" panose="02020603050405020304" pitchFamily="18" charset="0"/>
              </a:rPr>
              <a:t>" stands for improved)</a:t>
            </a:r>
          </a:p>
          <a:p>
            <a:pPr algn="l">
              <a:buFont typeface="Arial" panose="020B0604020202020204" pitchFamily="34" charset="0"/>
              <a:buChar char="•"/>
            </a:pPr>
            <a:r>
              <a:rPr lang="en-US" b="1" i="0" dirty="0">
                <a:solidFill>
                  <a:srgbClr val="000000"/>
                </a:solidFill>
                <a:effectLst/>
                <a:latin typeface="Times New Roman" panose="02020603050405020304" pitchFamily="18" charset="0"/>
                <a:cs typeface="Times New Roman" panose="02020603050405020304" pitchFamily="18" charset="0"/>
              </a:rPr>
              <a:t>PDO (PHP Data Objects)</a:t>
            </a:r>
            <a:endParaRPr lang="en-US" b="0" i="0" dirty="0">
              <a:solidFill>
                <a:srgbClr val="000000"/>
              </a:solidFill>
              <a:effectLst/>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565992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19BFF-9B2C-5857-7495-7CBEB7EE33F1}"/>
              </a:ext>
            </a:extLst>
          </p:cNvPr>
          <p:cNvSpPr>
            <a:spLocks noGrp="1"/>
          </p:cNvSpPr>
          <p:nvPr>
            <p:ph type="title"/>
          </p:nvPr>
        </p:nvSpPr>
        <p:spPr>
          <a:xfrm>
            <a:off x="838200" y="365126"/>
            <a:ext cx="10515600" cy="972062"/>
          </a:xfrm>
        </p:spPr>
        <p:txBody>
          <a:bodyPr/>
          <a:lstStyle/>
          <a:p>
            <a:r>
              <a:rPr lang="en-IN" b="0" i="0" dirty="0">
                <a:solidFill>
                  <a:srgbClr val="000000"/>
                </a:solidFill>
                <a:effectLst/>
                <a:latin typeface="Times New Roman" panose="02020603050405020304" pitchFamily="18" charset="0"/>
                <a:cs typeface="Times New Roman" panose="02020603050405020304" pitchFamily="18" charset="0"/>
              </a:rPr>
              <a:t>Example (</a:t>
            </a:r>
            <a:r>
              <a:rPr lang="en-IN" b="0" i="0" dirty="0" err="1">
                <a:solidFill>
                  <a:srgbClr val="000000"/>
                </a:solidFill>
                <a:effectLst/>
                <a:latin typeface="Times New Roman" panose="02020603050405020304" pitchFamily="18" charset="0"/>
                <a:cs typeface="Times New Roman" panose="02020603050405020304" pitchFamily="18" charset="0"/>
              </a:rPr>
              <a:t>MySQLi</a:t>
            </a:r>
            <a:r>
              <a:rPr lang="en-IN" b="0" i="0" dirty="0">
                <a:solidFill>
                  <a:srgbClr val="000000"/>
                </a:solidFill>
                <a:effectLst/>
                <a:latin typeface="Times New Roman" panose="02020603050405020304" pitchFamily="18" charset="0"/>
                <a:cs typeface="Times New Roman" panose="02020603050405020304" pitchFamily="18" charset="0"/>
              </a:rPr>
              <a:t> Object-Oriented)</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3BBBAC9-3A2C-783A-04DC-A1A457950134}"/>
              </a:ext>
            </a:extLst>
          </p:cNvPr>
          <p:cNvSpPr>
            <a:spLocks noGrp="1"/>
          </p:cNvSpPr>
          <p:nvPr>
            <p:ph idx="1"/>
          </p:nvPr>
        </p:nvSpPr>
        <p:spPr>
          <a:xfrm>
            <a:off x="838200" y="1337188"/>
            <a:ext cx="10515600" cy="5155686"/>
          </a:xfrm>
        </p:spPr>
        <p:txBody>
          <a:bodyPr>
            <a:noAutofit/>
          </a:bodyPr>
          <a:lstStyle/>
          <a:p>
            <a:pPr marL="0" indent="0">
              <a:buNone/>
            </a:pPr>
            <a:r>
              <a:rPr lang="en-IN" sz="2200" dirty="0">
                <a:latin typeface="Times New Roman" panose="02020603050405020304" pitchFamily="18" charset="0"/>
                <a:cs typeface="Times New Roman" panose="02020603050405020304" pitchFamily="18" charset="0"/>
              </a:rPr>
              <a:t>&lt;?</a:t>
            </a:r>
            <a:r>
              <a:rPr lang="en-IN" sz="2200" dirty="0" err="1">
                <a:latin typeface="Times New Roman" panose="02020603050405020304" pitchFamily="18" charset="0"/>
                <a:cs typeface="Times New Roman" panose="02020603050405020304" pitchFamily="18" charset="0"/>
              </a:rPr>
              <a:t>php</a:t>
            </a:r>
            <a:endParaRPr lang="en-IN" sz="2200" dirty="0">
              <a:latin typeface="Times New Roman" panose="02020603050405020304" pitchFamily="18" charset="0"/>
              <a:cs typeface="Times New Roman" panose="02020603050405020304" pitchFamily="18" charset="0"/>
            </a:endParaRPr>
          </a:p>
          <a:p>
            <a:pPr marL="0" indent="0">
              <a:buNone/>
            </a:pPr>
            <a:r>
              <a:rPr lang="en-IN" sz="2200" dirty="0">
                <a:latin typeface="Times New Roman" panose="02020603050405020304" pitchFamily="18" charset="0"/>
                <a:cs typeface="Times New Roman" panose="02020603050405020304" pitchFamily="18" charset="0"/>
              </a:rPr>
              <a:t>$</a:t>
            </a:r>
            <a:r>
              <a:rPr lang="en-IN" sz="2200" dirty="0" err="1">
                <a:latin typeface="Times New Roman" panose="02020603050405020304" pitchFamily="18" charset="0"/>
                <a:cs typeface="Times New Roman" panose="02020603050405020304" pitchFamily="18" charset="0"/>
              </a:rPr>
              <a:t>servername</a:t>
            </a:r>
            <a:r>
              <a:rPr lang="en-IN" sz="2200" dirty="0">
                <a:latin typeface="Times New Roman" panose="02020603050405020304" pitchFamily="18" charset="0"/>
                <a:cs typeface="Times New Roman" panose="02020603050405020304" pitchFamily="18" charset="0"/>
              </a:rPr>
              <a:t> = "localhost";</a:t>
            </a:r>
          </a:p>
          <a:p>
            <a:pPr marL="0" indent="0">
              <a:buNone/>
            </a:pPr>
            <a:r>
              <a:rPr lang="en-IN" sz="2200" dirty="0">
                <a:latin typeface="Times New Roman" panose="02020603050405020304" pitchFamily="18" charset="0"/>
                <a:cs typeface="Times New Roman" panose="02020603050405020304" pitchFamily="18" charset="0"/>
              </a:rPr>
              <a:t>$username = "root";</a:t>
            </a:r>
          </a:p>
          <a:p>
            <a:pPr marL="0" indent="0">
              <a:buNone/>
            </a:pPr>
            <a:r>
              <a:rPr lang="en-IN" sz="2200" dirty="0">
                <a:latin typeface="Times New Roman" panose="02020603050405020304" pitchFamily="18" charset="0"/>
                <a:cs typeface="Times New Roman" panose="02020603050405020304" pitchFamily="18" charset="0"/>
              </a:rPr>
              <a:t>$password = "";</a:t>
            </a:r>
          </a:p>
          <a:p>
            <a:pPr marL="0" indent="0">
              <a:buNone/>
            </a:pPr>
            <a:r>
              <a:rPr lang="en-IN" sz="2200" b="1" dirty="0">
                <a:solidFill>
                  <a:srgbClr val="7030A0"/>
                </a:solidFill>
                <a:latin typeface="Times New Roman" panose="02020603050405020304" pitchFamily="18" charset="0"/>
                <a:cs typeface="Times New Roman" panose="02020603050405020304" pitchFamily="18" charset="0"/>
              </a:rPr>
              <a:t>// Create connection</a:t>
            </a:r>
          </a:p>
          <a:p>
            <a:pPr marL="0" indent="0">
              <a:buNone/>
            </a:pPr>
            <a:r>
              <a:rPr lang="en-IN" sz="2200" dirty="0">
                <a:latin typeface="Times New Roman" panose="02020603050405020304" pitchFamily="18" charset="0"/>
                <a:cs typeface="Times New Roman" panose="02020603050405020304" pitchFamily="18" charset="0"/>
              </a:rPr>
              <a:t>$conn = new </a:t>
            </a:r>
            <a:r>
              <a:rPr lang="en-IN" sz="2200" dirty="0" err="1">
                <a:latin typeface="Times New Roman" panose="02020603050405020304" pitchFamily="18" charset="0"/>
                <a:cs typeface="Times New Roman" panose="02020603050405020304" pitchFamily="18" charset="0"/>
              </a:rPr>
              <a:t>mysqli</a:t>
            </a:r>
            <a:r>
              <a:rPr lang="en-IN" sz="2200" dirty="0">
                <a:latin typeface="Times New Roman" panose="02020603050405020304" pitchFamily="18" charset="0"/>
                <a:cs typeface="Times New Roman" panose="02020603050405020304" pitchFamily="18" charset="0"/>
              </a:rPr>
              <a:t>($</a:t>
            </a:r>
            <a:r>
              <a:rPr lang="en-IN" sz="2200" dirty="0" err="1">
                <a:latin typeface="Times New Roman" panose="02020603050405020304" pitchFamily="18" charset="0"/>
                <a:cs typeface="Times New Roman" panose="02020603050405020304" pitchFamily="18" charset="0"/>
              </a:rPr>
              <a:t>servername</a:t>
            </a:r>
            <a:r>
              <a:rPr lang="en-IN" sz="2200" dirty="0">
                <a:latin typeface="Times New Roman" panose="02020603050405020304" pitchFamily="18" charset="0"/>
                <a:cs typeface="Times New Roman" panose="02020603050405020304" pitchFamily="18" charset="0"/>
              </a:rPr>
              <a:t>, $username, $password);</a:t>
            </a:r>
          </a:p>
          <a:p>
            <a:pPr marL="0" indent="0">
              <a:buNone/>
            </a:pPr>
            <a:r>
              <a:rPr lang="en-IN" sz="2200" b="1" dirty="0">
                <a:solidFill>
                  <a:srgbClr val="7030A0"/>
                </a:solidFill>
                <a:latin typeface="Times New Roman" panose="02020603050405020304" pitchFamily="18" charset="0"/>
                <a:cs typeface="Times New Roman" panose="02020603050405020304" pitchFamily="18" charset="0"/>
              </a:rPr>
              <a:t>// Check connection</a:t>
            </a:r>
          </a:p>
          <a:p>
            <a:pPr marL="0" indent="0">
              <a:buNone/>
            </a:pPr>
            <a:r>
              <a:rPr lang="en-IN" sz="2200" dirty="0">
                <a:latin typeface="Times New Roman" panose="02020603050405020304" pitchFamily="18" charset="0"/>
                <a:cs typeface="Times New Roman" panose="02020603050405020304" pitchFamily="18" charset="0"/>
              </a:rPr>
              <a:t>if ($conn-&gt;</a:t>
            </a:r>
            <a:r>
              <a:rPr lang="en-IN" sz="2200" dirty="0" err="1">
                <a:latin typeface="Times New Roman" panose="02020603050405020304" pitchFamily="18" charset="0"/>
                <a:cs typeface="Times New Roman" panose="02020603050405020304" pitchFamily="18" charset="0"/>
              </a:rPr>
              <a:t>connect_error</a:t>
            </a:r>
            <a:r>
              <a:rPr lang="en-IN" sz="2200" dirty="0">
                <a:latin typeface="Times New Roman" panose="02020603050405020304" pitchFamily="18" charset="0"/>
                <a:cs typeface="Times New Roman" panose="02020603050405020304" pitchFamily="18" charset="0"/>
              </a:rPr>
              <a:t>) {</a:t>
            </a:r>
          </a:p>
          <a:p>
            <a:pPr marL="0" indent="0">
              <a:buNone/>
            </a:pPr>
            <a:r>
              <a:rPr lang="en-IN" sz="2200" dirty="0">
                <a:latin typeface="Times New Roman" panose="02020603050405020304" pitchFamily="18" charset="0"/>
                <a:cs typeface="Times New Roman" panose="02020603050405020304" pitchFamily="18" charset="0"/>
              </a:rPr>
              <a:t>  die("Connection failed: " . $conn-&gt;</a:t>
            </a:r>
            <a:r>
              <a:rPr lang="en-IN" sz="2200" dirty="0" err="1">
                <a:latin typeface="Times New Roman" panose="02020603050405020304" pitchFamily="18" charset="0"/>
                <a:cs typeface="Times New Roman" panose="02020603050405020304" pitchFamily="18" charset="0"/>
              </a:rPr>
              <a:t>connect_error</a:t>
            </a:r>
            <a:r>
              <a:rPr lang="en-IN" sz="2200" dirty="0">
                <a:latin typeface="Times New Roman" panose="02020603050405020304" pitchFamily="18" charset="0"/>
                <a:cs typeface="Times New Roman" panose="02020603050405020304" pitchFamily="18" charset="0"/>
              </a:rPr>
              <a:t>);</a:t>
            </a:r>
          </a:p>
          <a:p>
            <a:pPr marL="0" indent="0">
              <a:buNone/>
            </a:pPr>
            <a:r>
              <a:rPr lang="en-IN" sz="2200" dirty="0">
                <a:latin typeface="Times New Roman" panose="02020603050405020304" pitchFamily="18" charset="0"/>
                <a:cs typeface="Times New Roman" panose="02020603050405020304" pitchFamily="18" charset="0"/>
              </a:rPr>
              <a:t>}</a:t>
            </a:r>
          </a:p>
          <a:p>
            <a:pPr marL="0" indent="0">
              <a:buNone/>
            </a:pPr>
            <a:r>
              <a:rPr lang="en-IN" sz="2200" dirty="0">
                <a:latin typeface="Times New Roman" panose="02020603050405020304" pitchFamily="18" charset="0"/>
                <a:cs typeface="Times New Roman" panose="02020603050405020304" pitchFamily="18" charset="0"/>
              </a:rPr>
              <a:t>echo "Connected successfully";</a:t>
            </a:r>
          </a:p>
          <a:p>
            <a:pPr marL="0" indent="0">
              <a:buNone/>
            </a:pPr>
            <a:r>
              <a:rPr lang="en-IN" sz="2200" dirty="0">
                <a:latin typeface="Times New Roman" panose="02020603050405020304" pitchFamily="18" charset="0"/>
                <a:cs typeface="Times New Roman" panose="02020603050405020304" pitchFamily="18" charset="0"/>
              </a:rPr>
              <a:t>?&gt;</a:t>
            </a:r>
          </a:p>
        </p:txBody>
      </p:sp>
    </p:spTree>
    <p:extLst>
      <p:ext uri="{BB962C8B-B14F-4D97-AF65-F5344CB8AC3E}">
        <p14:creationId xmlns:p14="http://schemas.microsoft.com/office/powerpoint/2010/main" val="178175426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F9FBE-DB5C-2932-F7E2-E2959DF3E8D2}"/>
              </a:ext>
            </a:extLst>
          </p:cNvPr>
          <p:cNvSpPr>
            <a:spLocks noGrp="1"/>
          </p:cNvSpPr>
          <p:nvPr>
            <p:ph type="title"/>
          </p:nvPr>
        </p:nvSpPr>
        <p:spPr/>
        <p:txBody>
          <a:bodyPr/>
          <a:lstStyle/>
          <a:p>
            <a:r>
              <a:rPr lang="en-IN" b="0" i="0" dirty="0">
                <a:solidFill>
                  <a:srgbClr val="000000"/>
                </a:solidFill>
                <a:effectLst/>
                <a:latin typeface="Times New Roman" panose="02020603050405020304" pitchFamily="18" charset="0"/>
                <a:cs typeface="Times New Roman" panose="02020603050405020304" pitchFamily="18" charset="0"/>
              </a:rPr>
              <a:t>PHP Create a MySQL Database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6568183-F999-CD10-449D-A5D1C5D6C7C2}"/>
              </a:ext>
            </a:extLst>
          </p:cNvPr>
          <p:cNvSpPr>
            <a:spLocks noGrp="1"/>
          </p:cNvSpPr>
          <p:nvPr>
            <p:ph idx="1"/>
          </p:nvPr>
        </p:nvSpPr>
        <p:spPr/>
        <p:txBody>
          <a:bodyPr>
            <a:normAutofit/>
          </a:bodyPr>
          <a:lstStyle/>
          <a:p>
            <a:r>
              <a:rPr lang="en-US" b="0" i="0" dirty="0">
                <a:solidFill>
                  <a:srgbClr val="000000"/>
                </a:solidFill>
                <a:effectLst/>
                <a:latin typeface="Times New Roman" panose="02020603050405020304" pitchFamily="18" charset="0"/>
                <a:cs typeface="Times New Roman" panose="02020603050405020304" pitchFamily="18" charset="0"/>
              </a:rPr>
              <a:t>A database consists of one or more tables. </a:t>
            </a:r>
          </a:p>
          <a:p>
            <a:r>
              <a:rPr lang="en-US" b="0" i="0" dirty="0">
                <a:solidFill>
                  <a:srgbClr val="000000"/>
                </a:solidFill>
                <a:effectLst/>
                <a:latin typeface="Times New Roman" panose="02020603050405020304" pitchFamily="18" charset="0"/>
                <a:cs typeface="Times New Roman" panose="02020603050405020304" pitchFamily="18" charset="0"/>
              </a:rPr>
              <a:t>The </a:t>
            </a:r>
            <a:r>
              <a:rPr lang="en-US" b="1" i="0" dirty="0">
                <a:solidFill>
                  <a:srgbClr val="000000"/>
                </a:solidFill>
                <a:effectLst/>
                <a:latin typeface="Times New Roman" panose="02020603050405020304" pitchFamily="18" charset="0"/>
                <a:cs typeface="Times New Roman" panose="02020603050405020304" pitchFamily="18" charset="0"/>
              </a:rPr>
              <a:t>CREATE DATABASE </a:t>
            </a:r>
            <a:r>
              <a:rPr lang="en-US" b="0" i="0" dirty="0">
                <a:solidFill>
                  <a:srgbClr val="000000"/>
                </a:solidFill>
                <a:effectLst/>
                <a:latin typeface="Times New Roman" panose="02020603050405020304" pitchFamily="18" charset="0"/>
                <a:cs typeface="Times New Roman" panose="02020603050405020304" pitchFamily="18" charset="0"/>
              </a:rPr>
              <a:t>statement is used to create a database in MySQL.</a:t>
            </a:r>
          </a:p>
          <a:p>
            <a:pPr marL="0" indent="0">
              <a:buNone/>
            </a:pPr>
            <a:r>
              <a:rPr lang="en-US" b="1" dirty="0">
                <a:solidFill>
                  <a:srgbClr val="000000"/>
                </a:solidFill>
                <a:latin typeface="Times New Roman" panose="02020603050405020304" pitchFamily="18" charset="0"/>
                <a:cs typeface="Times New Roman" panose="02020603050405020304" pitchFamily="18" charset="0"/>
              </a:rPr>
              <a:t>Example:</a:t>
            </a:r>
          </a:p>
          <a:p>
            <a:pPr marL="0" indent="0">
              <a:buNone/>
            </a:pPr>
            <a:r>
              <a:rPr lang="en-IN" dirty="0">
                <a:latin typeface="Times New Roman" panose="02020603050405020304" pitchFamily="18" charset="0"/>
                <a:cs typeface="Times New Roman" panose="02020603050405020304" pitchFamily="18" charset="0"/>
              </a:rPr>
              <a:t>&lt;?</a:t>
            </a:r>
            <a:r>
              <a:rPr lang="en-IN" dirty="0" err="1">
                <a:latin typeface="Times New Roman" panose="02020603050405020304" pitchFamily="18" charset="0"/>
                <a:cs typeface="Times New Roman" panose="02020603050405020304" pitchFamily="18" charset="0"/>
              </a:rPr>
              <a:t>php</a:t>
            </a: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servername</a:t>
            </a:r>
            <a:r>
              <a:rPr lang="en-IN" dirty="0">
                <a:latin typeface="Times New Roman" panose="02020603050405020304" pitchFamily="18" charset="0"/>
                <a:cs typeface="Times New Roman" panose="02020603050405020304" pitchFamily="18" charset="0"/>
              </a:rPr>
              <a:t> = "localhost";</a:t>
            </a:r>
          </a:p>
          <a:p>
            <a:pPr marL="0" indent="0">
              <a:buNone/>
            </a:pPr>
            <a:r>
              <a:rPr lang="en-IN" dirty="0">
                <a:latin typeface="Times New Roman" panose="02020603050405020304" pitchFamily="18" charset="0"/>
                <a:cs typeface="Times New Roman" panose="02020603050405020304" pitchFamily="18" charset="0"/>
              </a:rPr>
              <a:t>$username = "root";</a:t>
            </a:r>
          </a:p>
          <a:p>
            <a:pPr marL="0" indent="0">
              <a:buNone/>
            </a:pPr>
            <a:r>
              <a:rPr lang="en-IN" dirty="0">
                <a:latin typeface="Times New Roman" panose="02020603050405020304" pitchFamily="18" charset="0"/>
                <a:cs typeface="Times New Roman" panose="02020603050405020304" pitchFamily="18" charset="0"/>
              </a:rPr>
              <a:t>$password = "";</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509663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6A94C3-F740-BA29-9309-A9E85ACB1FD7}"/>
              </a:ext>
            </a:extLst>
          </p:cNvPr>
          <p:cNvSpPr>
            <a:spLocks noGrp="1"/>
          </p:cNvSpPr>
          <p:nvPr>
            <p:ph idx="1"/>
          </p:nvPr>
        </p:nvSpPr>
        <p:spPr>
          <a:xfrm>
            <a:off x="838200" y="365125"/>
            <a:ext cx="10515600" cy="5811838"/>
          </a:xfrm>
        </p:spPr>
        <p:txBody>
          <a:bodyPr>
            <a:normAutofit fontScale="70000" lnSpcReduction="20000"/>
          </a:bodyPr>
          <a:lstStyle/>
          <a:p>
            <a:pPr marL="0" indent="0">
              <a:buNone/>
            </a:pPr>
            <a:r>
              <a:rPr lang="en-IN" dirty="0">
                <a:latin typeface="Times New Roman" panose="02020603050405020304" pitchFamily="18" charset="0"/>
                <a:cs typeface="Times New Roman" panose="02020603050405020304" pitchFamily="18" charset="0"/>
              </a:rPr>
              <a:t>// Create connection</a:t>
            </a:r>
          </a:p>
          <a:p>
            <a:pPr marL="0" indent="0">
              <a:buNone/>
            </a:pPr>
            <a:r>
              <a:rPr lang="en-IN" dirty="0">
                <a:latin typeface="Times New Roman" panose="02020603050405020304" pitchFamily="18" charset="0"/>
                <a:cs typeface="Times New Roman" panose="02020603050405020304" pitchFamily="18" charset="0"/>
              </a:rPr>
              <a:t>$conn = new </a:t>
            </a:r>
            <a:r>
              <a:rPr lang="en-IN" dirty="0" err="1">
                <a:latin typeface="Times New Roman" panose="02020603050405020304" pitchFamily="18" charset="0"/>
                <a:cs typeface="Times New Roman" panose="02020603050405020304" pitchFamily="18" charset="0"/>
              </a:rPr>
              <a:t>mysqli</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servername</a:t>
            </a:r>
            <a:r>
              <a:rPr lang="en-IN" dirty="0">
                <a:latin typeface="Times New Roman" panose="02020603050405020304" pitchFamily="18" charset="0"/>
                <a:cs typeface="Times New Roman" panose="02020603050405020304" pitchFamily="18" charset="0"/>
              </a:rPr>
              <a:t>, $username, $password);</a:t>
            </a:r>
          </a:p>
          <a:p>
            <a:pPr marL="0" indent="0">
              <a:buNone/>
            </a:pPr>
            <a:r>
              <a:rPr lang="en-IN" dirty="0">
                <a:latin typeface="Times New Roman" panose="02020603050405020304" pitchFamily="18" charset="0"/>
                <a:cs typeface="Times New Roman" panose="02020603050405020304" pitchFamily="18" charset="0"/>
              </a:rPr>
              <a:t>// Check connection</a:t>
            </a:r>
          </a:p>
          <a:p>
            <a:pPr marL="0" indent="0">
              <a:buNone/>
            </a:pPr>
            <a:r>
              <a:rPr lang="en-IN" dirty="0">
                <a:latin typeface="Times New Roman" panose="02020603050405020304" pitchFamily="18" charset="0"/>
                <a:cs typeface="Times New Roman" panose="02020603050405020304" pitchFamily="18" charset="0"/>
              </a:rPr>
              <a:t>if ($conn-&gt;</a:t>
            </a:r>
            <a:r>
              <a:rPr lang="en-IN" dirty="0" err="1">
                <a:latin typeface="Times New Roman" panose="02020603050405020304" pitchFamily="18" charset="0"/>
                <a:cs typeface="Times New Roman" panose="02020603050405020304" pitchFamily="18" charset="0"/>
              </a:rPr>
              <a:t>connect_error</a:t>
            </a:r>
            <a:r>
              <a:rPr lang="en-IN" dirty="0">
                <a:latin typeface="Times New Roman" panose="02020603050405020304" pitchFamily="18" charset="0"/>
                <a:cs typeface="Times New Roman" panose="02020603050405020304" pitchFamily="18" charset="0"/>
              </a:rPr>
              <a:t>) {</a:t>
            </a:r>
          </a:p>
          <a:p>
            <a:pPr marL="0" indent="0">
              <a:buNone/>
            </a:pPr>
            <a:r>
              <a:rPr lang="en-IN" dirty="0">
                <a:latin typeface="Times New Roman" panose="02020603050405020304" pitchFamily="18" charset="0"/>
                <a:cs typeface="Times New Roman" panose="02020603050405020304" pitchFamily="18" charset="0"/>
              </a:rPr>
              <a:t>  die("Connection failed: " . $conn-&gt;</a:t>
            </a:r>
            <a:r>
              <a:rPr lang="en-IN" dirty="0" err="1">
                <a:latin typeface="Times New Roman" panose="02020603050405020304" pitchFamily="18" charset="0"/>
                <a:cs typeface="Times New Roman" panose="02020603050405020304" pitchFamily="18" charset="0"/>
              </a:rPr>
              <a:t>connect_error</a:t>
            </a:r>
            <a:r>
              <a:rPr lang="en-IN" dirty="0">
                <a:latin typeface="Times New Roman" panose="02020603050405020304" pitchFamily="18" charset="0"/>
                <a:cs typeface="Times New Roman" panose="02020603050405020304" pitchFamily="18" charset="0"/>
              </a:rPr>
              <a:t>);</a:t>
            </a:r>
          </a:p>
          <a:p>
            <a:pPr marL="0" indent="0">
              <a:buNone/>
            </a:pPr>
            <a:r>
              <a:rPr lang="en-IN" dirty="0">
                <a:latin typeface="Times New Roman" panose="02020603050405020304" pitchFamily="18" charset="0"/>
                <a:cs typeface="Times New Roman" panose="02020603050405020304" pitchFamily="18" charset="0"/>
              </a:rPr>
              <a:t>}</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 Create database</a:t>
            </a:r>
          </a:p>
          <a:p>
            <a:pPr marL="0" indent="0">
              <a:buNone/>
            </a:pP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sql</a:t>
            </a:r>
            <a:r>
              <a:rPr lang="en-IN" dirty="0">
                <a:latin typeface="Times New Roman" panose="02020603050405020304" pitchFamily="18" charset="0"/>
                <a:cs typeface="Times New Roman" panose="02020603050405020304" pitchFamily="18" charset="0"/>
              </a:rPr>
              <a:t> = "CREATE DATABASE </a:t>
            </a:r>
            <a:r>
              <a:rPr lang="en-IN" dirty="0" err="1">
                <a:latin typeface="Times New Roman" panose="02020603050405020304" pitchFamily="18" charset="0"/>
                <a:cs typeface="Times New Roman" panose="02020603050405020304" pitchFamily="18" charset="0"/>
              </a:rPr>
              <a:t>myDB</a:t>
            </a:r>
            <a:r>
              <a:rPr lang="en-IN" dirty="0">
                <a:latin typeface="Times New Roman" panose="02020603050405020304" pitchFamily="18" charset="0"/>
                <a:cs typeface="Times New Roman" panose="02020603050405020304" pitchFamily="18" charset="0"/>
              </a:rPr>
              <a:t>";</a:t>
            </a:r>
          </a:p>
          <a:p>
            <a:pPr marL="0" indent="0">
              <a:buNone/>
            </a:pPr>
            <a:r>
              <a:rPr lang="en-IN" dirty="0">
                <a:latin typeface="Times New Roman" panose="02020603050405020304" pitchFamily="18" charset="0"/>
                <a:cs typeface="Times New Roman" panose="02020603050405020304" pitchFamily="18" charset="0"/>
              </a:rPr>
              <a:t>if ($conn-&gt;query($</a:t>
            </a:r>
            <a:r>
              <a:rPr lang="en-IN" dirty="0" err="1">
                <a:latin typeface="Times New Roman" panose="02020603050405020304" pitchFamily="18" charset="0"/>
                <a:cs typeface="Times New Roman" panose="02020603050405020304" pitchFamily="18" charset="0"/>
              </a:rPr>
              <a:t>sql</a:t>
            </a:r>
            <a:r>
              <a:rPr lang="en-IN" dirty="0">
                <a:latin typeface="Times New Roman" panose="02020603050405020304" pitchFamily="18" charset="0"/>
                <a:cs typeface="Times New Roman" panose="02020603050405020304" pitchFamily="18" charset="0"/>
              </a:rPr>
              <a:t>) === TRUE) {</a:t>
            </a:r>
          </a:p>
          <a:p>
            <a:pPr marL="0" indent="0">
              <a:buNone/>
            </a:pPr>
            <a:r>
              <a:rPr lang="en-IN" dirty="0">
                <a:latin typeface="Times New Roman" panose="02020603050405020304" pitchFamily="18" charset="0"/>
                <a:cs typeface="Times New Roman" panose="02020603050405020304" pitchFamily="18" charset="0"/>
              </a:rPr>
              <a:t>  echo "Database created successfully";</a:t>
            </a:r>
          </a:p>
          <a:p>
            <a:pPr marL="0" indent="0">
              <a:buNone/>
            </a:pPr>
            <a:r>
              <a:rPr lang="en-IN" dirty="0">
                <a:latin typeface="Times New Roman" panose="02020603050405020304" pitchFamily="18" charset="0"/>
                <a:cs typeface="Times New Roman" panose="02020603050405020304" pitchFamily="18" charset="0"/>
              </a:rPr>
              <a:t>} else {</a:t>
            </a:r>
          </a:p>
          <a:p>
            <a:pPr marL="0" indent="0">
              <a:buNone/>
            </a:pPr>
            <a:r>
              <a:rPr lang="en-IN" dirty="0">
                <a:latin typeface="Times New Roman" panose="02020603050405020304" pitchFamily="18" charset="0"/>
                <a:cs typeface="Times New Roman" panose="02020603050405020304" pitchFamily="18" charset="0"/>
              </a:rPr>
              <a:t>  echo "Error creating database: " . $conn-&gt;error;</a:t>
            </a:r>
          </a:p>
          <a:p>
            <a:pPr marL="0" indent="0">
              <a:buNone/>
            </a:pPr>
            <a:r>
              <a:rPr lang="en-IN" dirty="0">
                <a:latin typeface="Times New Roman" panose="02020603050405020304" pitchFamily="18" charset="0"/>
                <a:cs typeface="Times New Roman" panose="02020603050405020304" pitchFamily="18" charset="0"/>
              </a:rPr>
              <a:t>}</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$conn-&gt;close();</a:t>
            </a:r>
          </a:p>
          <a:p>
            <a:pPr marL="0" indent="0">
              <a:buNone/>
            </a:pPr>
            <a:r>
              <a:rPr lang="en-IN" dirty="0">
                <a:latin typeface="Times New Roman" panose="02020603050405020304" pitchFamily="18" charset="0"/>
                <a:cs typeface="Times New Roman" panose="02020603050405020304" pitchFamily="18" charset="0"/>
              </a:rPr>
              <a:t>?&gt;</a:t>
            </a:r>
          </a:p>
          <a:p>
            <a:endParaRPr lang="en-IN" dirty="0"/>
          </a:p>
        </p:txBody>
      </p:sp>
    </p:spTree>
    <p:extLst>
      <p:ext uri="{BB962C8B-B14F-4D97-AF65-F5344CB8AC3E}">
        <p14:creationId xmlns:p14="http://schemas.microsoft.com/office/powerpoint/2010/main" val="325044488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1D55E-1DB9-A025-81B8-0F2E32EA26F7}"/>
              </a:ext>
            </a:extLst>
          </p:cNvPr>
          <p:cNvSpPr>
            <a:spLocks noGrp="1"/>
          </p:cNvSpPr>
          <p:nvPr>
            <p:ph type="title"/>
          </p:nvPr>
        </p:nvSpPr>
        <p:spPr/>
        <p:txBody>
          <a:bodyPr/>
          <a:lstStyle/>
          <a:p>
            <a:r>
              <a:rPr lang="en-IN" b="0" i="0" dirty="0">
                <a:solidFill>
                  <a:srgbClr val="000000"/>
                </a:solidFill>
                <a:effectLst/>
                <a:latin typeface="Times New Roman" panose="02020603050405020304" pitchFamily="18" charset="0"/>
                <a:cs typeface="Times New Roman" panose="02020603050405020304" pitchFamily="18" charset="0"/>
              </a:rPr>
              <a:t>PHP MySQL Create Table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CCE7F6-AD04-2519-8C0A-3A9908E21CF4}"/>
              </a:ext>
            </a:extLst>
          </p:cNvPr>
          <p:cNvSpPr>
            <a:spLocks noGrp="1"/>
          </p:cNvSpPr>
          <p:nvPr>
            <p:ph idx="1"/>
          </p:nvPr>
        </p:nvSpPr>
        <p:spPr/>
        <p:txBody>
          <a:bodyPr>
            <a:normAutofit lnSpcReduction="10000"/>
          </a:bodyPr>
          <a:lstStyle/>
          <a:p>
            <a:r>
              <a:rPr lang="en-US" b="0" i="0" dirty="0">
                <a:solidFill>
                  <a:srgbClr val="000000"/>
                </a:solidFill>
                <a:effectLst/>
                <a:latin typeface="Times New Roman" panose="02020603050405020304" pitchFamily="18" charset="0"/>
                <a:cs typeface="Times New Roman" panose="02020603050405020304" pitchFamily="18" charset="0"/>
              </a:rPr>
              <a:t>A database table has its own unique name and consists of columns and rows. </a:t>
            </a:r>
          </a:p>
          <a:p>
            <a:r>
              <a:rPr lang="en-US" b="0" i="0" dirty="0">
                <a:solidFill>
                  <a:srgbClr val="000000"/>
                </a:solidFill>
                <a:effectLst/>
                <a:latin typeface="Times New Roman" panose="02020603050405020304" pitchFamily="18" charset="0"/>
                <a:cs typeface="Times New Roman" panose="02020603050405020304" pitchFamily="18" charset="0"/>
              </a:rPr>
              <a:t>The CREATE TABLE statement is used to create a table in MySQL. </a:t>
            </a:r>
          </a:p>
          <a:p>
            <a:pPr marL="0" indent="0">
              <a:buNone/>
            </a:pPr>
            <a:r>
              <a:rPr lang="en-US" b="1" dirty="0">
                <a:solidFill>
                  <a:srgbClr val="000000"/>
                </a:solidFill>
                <a:latin typeface="Times New Roman" panose="02020603050405020304" pitchFamily="18" charset="0"/>
                <a:cs typeface="Times New Roman" panose="02020603050405020304" pitchFamily="18" charset="0"/>
              </a:rPr>
              <a:t>Example</a:t>
            </a:r>
          </a:p>
          <a:p>
            <a:pPr marL="0" indent="0">
              <a:buNone/>
            </a:pPr>
            <a:r>
              <a:rPr lang="en-IN" dirty="0">
                <a:latin typeface="Times New Roman" panose="02020603050405020304" pitchFamily="18" charset="0"/>
                <a:cs typeface="Times New Roman" panose="02020603050405020304" pitchFamily="18" charset="0"/>
              </a:rPr>
              <a:t>&lt;?</a:t>
            </a:r>
            <a:r>
              <a:rPr lang="en-IN" dirty="0" err="1">
                <a:latin typeface="Times New Roman" panose="02020603050405020304" pitchFamily="18" charset="0"/>
                <a:cs typeface="Times New Roman" panose="02020603050405020304" pitchFamily="18" charset="0"/>
              </a:rPr>
              <a:t>php</a:t>
            </a: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servername</a:t>
            </a:r>
            <a:r>
              <a:rPr lang="en-IN" dirty="0">
                <a:latin typeface="Times New Roman" panose="02020603050405020304" pitchFamily="18" charset="0"/>
                <a:cs typeface="Times New Roman" panose="02020603050405020304" pitchFamily="18" charset="0"/>
              </a:rPr>
              <a:t> = "localhost";</a:t>
            </a:r>
          </a:p>
          <a:p>
            <a:pPr marL="0" indent="0">
              <a:buNone/>
            </a:pPr>
            <a:r>
              <a:rPr lang="en-IN" dirty="0">
                <a:latin typeface="Times New Roman" panose="02020603050405020304" pitchFamily="18" charset="0"/>
                <a:cs typeface="Times New Roman" panose="02020603050405020304" pitchFamily="18" charset="0"/>
              </a:rPr>
              <a:t>$username = "root";</a:t>
            </a:r>
          </a:p>
          <a:p>
            <a:pPr marL="0" indent="0">
              <a:buNone/>
            </a:pPr>
            <a:r>
              <a:rPr lang="en-IN" dirty="0">
                <a:latin typeface="Times New Roman" panose="02020603050405020304" pitchFamily="18" charset="0"/>
                <a:cs typeface="Times New Roman" panose="02020603050405020304" pitchFamily="18" charset="0"/>
              </a:rPr>
              <a:t>$password = "";</a:t>
            </a:r>
          </a:p>
          <a:p>
            <a:pPr marL="0" indent="0">
              <a:buNone/>
            </a:pP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dbname</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myDB</a:t>
            </a:r>
            <a:r>
              <a:rPr lang="en-IN"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476364284"/>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95ABEE-C998-09DD-1134-39EEE5C80BD7}"/>
              </a:ext>
            </a:extLst>
          </p:cNvPr>
          <p:cNvSpPr>
            <a:spLocks noGrp="1"/>
          </p:cNvSpPr>
          <p:nvPr>
            <p:ph idx="1"/>
          </p:nvPr>
        </p:nvSpPr>
        <p:spPr>
          <a:xfrm>
            <a:off x="838200" y="471948"/>
            <a:ext cx="10515600" cy="5705015"/>
          </a:xfrm>
        </p:spPr>
        <p:txBody>
          <a:bodyPr>
            <a:normAutofit fontScale="77500" lnSpcReduction="20000"/>
          </a:bodyPr>
          <a:lstStyle/>
          <a:p>
            <a:pPr marL="0" indent="0">
              <a:buNone/>
            </a:pPr>
            <a:r>
              <a:rPr lang="en-IN" b="1" dirty="0">
                <a:solidFill>
                  <a:srgbClr val="7030A0"/>
                </a:solidFill>
                <a:latin typeface="Times New Roman" panose="02020603050405020304" pitchFamily="18" charset="0"/>
                <a:cs typeface="Times New Roman" panose="02020603050405020304" pitchFamily="18" charset="0"/>
              </a:rPr>
              <a:t>// Create connection</a:t>
            </a:r>
          </a:p>
          <a:p>
            <a:pPr marL="0" indent="0">
              <a:buNone/>
            </a:pPr>
            <a:r>
              <a:rPr lang="en-IN" dirty="0">
                <a:latin typeface="Times New Roman" panose="02020603050405020304" pitchFamily="18" charset="0"/>
                <a:cs typeface="Times New Roman" panose="02020603050405020304" pitchFamily="18" charset="0"/>
              </a:rPr>
              <a:t>$conn = new </a:t>
            </a:r>
            <a:r>
              <a:rPr lang="en-IN" dirty="0" err="1">
                <a:latin typeface="Times New Roman" panose="02020603050405020304" pitchFamily="18" charset="0"/>
                <a:cs typeface="Times New Roman" panose="02020603050405020304" pitchFamily="18" charset="0"/>
              </a:rPr>
              <a:t>mysqli</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servername</a:t>
            </a:r>
            <a:r>
              <a:rPr lang="en-IN" dirty="0">
                <a:latin typeface="Times New Roman" panose="02020603050405020304" pitchFamily="18" charset="0"/>
                <a:cs typeface="Times New Roman" panose="02020603050405020304" pitchFamily="18" charset="0"/>
              </a:rPr>
              <a:t>, $username, $password, $</a:t>
            </a:r>
            <a:r>
              <a:rPr lang="en-IN" dirty="0" err="1">
                <a:latin typeface="Times New Roman" panose="02020603050405020304" pitchFamily="18" charset="0"/>
                <a:cs typeface="Times New Roman" panose="02020603050405020304" pitchFamily="18" charset="0"/>
              </a:rPr>
              <a:t>dbname</a:t>
            </a:r>
            <a:r>
              <a:rPr lang="en-IN" dirty="0">
                <a:latin typeface="Times New Roman" panose="02020603050405020304" pitchFamily="18" charset="0"/>
                <a:cs typeface="Times New Roman" panose="02020603050405020304" pitchFamily="18" charset="0"/>
              </a:rPr>
              <a:t>);</a:t>
            </a:r>
          </a:p>
          <a:p>
            <a:pPr marL="0" indent="0">
              <a:buNone/>
            </a:pPr>
            <a:r>
              <a:rPr lang="en-IN" dirty="0">
                <a:latin typeface="Times New Roman" panose="02020603050405020304" pitchFamily="18" charset="0"/>
                <a:cs typeface="Times New Roman" panose="02020603050405020304" pitchFamily="18" charset="0"/>
              </a:rPr>
              <a:t>// Check connection</a:t>
            </a:r>
          </a:p>
          <a:p>
            <a:pPr marL="0" indent="0">
              <a:buNone/>
            </a:pPr>
            <a:r>
              <a:rPr lang="en-IN" dirty="0">
                <a:latin typeface="Times New Roman" panose="02020603050405020304" pitchFamily="18" charset="0"/>
                <a:cs typeface="Times New Roman" panose="02020603050405020304" pitchFamily="18" charset="0"/>
              </a:rPr>
              <a:t>if ($conn-&gt;</a:t>
            </a:r>
            <a:r>
              <a:rPr lang="en-IN" dirty="0" err="1">
                <a:latin typeface="Times New Roman" panose="02020603050405020304" pitchFamily="18" charset="0"/>
                <a:cs typeface="Times New Roman" panose="02020603050405020304" pitchFamily="18" charset="0"/>
              </a:rPr>
              <a:t>connect_error</a:t>
            </a:r>
            <a:r>
              <a:rPr lang="en-IN" dirty="0">
                <a:latin typeface="Times New Roman" panose="02020603050405020304" pitchFamily="18" charset="0"/>
                <a:cs typeface="Times New Roman" panose="02020603050405020304" pitchFamily="18" charset="0"/>
              </a:rPr>
              <a:t>) {</a:t>
            </a:r>
          </a:p>
          <a:p>
            <a:pPr marL="0" indent="0">
              <a:buNone/>
            </a:pPr>
            <a:r>
              <a:rPr lang="en-IN" dirty="0">
                <a:latin typeface="Times New Roman" panose="02020603050405020304" pitchFamily="18" charset="0"/>
                <a:cs typeface="Times New Roman" panose="02020603050405020304" pitchFamily="18" charset="0"/>
              </a:rPr>
              <a:t>  die("Connection failed: " . $conn-&gt;</a:t>
            </a:r>
            <a:r>
              <a:rPr lang="en-IN" dirty="0" err="1">
                <a:latin typeface="Times New Roman" panose="02020603050405020304" pitchFamily="18" charset="0"/>
                <a:cs typeface="Times New Roman" panose="02020603050405020304" pitchFamily="18" charset="0"/>
              </a:rPr>
              <a:t>connect_error</a:t>
            </a:r>
            <a:r>
              <a:rPr lang="en-IN" dirty="0">
                <a:latin typeface="Times New Roman" panose="02020603050405020304" pitchFamily="18" charset="0"/>
                <a:cs typeface="Times New Roman" panose="02020603050405020304" pitchFamily="18" charset="0"/>
              </a:rPr>
              <a:t>);</a:t>
            </a:r>
          </a:p>
          <a:p>
            <a:pPr marL="0" indent="0">
              <a:buNone/>
            </a:pPr>
            <a:r>
              <a:rPr lang="en-IN" dirty="0">
                <a:latin typeface="Times New Roman" panose="02020603050405020304" pitchFamily="18" charset="0"/>
                <a:cs typeface="Times New Roman" panose="02020603050405020304" pitchFamily="18" charset="0"/>
              </a:rPr>
              <a:t>}</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b="1"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sql</a:t>
            </a:r>
            <a:r>
              <a:rPr lang="en-IN" b="1" dirty="0">
                <a:latin typeface="Times New Roman" panose="02020603050405020304" pitchFamily="18" charset="0"/>
                <a:cs typeface="Times New Roman" panose="02020603050405020304" pitchFamily="18" charset="0"/>
              </a:rPr>
              <a:t> to create table</a:t>
            </a:r>
          </a:p>
          <a:p>
            <a:pPr marL="0" indent="0">
              <a:buNone/>
            </a:pP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sql</a:t>
            </a:r>
            <a:r>
              <a:rPr lang="en-IN" dirty="0">
                <a:latin typeface="Times New Roman" panose="02020603050405020304" pitchFamily="18" charset="0"/>
                <a:cs typeface="Times New Roman" panose="02020603050405020304" pitchFamily="18" charset="0"/>
              </a:rPr>
              <a:t> = "CREATE TABLE Employee (</a:t>
            </a:r>
          </a:p>
          <a:p>
            <a:pPr marL="0" indent="0">
              <a:buNone/>
            </a:pPr>
            <a:r>
              <a:rPr lang="en-IN" dirty="0" err="1">
                <a:latin typeface="Times New Roman" panose="02020603050405020304" pitchFamily="18" charset="0"/>
                <a:cs typeface="Times New Roman" panose="02020603050405020304" pitchFamily="18" charset="0"/>
              </a:rPr>
              <a:t>Emp_id</a:t>
            </a:r>
            <a:r>
              <a:rPr lang="en-IN" dirty="0">
                <a:latin typeface="Times New Roman" panose="02020603050405020304" pitchFamily="18" charset="0"/>
                <a:cs typeface="Times New Roman" panose="02020603050405020304" pitchFamily="18" charset="0"/>
              </a:rPr>
              <a:t> INT(6) UNSIGNED AUTO_INCREMENT PRIMARY KEY,</a:t>
            </a:r>
          </a:p>
          <a:p>
            <a:pPr marL="0" indent="0">
              <a:buNone/>
            </a:pPr>
            <a:r>
              <a:rPr lang="en-IN" dirty="0" err="1">
                <a:latin typeface="Times New Roman" panose="02020603050405020304" pitchFamily="18" charset="0"/>
                <a:cs typeface="Times New Roman" panose="02020603050405020304" pitchFamily="18" charset="0"/>
              </a:rPr>
              <a:t>Emp_name</a:t>
            </a:r>
            <a:r>
              <a:rPr lang="en-IN" dirty="0">
                <a:latin typeface="Times New Roman" panose="02020603050405020304" pitchFamily="18" charset="0"/>
                <a:cs typeface="Times New Roman" panose="02020603050405020304" pitchFamily="18" charset="0"/>
              </a:rPr>
              <a:t> VARCHAR(30),</a:t>
            </a:r>
          </a:p>
          <a:p>
            <a:pPr marL="0" indent="0">
              <a:buNone/>
            </a:pPr>
            <a:r>
              <a:rPr lang="en-IN" dirty="0">
                <a:latin typeface="Times New Roman" panose="02020603050405020304" pitchFamily="18" charset="0"/>
                <a:cs typeface="Times New Roman" panose="02020603050405020304" pitchFamily="18" charset="0"/>
              </a:rPr>
              <a:t>Mobile INT(10),</a:t>
            </a:r>
          </a:p>
          <a:p>
            <a:pPr marL="0" indent="0">
              <a:buNone/>
            </a:pPr>
            <a:r>
              <a:rPr lang="en-IN" dirty="0">
                <a:latin typeface="Times New Roman" panose="02020603050405020304" pitchFamily="18" charset="0"/>
                <a:cs typeface="Times New Roman" panose="02020603050405020304" pitchFamily="18" charset="0"/>
              </a:rPr>
              <a:t>Email VARCHAR(50),</a:t>
            </a:r>
          </a:p>
          <a:p>
            <a:pPr marL="0" indent="0">
              <a:buNone/>
            </a:pPr>
            <a:r>
              <a:rPr lang="en-IN" dirty="0">
                <a:latin typeface="Times New Roman" panose="02020603050405020304" pitchFamily="18" charset="0"/>
                <a:cs typeface="Times New Roman" panose="02020603050405020304" pitchFamily="18" charset="0"/>
              </a:rPr>
              <a:t>Salary INT(6)</a:t>
            </a:r>
          </a:p>
          <a:p>
            <a:pPr marL="0" indent="0">
              <a:buNone/>
            </a:pPr>
            <a:r>
              <a:rPr lang="en-IN"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295452064"/>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52CAD9-C226-79F8-FB50-CC94F2272A6F}"/>
              </a:ext>
            </a:extLst>
          </p:cNvPr>
          <p:cNvSpPr>
            <a:spLocks noGrp="1"/>
          </p:cNvSpPr>
          <p:nvPr>
            <p:ph idx="1"/>
          </p:nvPr>
        </p:nvSpPr>
        <p:spPr/>
        <p:txBody>
          <a:bodyPr>
            <a:normAutofit lnSpcReduction="10000"/>
          </a:bodyPr>
          <a:lstStyle/>
          <a:p>
            <a:pPr marL="0" indent="0">
              <a:buNone/>
            </a:pPr>
            <a:r>
              <a:rPr lang="en-IN" dirty="0">
                <a:latin typeface="Times New Roman" panose="02020603050405020304" pitchFamily="18" charset="0"/>
                <a:cs typeface="Times New Roman" panose="02020603050405020304" pitchFamily="18" charset="0"/>
              </a:rPr>
              <a:t>if ($conn-&gt;query($</a:t>
            </a:r>
            <a:r>
              <a:rPr lang="en-IN" dirty="0" err="1">
                <a:latin typeface="Times New Roman" panose="02020603050405020304" pitchFamily="18" charset="0"/>
                <a:cs typeface="Times New Roman" panose="02020603050405020304" pitchFamily="18" charset="0"/>
              </a:rPr>
              <a:t>sql</a:t>
            </a:r>
            <a:r>
              <a:rPr lang="en-IN" dirty="0">
                <a:latin typeface="Times New Roman" panose="02020603050405020304" pitchFamily="18" charset="0"/>
                <a:cs typeface="Times New Roman" panose="02020603050405020304" pitchFamily="18" charset="0"/>
              </a:rPr>
              <a:t>) === TRUE) {</a:t>
            </a:r>
          </a:p>
          <a:p>
            <a:pPr marL="0" indent="0">
              <a:buNone/>
            </a:pPr>
            <a:r>
              <a:rPr lang="en-IN" dirty="0">
                <a:latin typeface="Times New Roman" panose="02020603050405020304" pitchFamily="18" charset="0"/>
                <a:cs typeface="Times New Roman" panose="02020603050405020304" pitchFamily="18" charset="0"/>
              </a:rPr>
              <a:t>  echo "Table Employee created successfully";</a:t>
            </a:r>
          </a:p>
          <a:p>
            <a:pPr marL="0" indent="0">
              <a:buNone/>
            </a:pPr>
            <a:r>
              <a:rPr lang="en-IN" dirty="0">
                <a:latin typeface="Times New Roman" panose="02020603050405020304" pitchFamily="18" charset="0"/>
                <a:cs typeface="Times New Roman" panose="02020603050405020304" pitchFamily="18" charset="0"/>
              </a:rPr>
              <a:t>} </a:t>
            </a:r>
          </a:p>
          <a:p>
            <a:pPr marL="0" indent="0">
              <a:buNone/>
            </a:pPr>
            <a:r>
              <a:rPr lang="en-IN" dirty="0">
                <a:latin typeface="Times New Roman" panose="02020603050405020304" pitchFamily="18" charset="0"/>
                <a:cs typeface="Times New Roman" panose="02020603050405020304" pitchFamily="18" charset="0"/>
              </a:rPr>
              <a:t>else {</a:t>
            </a:r>
          </a:p>
          <a:p>
            <a:pPr marL="0" indent="0">
              <a:buNone/>
            </a:pPr>
            <a:r>
              <a:rPr lang="en-IN" dirty="0">
                <a:latin typeface="Times New Roman" panose="02020603050405020304" pitchFamily="18" charset="0"/>
                <a:cs typeface="Times New Roman" panose="02020603050405020304" pitchFamily="18" charset="0"/>
              </a:rPr>
              <a:t>  echo "Error creating table: " . $conn-&gt;error;</a:t>
            </a:r>
          </a:p>
          <a:p>
            <a:pPr marL="0" indent="0">
              <a:buNone/>
            </a:pPr>
            <a:r>
              <a:rPr lang="en-IN" dirty="0">
                <a:latin typeface="Times New Roman" panose="02020603050405020304" pitchFamily="18" charset="0"/>
                <a:cs typeface="Times New Roman" panose="02020603050405020304" pitchFamily="18" charset="0"/>
              </a:rPr>
              <a:t>}</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$conn-&gt;close();</a:t>
            </a:r>
          </a:p>
          <a:p>
            <a:pPr marL="0" indent="0">
              <a:buNone/>
            </a:pPr>
            <a:r>
              <a:rPr lang="en-IN" dirty="0">
                <a:latin typeface="Times New Roman" panose="02020603050405020304" pitchFamily="18" charset="0"/>
                <a:cs typeface="Times New Roman" panose="02020603050405020304" pitchFamily="18" charset="0"/>
              </a:rPr>
              <a:t>?&gt;</a:t>
            </a:r>
          </a:p>
        </p:txBody>
      </p:sp>
    </p:spTree>
    <p:extLst>
      <p:ext uri="{BB962C8B-B14F-4D97-AF65-F5344CB8AC3E}">
        <p14:creationId xmlns:p14="http://schemas.microsoft.com/office/powerpoint/2010/main" val="720537042"/>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3C59B-FD26-307D-6243-F968DECBA989}"/>
              </a:ext>
            </a:extLst>
          </p:cNvPr>
          <p:cNvSpPr>
            <a:spLocks noGrp="1"/>
          </p:cNvSpPr>
          <p:nvPr>
            <p:ph type="title"/>
          </p:nvPr>
        </p:nvSpPr>
        <p:spPr/>
        <p:txBody>
          <a:bodyPr/>
          <a:lstStyle/>
          <a:p>
            <a:r>
              <a:rPr lang="en-IN" b="0" i="0" dirty="0">
                <a:solidFill>
                  <a:srgbClr val="000000"/>
                </a:solidFill>
                <a:effectLst/>
                <a:latin typeface="Times New Roman" panose="02020603050405020304" pitchFamily="18" charset="0"/>
                <a:cs typeface="Times New Roman" panose="02020603050405020304" pitchFamily="18" charset="0"/>
              </a:rPr>
              <a:t>PHP MySQL Insert Data</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385E053-CC86-B190-070A-24356CC6A672}"/>
              </a:ext>
            </a:extLst>
          </p:cNvPr>
          <p:cNvSpPr>
            <a:spLocks noGrp="1"/>
          </p:cNvSpPr>
          <p:nvPr>
            <p:ph idx="1"/>
          </p:nvPr>
        </p:nvSpPr>
        <p:spPr/>
        <p:txBody>
          <a:bodyPr/>
          <a:lstStyle/>
          <a:p>
            <a:pPr algn="just"/>
            <a:r>
              <a:rPr lang="en-US" b="0" i="0" dirty="0">
                <a:solidFill>
                  <a:srgbClr val="000000"/>
                </a:solidFill>
                <a:effectLst/>
                <a:latin typeface="Times New Roman" panose="02020603050405020304" pitchFamily="18" charset="0"/>
                <a:cs typeface="Times New Roman" panose="02020603050405020304" pitchFamily="18" charset="0"/>
              </a:rPr>
              <a:t>After a database and a table have been created, we can start adding data in them.</a:t>
            </a:r>
          </a:p>
          <a:p>
            <a:pPr marL="0" indent="0" algn="just">
              <a:buNone/>
            </a:pPr>
            <a:r>
              <a:rPr lang="en-US" b="1" i="0" dirty="0">
                <a:solidFill>
                  <a:srgbClr val="000000"/>
                </a:solidFill>
                <a:effectLst/>
                <a:latin typeface="Times New Roman" panose="02020603050405020304" pitchFamily="18" charset="0"/>
                <a:cs typeface="Times New Roman" panose="02020603050405020304" pitchFamily="18" charset="0"/>
              </a:rPr>
              <a:t>Here are some syntax rules to follow:</a:t>
            </a:r>
          </a:p>
          <a:p>
            <a:pPr algn="just">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The SQL query must be quoted in PHP</a:t>
            </a:r>
          </a:p>
          <a:p>
            <a:pPr algn="just">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String values inside the SQL query must be quoted</a:t>
            </a:r>
          </a:p>
          <a:p>
            <a:pPr algn="just">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Numeric values must not be quoted</a:t>
            </a:r>
          </a:p>
          <a:p>
            <a:pPr algn="just">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The word NULL must not be quoted</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793063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60E08D-288D-1150-898B-5B3D1EC824BC}"/>
              </a:ext>
            </a:extLst>
          </p:cNvPr>
          <p:cNvSpPr>
            <a:spLocks noGrp="1"/>
          </p:cNvSpPr>
          <p:nvPr>
            <p:ph idx="1"/>
          </p:nvPr>
        </p:nvSpPr>
        <p:spPr/>
        <p:txBody>
          <a:bodyPr/>
          <a:lstStyle/>
          <a:p>
            <a:r>
              <a:rPr lang="en-US" b="0" i="0" dirty="0">
                <a:solidFill>
                  <a:srgbClr val="000000"/>
                </a:solidFill>
                <a:effectLst/>
                <a:latin typeface="Times New Roman" panose="02020603050405020304" pitchFamily="18" charset="0"/>
                <a:cs typeface="Times New Roman" panose="02020603050405020304" pitchFamily="18" charset="0"/>
              </a:rPr>
              <a:t>The INSERT INTO statement is used to add new records to a MySQL table: </a:t>
            </a:r>
          </a:p>
          <a:p>
            <a:pPr marL="0" indent="0">
              <a:buNone/>
            </a:pPr>
            <a:r>
              <a:rPr lang="en-US" b="0" i="0" dirty="0">
                <a:solidFill>
                  <a:srgbClr val="7030A0"/>
                </a:solidFill>
                <a:effectLst/>
                <a:latin typeface="Times New Roman" panose="02020603050405020304" pitchFamily="18" charset="0"/>
                <a:cs typeface="Times New Roman" panose="02020603050405020304" pitchFamily="18" charset="0"/>
              </a:rPr>
              <a:t>INSERT INTO </a:t>
            </a:r>
            <a:r>
              <a:rPr lang="en-US" b="0" i="0" dirty="0" err="1">
                <a:solidFill>
                  <a:srgbClr val="7030A0"/>
                </a:solidFill>
                <a:effectLst/>
                <a:latin typeface="Times New Roman" panose="02020603050405020304" pitchFamily="18" charset="0"/>
                <a:cs typeface="Times New Roman" panose="02020603050405020304" pitchFamily="18" charset="0"/>
              </a:rPr>
              <a:t>table_name</a:t>
            </a:r>
            <a:r>
              <a:rPr lang="en-US" b="0" i="0" dirty="0">
                <a:solidFill>
                  <a:srgbClr val="7030A0"/>
                </a:solidFill>
                <a:effectLst/>
                <a:latin typeface="Times New Roman" panose="02020603050405020304" pitchFamily="18" charset="0"/>
                <a:cs typeface="Times New Roman" panose="02020603050405020304" pitchFamily="18" charset="0"/>
              </a:rPr>
              <a:t> (column1, column2, column3,...)</a:t>
            </a:r>
            <a:r>
              <a:rPr lang="en-US" dirty="0">
                <a:solidFill>
                  <a:srgbClr val="7030A0"/>
                </a:solidFill>
                <a:latin typeface="Times New Roman" panose="02020603050405020304" pitchFamily="18" charset="0"/>
                <a:cs typeface="Times New Roman" panose="02020603050405020304" pitchFamily="18" charset="0"/>
              </a:rPr>
              <a:t/>
            </a:r>
            <a:br>
              <a:rPr lang="en-US" dirty="0">
                <a:solidFill>
                  <a:srgbClr val="7030A0"/>
                </a:solidFill>
                <a:latin typeface="Times New Roman" panose="02020603050405020304" pitchFamily="18" charset="0"/>
                <a:cs typeface="Times New Roman" panose="02020603050405020304" pitchFamily="18" charset="0"/>
              </a:rPr>
            </a:br>
            <a:r>
              <a:rPr lang="en-US" b="0" i="0" dirty="0">
                <a:solidFill>
                  <a:srgbClr val="7030A0"/>
                </a:solidFill>
                <a:effectLst/>
                <a:latin typeface="Times New Roman" panose="02020603050405020304" pitchFamily="18" charset="0"/>
                <a:cs typeface="Times New Roman" panose="02020603050405020304" pitchFamily="18" charset="0"/>
              </a:rPr>
              <a:t>VALUES (value1, value2, value3,...)</a:t>
            </a:r>
            <a:endParaRPr lang="en-IN"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2560579"/>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C0287-1994-BE4C-C8E8-CDDFD4C3B28B}"/>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Example</a:t>
            </a:r>
          </a:p>
        </p:txBody>
      </p:sp>
      <p:sp>
        <p:nvSpPr>
          <p:cNvPr id="3" name="Content Placeholder 2">
            <a:extLst>
              <a:ext uri="{FF2B5EF4-FFF2-40B4-BE49-F238E27FC236}">
                <a16:creationId xmlns:a16="http://schemas.microsoft.com/office/drawing/2014/main" id="{534AF7E5-055C-D734-2E31-EFDEF78C5EF9}"/>
              </a:ext>
            </a:extLst>
          </p:cNvPr>
          <p:cNvSpPr>
            <a:spLocks noGrp="1"/>
          </p:cNvSpPr>
          <p:nvPr>
            <p:ph idx="1"/>
          </p:nvPr>
        </p:nvSpPr>
        <p:spPr>
          <a:xfrm>
            <a:off x="838200" y="1484671"/>
            <a:ext cx="10515600" cy="4692292"/>
          </a:xfrm>
        </p:spPr>
        <p:txBody>
          <a:bodyPr>
            <a:normAutofit fontScale="85000" lnSpcReduction="20000"/>
          </a:bodyPr>
          <a:lstStyle/>
          <a:p>
            <a:pPr marL="0" indent="0">
              <a:buNone/>
            </a:pPr>
            <a:r>
              <a:rPr lang="en-IN" dirty="0">
                <a:latin typeface="Times New Roman" panose="02020603050405020304" pitchFamily="18" charset="0"/>
                <a:cs typeface="Times New Roman" panose="02020603050405020304" pitchFamily="18" charset="0"/>
              </a:rPr>
              <a:t>&lt;?</a:t>
            </a:r>
            <a:r>
              <a:rPr lang="en-IN" dirty="0" err="1">
                <a:latin typeface="Times New Roman" panose="02020603050405020304" pitchFamily="18" charset="0"/>
                <a:cs typeface="Times New Roman" panose="02020603050405020304" pitchFamily="18" charset="0"/>
              </a:rPr>
              <a:t>php</a:t>
            </a: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servername</a:t>
            </a:r>
            <a:r>
              <a:rPr lang="en-IN" dirty="0">
                <a:latin typeface="Times New Roman" panose="02020603050405020304" pitchFamily="18" charset="0"/>
                <a:cs typeface="Times New Roman" panose="02020603050405020304" pitchFamily="18" charset="0"/>
              </a:rPr>
              <a:t> = "localhost";</a:t>
            </a:r>
          </a:p>
          <a:p>
            <a:pPr marL="0" indent="0">
              <a:buNone/>
            </a:pPr>
            <a:r>
              <a:rPr lang="en-IN" dirty="0">
                <a:latin typeface="Times New Roman" panose="02020603050405020304" pitchFamily="18" charset="0"/>
                <a:cs typeface="Times New Roman" panose="02020603050405020304" pitchFamily="18" charset="0"/>
              </a:rPr>
              <a:t>$username = "root";</a:t>
            </a:r>
          </a:p>
          <a:p>
            <a:pPr marL="0" indent="0">
              <a:buNone/>
            </a:pPr>
            <a:r>
              <a:rPr lang="en-IN" dirty="0">
                <a:latin typeface="Times New Roman" panose="02020603050405020304" pitchFamily="18" charset="0"/>
                <a:cs typeface="Times New Roman" panose="02020603050405020304" pitchFamily="18" charset="0"/>
              </a:rPr>
              <a:t>$password = "";</a:t>
            </a:r>
          </a:p>
          <a:p>
            <a:pPr marL="0" indent="0">
              <a:buNone/>
            </a:pP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dbname</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myDB</a:t>
            </a:r>
            <a:r>
              <a:rPr lang="en-IN" dirty="0">
                <a:latin typeface="Times New Roman" panose="02020603050405020304" pitchFamily="18" charset="0"/>
                <a:cs typeface="Times New Roman" panose="02020603050405020304" pitchFamily="18" charset="0"/>
              </a:rPr>
              <a:t>";</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b="1" dirty="0">
                <a:solidFill>
                  <a:srgbClr val="7030A0"/>
                </a:solidFill>
                <a:latin typeface="Times New Roman" panose="02020603050405020304" pitchFamily="18" charset="0"/>
                <a:cs typeface="Times New Roman" panose="02020603050405020304" pitchFamily="18" charset="0"/>
              </a:rPr>
              <a:t>// Create connection</a:t>
            </a:r>
          </a:p>
          <a:p>
            <a:pPr marL="0" indent="0">
              <a:buNone/>
            </a:pPr>
            <a:r>
              <a:rPr lang="en-IN" dirty="0">
                <a:latin typeface="Times New Roman" panose="02020603050405020304" pitchFamily="18" charset="0"/>
                <a:cs typeface="Times New Roman" panose="02020603050405020304" pitchFamily="18" charset="0"/>
              </a:rPr>
              <a:t>$conn = new </a:t>
            </a:r>
            <a:r>
              <a:rPr lang="en-IN" dirty="0" err="1">
                <a:latin typeface="Times New Roman" panose="02020603050405020304" pitchFamily="18" charset="0"/>
                <a:cs typeface="Times New Roman" panose="02020603050405020304" pitchFamily="18" charset="0"/>
              </a:rPr>
              <a:t>mysqli</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servername</a:t>
            </a:r>
            <a:r>
              <a:rPr lang="en-IN" dirty="0">
                <a:latin typeface="Times New Roman" panose="02020603050405020304" pitchFamily="18" charset="0"/>
                <a:cs typeface="Times New Roman" panose="02020603050405020304" pitchFamily="18" charset="0"/>
              </a:rPr>
              <a:t>, $username, $password, $</a:t>
            </a:r>
            <a:r>
              <a:rPr lang="en-IN" dirty="0" err="1">
                <a:latin typeface="Times New Roman" panose="02020603050405020304" pitchFamily="18" charset="0"/>
                <a:cs typeface="Times New Roman" panose="02020603050405020304" pitchFamily="18" charset="0"/>
              </a:rPr>
              <a:t>dbname</a:t>
            </a:r>
            <a:r>
              <a:rPr lang="en-IN" dirty="0">
                <a:latin typeface="Times New Roman" panose="02020603050405020304" pitchFamily="18" charset="0"/>
                <a:cs typeface="Times New Roman" panose="02020603050405020304" pitchFamily="18" charset="0"/>
              </a:rPr>
              <a:t>);</a:t>
            </a:r>
          </a:p>
          <a:p>
            <a:pPr marL="0" indent="0">
              <a:buNone/>
            </a:pPr>
            <a:r>
              <a:rPr lang="en-IN" b="1" dirty="0">
                <a:solidFill>
                  <a:srgbClr val="7030A0"/>
                </a:solidFill>
                <a:latin typeface="Times New Roman" panose="02020603050405020304" pitchFamily="18" charset="0"/>
                <a:cs typeface="Times New Roman" panose="02020603050405020304" pitchFamily="18" charset="0"/>
              </a:rPr>
              <a:t>// Check connection</a:t>
            </a:r>
          </a:p>
          <a:p>
            <a:pPr marL="0" indent="0">
              <a:buNone/>
            </a:pPr>
            <a:r>
              <a:rPr lang="en-IN" dirty="0">
                <a:latin typeface="Times New Roman" panose="02020603050405020304" pitchFamily="18" charset="0"/>
                <a:cs typeface="Times New Roman" panose="02020603050405020304" pitchFamily="18" charset="0"/>
              </a:rPr>
              <a:t>if ($conn-&gt;</a:t>
            </a:r>
            <a:r>
              <a:rPr lang="en-IN" dirty="0" err="1">
                <a:latin typeface="Times New Roman" panose="02020603050405020304" pitchFamily="18" charset="0"/>
                <a:cs typeface="Times New Roman" panose="02020603050405020304" pitchFamily="18" charset="0"/>
              </a:rPr>
              <a:t>connect_error</a:t>
            </a:r>
            <a:r>
              <a:rPr lang="en-IN" dirty="0">
                <a:latin typeface="Times New Roman" panose="02020603050405020304" pitchFamily="18" charset="0"/>
                <a:cs typeface="Times New Roman" panose="02020603050405020304" pitchFamily="18" charset="0"/>
              </a:rPr>
              <a:t>) {</a:t>
            </a:r>
          </a:p>
          <a:p>
            <a:pPr marL="0" indent="0">
              <a:buNone/>
            </a:pPr>
            <a:r>
              <a:rPr lang="en-IN" dirty="0">
                <a:latin typeface="Times New Roman" panose="02020603050405020304" pitchFamily="18" charset="0"/>
                <a:cs typeface="Times New Roman" panose="02020603050405020304" pitchFamily="18" charset="0"/>
              </a:rPr>
              <a:t>  die("Connection failed: " . $conn-&gt;</a:t>
            </a:r>
            <a:r>
              <a:rPr lang="en-IN" dirty="0" err="1">
                <a:latin typeface="Times New Roman" panose="02020603050405020304" pitchFamily="18" charset="0"/>
                <a:cs typeface="Times New Roman" panose="02020603050405020304" pitchFamily="18" charset="0"/>
              </a:rPr>
              <a:t>connect_error</a:t>
            </a:r>
            <a:r>
              <a:rPr lang="en-IN" dirty="0">
                <a:latin typeface="Times New Roman" panose="02020603050405020304" pitchFamily="18" charset="0"/>
                <a:cs typeface="Times New Roman" panose="02020603050405020304" pitchFamily="18" charset="0"/>
              </a:rPr>
              <a:t>);</a:t>
            </a:r>
          </a:p>
          <a:p>
            <a:pPr marL="0" indent="0">
              <a:buNone/>
            </a:pPr>
            <a:r>
              <a:rPr lang="en-IN"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89146515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A0AB61-0C60-39B2-C221-18285FD59C7D}"/>
              </a:ext>
            </a:extLst>
          </p:cNvPr>
          <p:cNvSpPr>
            <a:spLocks noGrp="1"/>
          </p:cNvSpPr>
          <p:nvPr>
            <p:ph idx="1"/>
          </p:nvPr>
        </p:nvSpPr>
        <p:spPr/>
        <p:txBody>
          <a:bodyPr>
            <a:normAutofit fontScale="85000" lnSpcReduction="20000"/>
          </a:bodyPr>
          <a:lstStyle/>
          <a:p>
            <a:pPr marL="0" indent="0">
              <a:buNone/>
            </a:pP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sql</a:t>
            </a:r>
            <a:r>
              <a:rPr lang="en-IN" dirty="0">
                <a:latin typeface="Times New Roman" panose="02020603050405020304" pitchFamily="18" charset="0"/>
                <a:cs typeface="Times New Roman" panose="02020603050405020304" pitchFamily="18" charset="0"/>
              </a:rPr>
              <a:t> = "INSERT INTO Employee (</a:t>
            </a:r>
            <a:r>
              <a:rPr lang="en-IN" dirty="0" err="1">
                <a:latin typeface="Times New Roman" panose="02020603050405020304" pitchFamily="18" charset="0"/>
                <a:cs typeface="Times New Roman" panose="02020603050405020304" pitchFamily="18" charset="0"/>
              </a:rPr>
              <a:t>Emp_id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Emp_name</a:t>
            </a:r>
            <a:r>
              <a:rPr lang="en-IN" dirty="0">
                <a:latin typeface="Times New Roman" panose="02020603050405020304" pitchFamily="18" charset="0"/>
                <a:cs typeface="Times New Roman" panose="02020603050405020304" pitchFamily="18" charset="0"/>
              </a:rPr>
              <a:t>, Mobile, Email, Salary)</a:t>
            </a:r>
          </a:p>
          <a:p>
            <a:pPr marL="0" indent="0">
              <a:buNone/>
            </a:pPr>
            <a:r>
              <a:rPr lang="en-IN" dirty="0">
                <a:latin typeface="Times New Roman" panose="02020603050405020304" pitchFamily="18" charset="0"/>
                <a:cs typeface="Times New Roman" panose="02020603050405020304" pitchFamily="18" charset="0"/>
              </a:rPr>
              <a:t>VALUES (1, 'Harshith', 123456, 'harshith@gmail.com', 50000)";</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if ($conn-&gt;query($</a:t>
            </a:r>
            <a:r>
              <a:rPr lang="en-IN" dirty="0" err="1">
                <a:latin typeface="Times New Roman" panose="02020603050405020304" pitchFamily="18" charset="0"/>
                <a:cs typeface="Times New Roman" panose="02020603050405020304" pitchFamily="18" charset="0"/>
              </a:rPr>
              <a:t>sql</a:t>
            </a:r>
            <a:r>
              <a:rPr lang="en-IN" dirty="0">
                <a:latin typeface="Times New Roman" panose="02020603050405020304" pitchFamily="18" charset="0"/>
                <a:cs typeface="Times New Roman" panose="02020603050405020304" pitchFamily="18" charset="0"/>
              </a:rPr>
              <a:t>) === TRUE) {</a:t>
            </a:r>
          </a:p>
          <a:p>
            <a:pPr marL="0" indent="0">
              <a:buNone/>
            </a:pPr>
            <a:r>
              <a:rPr lang="en-IN" dirty="0">
                <a:latin typeface="Times New Roman" panose="02020603050405020304" pitchFamily="18" charset="0"/>
                <a:cs typeface="Times New Roman" panose="02020603050405020304" pitchFamily="18" charset="0"/>
              </a:rPr>
              <a:t>  echo "New record created successfully";</a:t>
            </a:r>
          </a:p>
          <a:p>
            <a:pPr marL="0" indent="0">
              <a:buNone/>
            </a:pPr>
            <a:r>
              <a:rPr lang="en-IN" dirty="0">
                <a:latin typeface="Times New Roman" panose="02020603050405020304" pitchFamily="18" charset="0"/>
                <a:cs typeface="Times New Roman" panose="02020603050405020304" pitchFamily="18" charset="0"/>
              </a:rPr>
              <a:t>} else {</a:t>
            </a:r>
          </a:p>
          <a:p>
            <a:pPr marL="0" indent="0">
              <a:buNone/>
            </a:pPr>
            <a:r>
              <a:rPr lang="en-IN" dirty="0">
                <a:latin typeface="Times New Roman" panose="02020603050405020304" pitchFamily="18" charset="0"/>
                <a:cs typeface="Times New Roman" panose="02020603050405020304" pitchFamily="18" charset="0"/>
              </a:rPr>
              <a:t>  echo "Error: " . $</a:t>
            </a:r>
            <a:r>
              <a:rPr lang="en-IN" dirty="0" err="1">
                <a:latin typeface="Times New Roman" panose="02020603050405020304" pitchFamily="18" charset="0"/>
                <a:cs typeface="Times New Roman" panose="02020603050405020304" pitchFamily="18" charset="0"/>
              </a:rPr>
              <a:t>sql</a:t>
            </a:r>
            <a:r>
              <a:rPr lang="en-IN" dirty="0">
                <a:latin typeface="Times New Roman" panose="02020603050405020304" pitchFamily="18" charset="0"/>
                <a:cs typeface="Times New Roman" panose="02020603050405020304" pitchFamily="18" charset="0"/>
              </a:rPr>
              <a:t> . "&lt;</a:t>
            </a:r>
            <a:r>
              <a:rPr lang="en-IN" dirty="0" err="1">
                <a:latin typeface="Times New Roman" panose="02020603050405020304" pitchFamily="18" charset="0"/>
                <a:cs typeface="Times New Roman" panose="02020603050405020304" pitchFamily="18" charset="0"/>
              </a:rPr>
              <a:t>br</a:t>
            </a:r>
            <a:r>
              <a:rPr lang="en-IN" dirty="0">
                <a:latin typeface="Times New Roman" panose="02020603050405020304" pitchFamily="18" charset="0"/>
                <a:cs typeface="Times New Roman" panose="02020603050405020304" pitchFamily="18" charset="0"/>
              </a:rPr>
              <a:t>&gt;" . $conn-&gt;error;</a:t>
            </a:r>
          </a:p>
          <a:p>
            <a:pPr marL="0" indent="0">
              <a:buNone/>
            </a:pPr>
            <a:r>
              <a:rPr lang="en-IN" dirty="0">
                <a:latin typeface="Times New Roman" panose="02020603050405020304" pitchFamily="18" charset="0"/>
                <a:cs typeface="Times New Roman" panose="02020603050405020304" pitchFamily="18" charset="0"/>
              </a:rPr>
              <a:t>}</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$conn-&gt;close();</a:t>
            </a:r>
          </a:p>
          <a:p>
            <a:pPr marL="0" indent="0">
              <a:buNone/>
            </a:pPr>
            <a:r>
              <a:rPr lang="en-IN" dirty="0">
                <a:latin typeface="Times New Roman" panose="02020603050405020304" pitchFamily="18" charset="0"/>
                <a:cs typeface="Times New Roman" panose="02020603050405020304" pitchFamily="18" charset="0"/>
              </a:rPr>
              <a:t>?&gt;</a:t>
            </a:r>
          </a:p>
        </p:txBody>
      </p:sp>
    </p:spTree>
    <p:extLst>
      <p:ext uri="{BB962C8B-B14F-4D97-AF65-F5344CB8AC3E}">
        <p14:creationId xmlns:p14="http://schemas.microsoft.com/office/powerpoint/2010/main" val="2537793414"/>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E6177-2D10-D3AC-785B-ED67BD3192D1}"/>
              </a:ext>
            </a:extLst>
          </p:cNvPr>
          <p:cNvSpPr>
            <a:spLocks noGrp="1"/>
          </p:cNvSpPr>
          <p:nvPr>
            <p:ph type="title"/>
          </p:nvPr>
        </p:nvSpPr>
        <p:spPr/>
        <p:txBody>
          <a:bodyPr/>
          <a:lstStyle/>
          <a:p>
            <a:r>
              <a:rPr lang="en-IN" b="0" i="0" dirty="0">
                <a:solidFill>
                  <a:srgbClr val="000000"/>
                </a:solidFill>
                <a:effectLst/>
                <a:latin typeface="Times New Roman" panose="02020603050405020304" pitchFamily="18" charset="0"/>
                <a:cs typeface="Times New Roman" panose="02020603050405020304" pitchFamily="18" charset="0"/>
              </a:rPr>
              <a:t>PHP MySQL Insert Multiple Records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61DE8FF-42DC-BFD7-D841-E7DB8031B4B6}"/>
              </a:ext>
            </a:extLst>
          </p:cNvPr>
          <p:cNvSpPr>
            <a:spLocks noGrp="1"/>
          </p:cNvSpPr>
          <p:nvPr>
            <p:ph idx="1"/>
          </p:nvPr>
        </p:nvSpPr>
        <p:spPr/>
        <p:txBody>
          <a:bodyPr>
            <a:normAutofit fontScale="77500" lnSpcReduction="20000"/>
          </a:bodyPr>
          <a:lstStyle/>
          <a:p>
            <a:pPr marL="0" indent="0">
              <a:buNone/>
            </a:pPr>
            <a:r>
              <a:rPr lang="en-IN" dirty="0">
                <a:latin typeface="Times New Roman" panose="02020603050405020304" pitchFamily="18" charset="0"/>
                <a:cs typeface="Times New Roman" panose="02020603050405020304" pitchFamily="18" charset="0"/>
              </a:rPr>
              <a:t>&lt;?</a:t>
            </a:r>
            <a:r>
              <a:rPr lang="en-IN" dirty="0" err="1">
                <a:latin typeface="Times New Roman" panose="02020603050405020304" pitchFamily="18" charset="0"/>
                <a:cs typeface="Times New Roman" panose="02020603050405020304" pitchFamily="18" charset="0"/>
              </a:rPr>
              <a:t>php</a:t>
            </a: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servername</a:t>
            </a:r>
            <a:r>
              <a:rPr lang="en-IN" dirty="0">
                <a:latin typeface="Times New Roman" panose="02020603050405020304" pitchFamily="18" charset="0"/>
                <a:cs typeface="Times New Roman" panose="02020603050405020304" pitchFamily="18" charset="0"/>
              </a:rPr>
              <a:t> = "localhost";</a:t>
            </a:r>
          </a:p>
          <a:p>
            <a:pPr marL="0" indent="0">
              <a:buNone/>
            </a:pPr>
            <a:r>
              <a:rPr lang="en-IN" dirty="0">
                <a:latin typeface="Times New Roman" panose="02020603050405020304" pitchFamily="18" charset="0"/>
                <a:cs typeface="Times New Roman" panose="02020603050405020304" pitchFamily="18" charset="0"/>
              </a:rPr>
              <a:t>$username = "root";</a:t>
            </a:r>
          </a:p>
          <a:p>
            <a:pPr marL="0" indent="0">
              <a:buNone/>
            </a:pPr>
            <a:r>
              <a:rPr lang="en-IN" dirty="0">
                <a:latin typeface="Times New Roman" panose="02020603050405020304" pitchFamily="18" charset="0"/>
                <a:cs typeface="Times New Roman" panose="02020603050405020304" pitchFamily="18" charset="0"/>
              </a:rPr>
              <a:t>$password = "";</a:t>
            </a:r>
          </a:p>
          <a:p>
            <a:pPr marL="0" indent="0">
              <a:buNone/>
            </a:pP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dbname</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myDB</a:t>
            </a:r>
            <a:r>
              <a:rPr lang="en-IN" dirty="0">
                <a:latin typeface="Times New Roman" panose="02020603050405020304" pitchFamily="18" charset="0"/>
                <a:cs typeface="Times New Roman" panose="02020603050405020304" pitchFamily="18" charset="0"/>
              </a:rPr>
              <a:t>";</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b="1" dirty="0">
                <a:solidFill>
                  <a:srgbClr val="7030A0"/>
                </a:solidFill>
                <a:latin typeface="Times New Roman" panose="02020603050405020304" pitchFamily="18" charset="0"/>
                <a:cs typeface="Times New Roman" panose="02020603050405020304" pitchFamily="18" charset="0"/>
              </a:rPr>
              <a:t>// Create connection</a:t>
            </a:r>
          </a:p>
          <a:p>
            <a:pPr marL="0" indent="0">
              <a:buNone/>
            </a:pPr>
            <a:r>
              <a:rPr lang="en-IN" dirty="0">
                <a:latin typeface="Times New Roman" panose="02020603050405020304" pitchFamily="18" charset="0"/>
                <a:cs typeface="Times New Roman" panose="02020603050405020304" pitchFamily="18" charset="0"/>
              </a:rPr>
              <a:t>$conn = new </a:t>
            </a:r>
            <a:r>
              <a:rPr lang="en-IN" dirty="0" err="1">
                <a:latin typeface="Times New Roman" panose="02020603050405020304" pitchFamily="18" charset="0"/>
                <a:cs typeface="Times New Roman" panose="02020603050405020304" pitchFamily="18" charset="0"/>
              </a:rPr>
              <a:t>mysqli</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servername</a:t>
            </a:r>
            <a:r>
              <a:rPr lang="en-IN" dirty="0">
                <a:latin typeface="Times New Roman" panose="02020603050405020304" pitchFamily="18" charset="0"/>
                <a:cs typeface="Times New Roman" panose="02020603050405020304" pitchFamily="18" charset="0"/>
              </a:rPr>
              <a:t>, $username, $password, $</a:t>
            </a:r>
            <a:r>
              <a:rPr lang="en-IN" dirty="0" err="1">
                <a:latin typeface="Times New Roman" panose="02020603050405020304" pitchFamily="18" charset="0"/>
                <a:cs typeface="Times New Roman" panose="02020603050405020304" pitchFamily="18" charset="0"/>
              </a:rPr>
              <a:t>dbname</a:t>
            </a:r>
            <a:r>
              <a:rPr lang="en-IN" dirty="0">
                <a:latin typeface="Times New Roman" panose="02020603050405020304" pitchFamily="18" charset="0"/>
                <a:cs typeface="Times New Roman" panose="02020603050405020304" pitchFamily="18" charset="0"/>
              </a:rPr>
              <a:t>);</a:t>
            </a:r>
          </a:p>
          <a:p>
            <a:pPr marL="0" indent="0">
              <a:buNone/>
            </a:pPr>
            <a:r>
              <a:rPr lang="en-IN" b="1" dirty="0">
                <a:solidFill>
                  <a:srgbClr val="7030A0"/>
                </a:solidFill>
                <a:latin typeface="Times New Roman" panose="02020603050405020304" pitchFamily="18" charset="0"/>
                <a:cs typeface="Times New Roman" panose="02020603050405020304" pitchFamily="18" charset="0"/>
              </a:rPr>
              <a:t>// Check connection</a:t>
            </a:r>
          </a:p>
          <a:p>
            <a:pPr marL="0" indent="0">
              <a:buNone/>
            </a:pPr>
            <a:r>
              <a:rPr lang="en-IN" dirty="0">
                <a:latin typeface="Times New Roman" panose="02020603050405020304" pitchFamily="18" charset="0"/>
                <a:cs typeface="Times New Roman" panose="02020603050405020304" pitchFamily="18" charset="0"/>
              </a:rPr>
              <a:t>if ($conn-&gt;</a:t>
            </a:r>
            <a:r>
              <a:rPr lang="en-IN" dirty="0" err="1">
                <a:latin typeface="Times New Roman" panose="02020603050405020304" pitchFamily="18" charset="0"/>
                <a:cs typeface="Times New Roman" panose="02020603050405020304" pitchFamily="18" charset="0"/>
              </a:rPr>
              <a:t>connect_error</a:t>
            </a:r>
            <a:r>
              <a:rPr lang="en-IN" dirty="0">
                <a:latin typeface="Times New Roman" panose="02020603050405020304" pitchFamily="18" charset="0"/>
                <a:cs typeface="Times New Roman" panose="02020603050405020304" pitchFamily="18" charset="0"/>
              </a:rPr>
              <a:t>) {</a:t>
            </a:r>
          </a:p>
          <a:p>
            <a:pPr marL="0" indent="0">
              <a:buNone/>
            </a:pPr>
            <a:r>
              <a:rPr lang="en-IN" dirty="0">
                <a:latin typeface="Times New Roman" panose="02020603050405020304" pitchFamily="18" charset="0"/>
                <a:cs typeface="Times New Roman" panose="02020603050405020304" pitchFamily="18" charset="0"/>
              </a:rPr>
              <a:t>  die("Connection failed: " . $conn-&gt;</a:t>
            </a:r>
            <a:r>
              <a:rPr lang="en-IN" dirty="0" err="1">
                <a:latin typeface="Times New Roman" panose="02020603050405020304" pitchFamily="18" charset="0"/>
                <a:cs typeface="Times New Roman" panose="02020603050405020304" pitchFamily="18" charset="0"/>
              </a:rPr>
              <a:t>connect_error</a:t>
            </a:r>
            <a:r>
              <a:rPr lang="en-IN" dirty="0">
                <a:latin typeface="Times New Roman" panose="02020603050405020304" pitchFamily="18" charset="0"/>
                <a:cs typeface="Times New Roman" panose="02020603050405020304" pitchFamily="18" charset="0"/>
              </a:rPr>
              <a:t>);</a:t>
            </a:r>
          </a:p>
          <a:p>
            <a:pPr marL="0" indent="0">
              <a:buNone/>
            </a:pPr>
            <a:r>
              <a:rPr lang="en-IN"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260171217"/>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8715A7-0F5E-D937-EF44-A9AECF3EDE3D}"/>
              </a:ext>
            </a:extLst>
          </p:cNvPr>
          <p:cNvSpPr>
            <a:spLocks noGrp="1"/>
          </p:cNvSpPr>
          <p:nvPr>
            <p:ph idx="1"/>
          </p:nvPr>
        </p:nvSpPr>
        <p:spPr>
          <a:xfrm>
            <a:off x="838200" y="365125"/>
            <a:ext cx="10515600" cy="5811838"/>
          </a:xfrm>
        </p:spPr>
        <p:txBody>
          <a:bodyPr>
            <a:normAutofit fontScale="85000" lnSpcReduction="20000"/>
          </a:bodyPr>
          <a:lstStyle/>
          <a:p>
            <a:pPr marL="0" indent="0">
              <a:buNone/>
            </a:pP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sql</a:t>
            </a:r>
            <a:r>
              <a:rPr lang="en-IN" dirty="0">
                <a:latin typeface="Times New Roman" panose="02020603050405020304" pitchFamily="18" charset="0"/>
                <a:cs typeface="Times New Roman" panose="02020603050405020304" pitchFamily="18" charset="0"/>
              </a:rPr>
              <a:t> = "INSERT INTO Employee (</a:t>
            </a:r>
            <a:r>
              <a:rPr lang="en-IN" dirty="0" err="1">
                <a:latin typeface="Times New Roman" panose="02020603050405020304" pitchFamily="18" charset="0"/>
                <a:cs typeface="Times New Roman" panose="02020603050405020304" pitchFamily="18" charset="0"/>
              </a:rPr>
              <a:t>Emp_id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Emp_name</a:t>
            </a:r>
            <a:r>
              <a:rPr lang="en-IN" dirty="0">
                <a:latin typeface="Times New Roman" panose="02020603050405020304" pitchFamily="18" charset="0"/>
                <a:cs typeface="Times New Roman" panose="02020603050405020304" pitchFamily="18" charset="0"/>
              </a:rPr>
              <a:t>, Mobile, Email, Salary)</a:t>
            </a:r>
          </a:p>
          <a:p>
            <a:pPr marL="0" indent="0">
              <a:buNone/>
            </a:pPr>
            <a:r>
              <a:rPr lang="en-IN" dirty="0">
                <a:latin typeface="Times New Roman" panose="02020603050405020304" pitchFamily="18" charset="0"/>
                <a:cs typeface="Times New Roman" panose="02020603050405020304" pitchFamily="18" charset="0"/>
              </a:rPr>
              <a:t>VALUES (2, 'Vihaan', 995562, 'vihaan@gmail.com', 60000);";</a:t>
            </a:r>
          </a:p>
          <a:p>
            <a:pPr marL="0" indent="0">
              <a:buNone/>
            </a:pP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sql</a:t>
            </a:r>
            <a:r>
              <a:rPr lang="en-IN" dirty="0">
                <a:latin typeface="Times New Roman" panose="02020603050405020304" pitchFamily="18" charset="0"/>
                <a:cs typeface="Times New Roman" panose="02020603050405020304" pitchFamily="18" charset="0"/>
              </a:rPr>
              <a:t> .= "INSERT INTO Employee (</a:t>
            </a:r>
            <a:r>
              <a:rPr lang="en-IN" dirty="0" err="1">
                <a:latin typeface="Times New Roman" panose="02020603050405020304" pitchFamily="18" charset="0"/>
                <a:cs typeface="Times New Roman" panose="02020603050405020304" pitchFamily="18" charset="0"/>
              </a:rPr>
              <a:t>Emp_id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Emp_name</a:t>
            </a:r>
            <a:r>
              <a:rPr lang="en-IN" dirty="0">
                <a:latin typeface="Times New Roman" panose="02020603050405020304" pitchFamily="18" charset="0"/>
                <a:cs typeface="Times New Roman" panose="02020603050405020304" pitchFamily="18" charset="0"/>
              </a:rPr>
              <a:t>, Mobile, Email, Salary)</a:t>
            </a:r>
          </a:p>
          <a:p>
            <a:pPr marL="0" indent="0">
              <a:buNone/>
            </a:pPr>
            <a:r>
              <a:rPr lang="en-IN" dirty="0">
                <a:latin typeface="Times New Roman" panose="02020603050405020304" pitchFamily="18" charset="0"/>
                <a:cs typeface="Times New Roman" panose="02020603050405020304" pitchFamily="18" charset="0"/>
              </a:rPr>
              <a:t>VALUES (3, 'Virat', 778866, 'virat@gmail.com', 70000);";</a:t>
            </a:r>
          </a:p>
          <a:p>
            <a:pPr marL="0" indent="0">
              <a:buNone/>
            </a:pP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sql</a:t>
            </a:r>
            <a:r>
              <a:rPr lang="en-IN" dirty="0">
                <a:latin typeface="Times New Roman" panose="02020603050405020304" pitchFamily="18" charset="0"/>
                <a:cs typeface="Times New Roman" panose="02020603050405020304" pitchFamily="18" charset="0"/>
              </a:rPr>
              <a:t> .= "INSERT INTO Employee (</a:t>
            </a:r>
            <a:r>
              <a:rPr lang="en-IN" dirty="0" err="1">
                <a:latin typeface="Times New Roman" panose="02020603050405020304" pitchFamily="18" charset="0"/>
                <a:cs typeface="Times New Roman" panose="02020603050405020304" pitchFamily="18" charset="0"/>
              </a:rPr>
              <a:t>Emp_id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Emp_name</a:t>
            </a:r>
            <a:r>
              <a:rPr lang="en-IN" dirty="0">
                <a:latin typeface="Times New Roman" panose="02020603050405020304" pitchFamily="18" charset="0"/>
                <a:cs typeface="Times New Roman" panose="02020603050405020304" pitchFamily="18" charset="0"/>
              </a:rPr>
              <a:t>, Mobile, Email, Salary)</a:t>
            </a:r>
          </a:p>
          <a:p>
            <a:pPr marL="0" indent="0">
              <a:buNone/>
            </a:pPr>
            <a:r>
              <a:rPr lang="en-IN" dirty="0">
                <a:latin typeface="Times New Roman" panose="02020603050405020304" pitchFamily="18" charset="0"/>
                <a:cs typeface="Times New Roman" panose="02020603050405020304" pitchFamily="18" charset="0"/>
              </a:rPr>
              <a:t>VALUES (4, 'Arun', 223345, 'arun@gmail.com', 40000)";</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if ($conn-&gt;</a:t>
            </a:r>
            <a:r>
              <a:rPr lang="en-IN" dirty="0" err="1">
                <a:latin typeface="Times New Roman" panose="02020603050405020304" pitchFamily="18" charset="0"/>
                <a:cs typeface="Times New Roman" panose="02020603050405020304" pitchFamily="18" charset="0"/>
              </a:rPr>
              <a:t>multi_query</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sql</a:t>
            </a:r>
            <a:r>
              <a:rPr lang="en-IN" dirty="0">
                <a:latin typeface="Times New Roman" panose="02020603050405020304" pitchFamily="18" charset="0"/>
                <a:cs typeface="Times New Roman" panose="02020603050405020304" pitchFamily="18" charset="0"/>
              </a:rPr>
              <a:t>) === TRUE) {</a:t>
            </a:r>
          </a:p>
          <a:p>
            <a:pPr marL="0" indent="0">
              <a:buNone/>
            </a:pPr>
            <a:r>
              <a:rPr lang="en-IN" dirty="0">
                <a:latin typeface="Times New Roman" panose="02020603050405020304" pitchFamily="18" charset="0"/>
                <a:cs typeface="Times New Roman" panose="02020603050405020304" pitchFamily="18" charset="0"/>
              </a:rPr>
              <a:t>  echo "New records created successfully";</a:t>
            </a:r>
          </a:p>
          <a:p>
            <a:pPr marL="0" indent="0">
              <a:buNone/>
            </a:pPr>
            <a:r>
              <a:rPr lang="en-IN" dirty="0">
                <a:latin typeface="Times New Roman" panose="02020603050405020304" pitchFamily="18" charset="0"/>
                <a:cs typeface="Times New Roman" panose="02020603050405020304" pitchFamily="18" charset="0"/>
              </a:rPr>
              <a:t>} else {</a:t>
            </a:r>
          </a:p>
          <a:p>
            <a:pPr marL="0" indent="0">
              <a:buNone/>
            </a:pPr>
            <a:r>
              <a:rPr lang="en-IN" dirty="0">
                <a:latin typeface="Times New Roman" panose="02020603050405020304" pitchFamily="18" charset="0"/>
                <a:cs typeface="Times New Roman" panose="02020603050405020304" pitchFamily="18" charset="0"/>
              </a:rPr>
              <a:t>  echo "Error: " . $</a:t>
            </a:r>
            <a:r>
              <a:rPr lang="en-IN" dirty="0" err="1">
                <a:latin typeface="Times New Roman" panose="02020603050405020304" pitchFamily="18" charset="0"/>
                <a:cs typeface="Times New Roman" panose="02020603050405020304" pitchFamily="18" charset="0"/>
              </a:rPr>
              <a:t>sql</a:t>
            </a:r>
            <a:r>
              <a:rPr lang="en-IN" dirty="0">
                <a:latin typeface="Times New Roman" panose="02020603050405020304" pitchFamily="18" charset="0"/>
                <a:cs typeface="Times New Roman" panose="02020603050405020304" pitchFamily="18" charset="0"/>
              </a:rPr>
              <a:t> . "&lt;</a:t>
            </a:r>
            <a:r>
              <a:rPr lang="en-IN" dirty="0" err="1">
                <a:latin typeface="Times New Roman" panose="02020603050405020304" pitchFamily="18" charset="0"/>
                <a:cs typeface="Times New Roman" panose="02020603050405020304" pitchFamily="18" charset="0"/>
              </a:rPr>
              <a:t>br</a:t>
            </a:r>
            <a:r>
              <a:rPr lang="en-IN" dirty="0">
                <a:latin typeface="Times New Roman" panose="02020603050405020304" pitchFamily="18" charset="0"/>
                <a:cs typeface="Times New Roman" panose="02020603050405020304" pitchFamily="18" charset="0"/>
              </a:rPr>
              <a:t>&gt;" . $conn-&gt;error;</a:t>
            </a:r>
          </a:p>
          <a:p>
            <a:pPr marL="0" indent="0">
              <a:buNone/>
            </a:pPr>
            <a:r>
              <a:rPr lang="en-IN" dirty="0">
                <a:latin typeface="Times New Roman" panose="02020603050405020304" pitchFamily="18" charset="0"/>
                <a:cs typeface="Times New Roman" panose="02020603050405020304" pitchFamily="18" charset="0"/>
              </a:rPr>
              <a:t>}</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$conn-&gt;close();</a:t>
            </a:r>
          </a:p>
          <a:p>
            <a:pPr marL="0" indent="0">
              <a:buNone/>
            </a:pPr>
            <a:r>
              <a:rPr lang="en-IN" dirty="0">
                <a:latin typeface="Times New Roman" panose="02020603050405020304" pitchFamily="18" charset="0"/>
                <a:cs typeface="Times New Roman" panose="02020603050405020304" pitchFamily="18" charset="0"/>
              </a:rPr>
              <a:t>?&gt;</a:t>
            </a:r>
          </a:p>
        </p:txBody>
      </p:sp>
    </p:spTree>
    <p:extLst>
      <p:ext uri="{BB962C8B-B14F-4D97-AF65-F5344CB8AC3E}">
        <p14:creationId xmlns:p14="http://schemas.microsoft.com/office/powerpoint/2010/main" val="18846327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A59CB-0E0D-F7E3-6032-0EACDE5F3987}"/>
              </a:ext>
            </a:extLst>
          </p:cNvPr>
          <p:cNvSpPr>
            <a:spLocks noGrp="1"/>
          </p:cNvSpPr>
          <p:nvPr>
            <p:ph type="title"/>
          </p:nvPr>
        </p:nvSpPr>
        <p:spPr/>
        <p:txBody>
          <a:bodyPr/>
          <a:lstStyle/>
          <a:p>
            <a:r>
              <a:rPr lang="en-IN" b="0" i="0" dirty="0">
                <a:solidFill>
                  <a:srgbClr val="000000"/>
                </a:solidFill>
                <a:effectLst/>
                <a:latin typeface="Times New Roman" panose="02020603050405020304" pitchFamily="18" charset="0"/>
                <a:cs typeface="Times New Roman" panose="02020603050405020304" pitchFamily="18" charset="0"/>
              </a:rPr>
              <a:t>PHP MySQL Select Data</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4FCB911-90E9-CE18-84A7-824E0532DFF4}"/>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SELECT statement is used to select data from one or more tables: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dirty="0">
                <a:solidFill>
                  <a:srgbClr val="7030A0"/>
                </a:solidFill>
                <a:latin typeface="Times New Roman" panose="02020603050405020304" pitchFamily="18" charset="0"/>
                <a:cs typeface="Times New Roman" panose="02020603050405020304" pitchFamily="18" charset="0"/>
              </a:rPr>
              <a:t>SELECT </a:t>
            </a:r>
            <a:r>
              <a:rPr lang="en-US" b="1" dirty="0" err="1">
                <a:solidFill>
                  <a:srgbClr val="7030A0"/>
                </a:solidFill>
                <a:latin typeface="Times New Roman" panose="02020603050405020304" pitchFamily="18" charset="0"/>
                <a:cs typeface="Times New Roman" panose="02020603050405020304" pitchFamily="18" charset="0"/>
              </a:rPr>
              <a:t>column_name</a:t>
            </a:r>
            <a:r>
              <a:rPr lang="en-US" b="1" dirty="0">
                <a:solidFill>
                  <a:srgbClr val="7030A0"/>
                </a:solidFill>
                <a:latin typeface="Times New Roman" panose="02020603050405020304" pitchFamily="18" charset="0"/>
                <a:cs typeface="Times New Roman" panose="02020603050405020304" pitchFamily="18" charset="0"/>
              </a:rPr>
              <a:t>(s) FROM </a:t>
            </a:r>
            <a:r>
              <a:rPr lang="en-US" b="1" dirty="0" err="1">
                <a:solidFill>
                  <a:srgbClr val="7030A0"/>
                </a:solidFill>
                <a:latin typeface="Times New Roman" panose="02020603050405020304" pitchFamily="18" charset="0"/>
                <a:cs typeface="Times New Roman" panose="02020603050405020304" pitchFamily="18" charset="0"/>
              </a:rPr>
              <a:t>table_name</a:t>
            </a:r>
            <a:endParaRPr lang="en-US" b="1" dirty="0">
              <a:solidFill>
                <a:srgbClr val="7030A0"/>
              </a:solidFill>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or we can use the * character to select ALL columns from a table:</a:t>
            </a:r>
          </a:p>
          <a:p>
            <a:endParaRPr lang="en-US" dirty="0">
              <a:latin typeface="Times New Roman" panose="02020603050405020304" pitchFamily="18" charset="0"/>
              <a:cs typeface="Times New Roman" panose="02020603050405020304" pitchFamily="18" charset="0"/>
            </a:endParaRPr>
          </a:p>
          <a:p>
            <a:pPr marL="0" indent="0">
              <a:buNone/>
            </a:pPr>
            <a:r>
              <a:rPr lang="en-US" b="1" dirty="0">
                <a:solidFill>
                  <a:srgbClr val="7030A0"/>
                </a:solidFill>
                <a:latin typeface="Times New Roman" panose="02020603050405020304" pitchFamily="18" charset="0"/>
                <a:cs typeface="Times New Roman" panose="02020603050405020304" pitchFamily="18" charset="0"/>
              </a:rPr>
              <a:t>SELECT * FROM </a:t>
            </a:r>
            <a:r>
              <a:rPr lang="en-US" b="1" dirty="0" err="1">
                <a:solidFill>
                  <a:srgbClr val="7030A0"/>
                </a:solidFill>
                <a:latin typeface="Times New Roman" panose="02020603050405020304" pitchFamily="18" charset="0"/>
                <a:cs typeface="Times New Roman" panose="02020603050405020304" pitchFamily="18" charset="0"/>
              </a:rPr>
              <a:t>table_name</a:t>
            </a:r>
            <a:endParaRPr lang="en-IN" b="1"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2250996"/>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D5388-2CC9-1252-798B-F782F51F0938}"/>
              </a:ext>
            </a:extLst>
          </p:cNvPr>
          <p:cNvSpPr>
            <a:spLocks noGrp="1"/>
          </p:cNvSpPr>
          <p:nvPr>
            <p:ph type="title"/>
          </p:nvPr>
        </p:nvSpPr>
        <p:spPr>
          <a:xfrm>
            <a:off x="838200" y="365126"/>
            <a:ext cx="10515600" cy="529610"/>
          </a:xfrm>
        </p:spPr>
        <p:txBody>
          <a:bodyPr>
            <a:normAutofit fontScale="90000"/>
          </a:bodyPr>
          <a:lstStyle/>
          <a:p>
            <a:r>
              <a:rPr lang="en-IN" dirty="0">
                <a:latin typeface="Times New Roman" panose="02020603050405020304" pitchFamily="18" charset="0"/>
                <a:cs typeface="Times New Roman" panose="02020603050405020304" pitchFamily="18" charset="0"/>
              </a:rPr>
              <a:t>Example</a:t>
            </a:r>
          </a:p>
        </p:txBody>
      </p:sp>
      <p:sp>
        <p:nvSpPr>
          <p:cNvPr id="3" name="Content Placeholder 2">
            <a:extLst>
              <a:ext uri="{FF2B5EF4-FFF2-40B4-BE49-F238E27FC236}">
                <a16:creationId xmlns:a16="http://schemas.microsoft.com/office/drawing/2014/main" id="{382835C5-D691-FA67-9817-F60AD3374A3A}"/>
              </a:ext>
            </a:extLst>
          </p:cNvPr>
          <p:cNvSpPr>
            <a:spLocks noGrp="1"/>
          </p:cNvSpPr>
          <p:nvPr>
            <p:ph idx="1"/>
          </p:nvPr>
        </p:nvSpPr>
        <p:spPr>
          <a:xfrm>
            <a:off x="838200" y="894736"/>
            <a:ext cx="10515600" cy="5598139"/>
          </a:xfrm>
        </p:spPr>
        <p:txBody>
          <a:bodyPr>
            <a:normAutofit fontScale="70000" lnSpcReduction="20000"/>
          </a:bodyPr>
          <a:lstStyle/>
          <a:p>
            <a:pPr marL="0" indent="0">
              <a:buNone/>
            </a:pPr>
            <a:r>
              <a:rPr lang="en-IN" dirty="0">
                <a:latin typeface="Times New Roman" panose="02020603050405020304" pitchFamily="18" charset="0"/>
                <a:cs typeface="Times New Roman" panose="02020603050405020304" pitchFamily="18" charset="0"/>
              </a:rPr>
              <a:t>&lt;!DOCTYPE html&gt;</a:t>
            </a:r>
          </a:p>
          <a:p>
            <a:pPr marL="0" indent="0">
              <a:buNone/>
            </a:pPr>
            <a:r>
              <a:rPr lang="en-IN" dirty="0">
                <a:latin typeface="Times New Roman" panose="02020603050405020304" pitchFamily="18" charset="0"/>
                <a:cs typeface="Times New Roman" panose="02020603050405020304" pitchFamily="18" charset="0"/>
              </a:rPr>
              <a:t>&lt;html&gt;</a:t>
            </a:r>
          </a:p>
          <a:p>
            <a:pPr marL="0" indent="0">
              <a:buNone/>
            </a:pPr>
            <a:r>
              <a:rPr lang="en-IN" dirty="0">
                <a:latin typeface="Times New Roman" panose="02020603050405020304" pitchFamily="18" charset="0"/>
                <a:cs typeface="Times New Roman" panose="02020603050405020304" pitchFamily="18" charset="0"/>
              </a:rPr>
              <a:t>&lt;body&gt;</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&lt;?</a:t>
            </a:r>
            <a:r>
              <a:rPr lang="en-IN" dirty="0" err="1">
                <a:latin typeface="Times New Roman" panose="02020603050405020304" pitchFamily="18" charset="0"/>
                <a:cs typeface="Times New Roman" panose="02020603050405020304" pitchFamily="18" charset="0"/>
              </a:rPr>
              <a:t>php</a:t>
            </a: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servername</a:t>
            </a:r>
            <a:r>
              <a:rPr lang="en-IN" dirty="0">
                <a:latin typeface="Times New Roman" panose="02020603050405020304" pitchFamily="18" charset="0"/>
                <a:cs typeface="Times New Roman" panose="02020603050405020304" pitchFamily="18" charset="0"/>
              </a:rPr>
              <a:t> = "localhost";</a:t>
            </a:r>
          </a:p>
          <a:p>
            <a:pPr marL="0" indent="0">
              <a:buNone/>
            </a:pPr>
            <a:r>
              <a:rPr lang="en-IN" dirty="0">
                <a:latin typeface="Times New Roman" panose="02020603050405020304" pitchFamily="18" charset="0"/>
                <a:cs typeface="Times New Roman" panose="02020603050405020304" pitchFamily="18" charset="0"/>
              </a:rPr>
              <a:t>$username = "root";</a:t>
            </a:r>
          </a:p>
          <a:p>
            <a:pPr marL="0" indent="0">
              <a:buNone/>
            </a:pPr>
            <a:r>
              <a:rPr lang="en-IN" dirty="0">
                <a:latin typeface="Times New Roman" panose="02020603050405020304" pitchFamily="18" charset="0"/>
                <a:cs typeface="Times New Roman" panose="02020603050405020304" pitchFamily="18" charset="0"/>
              </a:rPr>
              <a:t>$password = "";</a:t>
            </a:r>
          </a:p>
          <a:p>
            <a:pPr marL="0" indent="0">
              <a:buNone/>
            </a:pP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dbname</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myDB</a:t>
            </a:r>
            <a:r>
              <a:rPr lang="en-IN" dirty="0">
                <a:latin typeface="Times New Roman" panose="02020603050405020304" pitchFamily="18" charset="0"/>
                <a:cs typeface="Times New Roman" panose="02020603050405020304" pitchFamily="18" charset="0"/>
              </a:rPr>
              <a:t>";</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 Create connection</a:t>
            </a:r>
          </a:p>
          <a:p>
            <a:pPr marL="0" indent="0">
              <a:buNone/>
            </a:pPr>
            <a:r>
              <a:rPr lang="en-IN" dirty="0">
                <a:latin typeface="Times New Roman" panose="02020603050405020304" pitchFamily="18" charset="0"/>
                <a:cs typeface="Times New Roman" panose="02020603050405020304" pitchFamily="18" charset="0"/>
              </a:rPr>
              <a:t>$conn = new </a:t>
            </a:r>
            <a:r>
              <a:rPr lang="en-IN" dirty="0" err="1">
                <a:latin typeface="Times New Roman" panose="02020603050405020304" pitchFamily="18" charset="0"/>
                <a:cs typeface="Times New Roman" panose="02020603050405020304" pitchFamily="18" charset="0"/>
              </a:rPr>
              <a:t>mysqli</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servername</a:t>
            </a:r>
            <a:r>
              <a:rPr lang="en-IN" dirty="0">
                <a:latin typeface="Times New Roman" panose="02020603050405020304" pitchFamily="18" charset="0"/>
                <a:cs typeface="Times New Roman" panose="02020603050405020304" pitchFamily="18" charset="0"/>
              </a:rPr>
              <a:t>, $username, $password, $</a:t>
            </a:r>
            <a:r>
              <a:rPr lang="en-IN" dirty="0" err="1">
                <a:latin typeface="Times New Roman" panose="02020603050405020304" pitchFamily="18" charset="0"/>
                <a:cs typeface="Times New Roman" panose="02020603050405020304" pitchFamily="18" charset="0"/>
              </a:rPr>
              <a:t>dbname</a:t>
            </a:r>
            <a:r>
              <a:rPr lang="en-IN" dirty="0">
                <a:latin typeface="Times New Roman" panose="02020603050405020304" pitchFamily="18" charset="0"/>
                <a:cs typeface="Times New Roman" panose="02020603050405020304" pitchFamily="18" charset="0"/>
              </a:rPr>
              <a:t>);</a:t>
            </a:r>
          </a:p>
          <a:p>
            <a:pPr marL="0" indent="0">
              <a:buNone/>
            </a:pPr>
            <a:r>
              <a:rPr lang="en-IN" dirty="0">
                <a:latin typeface="Times New Roman" panose="02020603050405020304" pitchFamily="18" charset="0"/>
                <a:cs typeface="Times New Roman" panose="02020603050405020304" pitchFamily="18" charset="0"/>
              </a:rPr>
              <a:t>// Check connection</a:t>
            </a:r>
          </a:p>
          <a:p>
            <a:pPr marL="0" indent="0">
              <a:buNone/>
            </a:pPr>
            <a:r>
              <a:rPr lang="en-IN" dirty="0">
                <a:latin typeface="Times New Roman" panose="02020603050405020304" pitchFamily="18" charset="0"/>
                <a:cs typeface="Times New Roman" panose="02020603050405020304" pitchFamily="18" charset="0"/>
              </a:rPr>
              <a:t>if ($conn-&gt;</a:t>
            </a:r>
            <a:r>
              <a:rPr lang="en-IN" dirty="0" err="1">
                <a:latin typeface="Times New Roman" panose="02020603050405020304" pitchFamily="18" charset="0"/>
                <a:cs typeface="Times New Roman" panose="02020603050405020304" pitchFamily="18" charset="0"/>
              </a:rPr>
              <a:t>connect_error</a:t>
            </a:r>
            <a:r>
              <a:rPr lang="en-IN" dirty="0">
                <a:latin typeface="Times New Roman" panose="02020603050405020304" pitchFamily="18" charset="0"/>
                <a:cs typeface="Times New Roman" panose="02020603050405020304" pitchFamily="18" charset="0"/>
              </a:rPr>
              <a:t>) {</a:t>
            </a:r>
          </a:p>
          <a:p>
            <a:pPr marL="0" indent="0">
              <a:buNone/>
            </a:pPr>
            <a:r>
              <a:rPr lang="en-IN" dirty="0">
                <a:latin typeface="Times New Roman" panose="02020603050405020304" pitchFamily="18" charset="0"/>
                <a:cs typeface="Times New Roman" panose="02020603050405020304" pitchFamily="18" charset="0"/>
              </a:rPr>
              <a:t>    die("Connection failed: " . $conn-&gt;</a:t>
            </a:r>
            <a:r>
              <a:rPr lang="en-IN" dirty="0" err="1">
                <a:latin typeface="Times New Roman" panose="02020603050405020304" pitchFamily="18" charset="0"/>
                <a:cs typeface="Times New Roman" panose="02020603050405020304" pitchFamily="18" charset="0"/>
              </a:rPr>
              <a:t>connect_error</a:t>
            </a:r>
            <a:r>
              <a:rPr lang="en-IN" dirty="0">
                <a:latin typeface="Times New Roman" panose="02020603050405020304" pitchFamily="18" charset="0"/>
                <a:cs typeface="Times New Roman" panose="02020603050405020304" pitchFamily="18" charset="0"/>
              </a:rPr>
              <a:t>);</a:t>
            </a:r>
          </a:p>
          <a:p>
            <a:pPr marL="0" indent="0">
              <a:buNone/>
            </a:pPr>
            <a:r>
              <a:rPr lang="en-IN"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972929273"/>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83E1A8-9D67-4D49-D9AC-908A71514B24}"/>
              </a:ext>
            </a:extLst>
          </p:cNvPr>
          <p:cNvSpPr>
            <a:spLocks noGrp="1"/>
          </p:cNvSpPr>
          <p:nvPr>
            <p:ph idx="1"/>
          </p:nvPr>
        </p:nvSpPr>
        <p:spPr>
          <a:xfrm>
            <a:off x="838200" y="570271"/>
            <a:ext cx="10515600" cy="5606692"/>
          </a:xfrm>
        </p:spPr>
        <p:txBody>
          <a:bodyPr>
            <a:normAutofit fontScale="85000" lnSpcReduction="20000"/>
          </a:bodyPr>
          <a:lstStyle/>
          <a:p>
            <a:pPr marL="0" indent="0">
              <a:buNone/>
            </a:pP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sql</a:t>
            </a:r>
            <a:r>
              <a:rPr lang="en-IN" dirty="0">
                <a:latin typeface="Times New Roman" panose="02020603050405020304" pitchFamily="18" charset="0"/>
                <a:cs typeface="Times New Roman" panose="02020603050405020304" pitchFamily="18" charset="0"/>
              </a:rPr>
              <a:t> = "SELECT </a:t>
            </a:r>
            <a:r>
              <a:rPr lang="en-IN" dirty="0" err="1">
                <a:latin typeface="Times New Roman" panose="02020603050405020304" pitchFamily="18" charset="0"/>
                <a:cs typeface="Times New Roman" panose="02020603050405020304" pitchFamily="18" charset="0"/>
              </a:rPr>
              <a:t>Emp_id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Emp_name</a:t>
            </a:r>
            <a:r>
              <a:rPr lang="en-IN" dirty="0">
                <a:latin typeface="Times New Roman" panose="02020603050405020304" pitchFamily="18" charset="0"/>
                <a:cs typeface="Times New Roman" panose="02020603050405020304" pitchFamily="18" charset="0"/>
              </a:rPr>
              <a:t>, Salary FROM Employee";</a:t>
            </a:r>
          </a:p>
          <a:p>
            <a:pPr marL="0" indent="0">
              <a:buNone/>
            </a:pPr>
            <a:r>
              <a:rPr lang="en-IN" dirty="0">
                <a:latin typeface="Times New Roman" panose="02020603050405020304" pitchFamily="18" charset="0"/>
                <a:cs typeface="Times New Roman" panose="02020603050405020304" pitchFamily="18" charset="0"/>
              </a:rPr>
              <a:t>$result = $conn-&gt;query($</a:t>
            </a:r>
            <a:r>
              <a:rPr lang="en-IN" dirty="0" err="1">
                <a:latin typeface="Times New Roman" panose="02020603050405020304" pitchFamily="18" charset="0"/>
                <a:cs typeface="Times New Roman" panose="02020603050405020304" pitchFamily="18" charset="0"/>
              </a:rPr>
              <a:t>sql</a:t>
            </a:r>
            <a:r>
              <a:rPr lang="en-IN" dirty="0">
                <a:latin typeface="Times New Roman" panose="02020603050405020304" pitchFamily="18" charset="0"/>
                <a:cs typeface="Times New Roman" panose="02020603050405020304" pitchFamily="18" charset="0"/>
              </a:rPr>
              <a:t>);</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if ($result-&gt;</a:t>
            </a:r>
            <a:r>
              <a:rPr lang="en-IN" dirty="0" err="1">
                <a:latin typeface="Times New Roman" panose="02020603050405020304" pitchFamily="18" charset="0"/>
                <a:cs typeface="Times New Roman" panose="02020603050405020304" pitchFamily="18" charset="0"/>
              </a:rPr>
              <a:t>num_rows</a:t>
            </a:r>
            <a:r>
              <a:rPr lang="en-IN" dirty="0">
                <a:latin typeface="Times New Roman" panose="02020603050405020304" pitchFamily="18" charset="0"/>
                <a:cs typeface="Times New Roman" panose="02020603050405020304" pitchFamily="18" charset="0"/>
              </a:rPr>
              <a:t> &gt; 0) {</a:t>
            </a:r>
          </a:p>
          <a:p>
            <a:pPr marL="0" indent="0">
              <a:buNone/>
            </a:pPr>
            <a:r>
              <a:rPr lang="en-IN" dirty="0">
                <a:latin typeface="Times New Roman" panose="02020603050405020304" pitchFamily="18" charset="0"/>
                <a:cs typeface="Times New Roman" panose="02020603050405020304" pitchFamily="18" charset="0"/>
              </a:rPr>
              <a:t>    // output data of each row</a:t>
            </a:r>
          </a:p>
          <a:p>
            <a:pPr marL="0" indent="0">
              <a:buNone/>
            </a:pPr>
            <a:r>
              <a:rPr lang="en-IN" dirty="0">
                <a:latin typeface="Times New Roman" panose="02020603050405020304" pitchFamily="18" charset="0"/>
                <a:cs typeface="Times New Roman" panose="02020603050405020304" pitchFamily="18" charset="0"/>
              </a:rPr>
              <a:t>    while($row = $result-&gt;</a:t>
            </a:r>
            <a:r>
              <a:rPr lang="en-IN" dirty="0" err="1">
                <a:latin typeface="Times New Roman" panose="02020603050405020304" pitchFamily="18" charset="0"/>
                <a:cs typeface="Times New Roman" panose="02020603050405020304" pitchFamily="18" charset="0"/>
              </a:rPr>
              <a:t>fetch_assoc</a:t>
            </a:r>
            <a:r>
              <a:rPr lang="en-IN" dirty="0">
                <a:latin typeface="Times New Roman" panose="02020603050405020304" pitchFamily="18" charset="0"/>
                <a:cs typeface="Times New Roman" panose="02020603050405020304" pitchFamily="18" charset="0"/>
              </a:rPr>
              <a:t>()) {</a:t>
            </a:r>
          </a:p>
          <a:p>
            <a:pPr marL="0" indent="0">
              <a:buNone/>
            </a:pPr>
            <a:r>
              <a:rPr lang="en-IN" dirty="0">
                <a:latin typeface="Times New Roman" panose="02020603050405020304" pitchFamily="18" charset="0"/>
                <a:cs typeface="Times New Roman" panose="02020603050405020304" pitchFamily="18" charset="0"/>
              </a:rPr>
              <a:t>        echo "&lt;</a:t>
            </a:r>
            <a:r>
              <a:rPr lang="en-IN" dirty="0" err="1">
                <a:latin typeface="Times New Roman" panose="02020603050405020304" pitchFamily="18" charset="0"/>
                <a:cs typeface="Times New Roman" panose="02020603050405020304" pitchFamily="18" charset="0"/>
              </a:rPr>
              <a:t>br</a:t>
            </a:r>
            <a:r>
              <a:rPr lang="en-IN" dirty="0">
                <a:latin typeface="Times New Roman" panose="02020603050405020304" pitchFamily="18" charset="0"/>
                <a:cs typeface="Times New Roman" panose="02020603050405020304" pitchFamily="18" charset="0"/>
              </a:rPr>
              <a:t>&gt; id: ". $row["</a:t>
            </a:r>
            <a:r>
              <a:rPr lang="en-IN" dirty="0" err="1">
                <a:latin typeface="Times New Roman" panose="02020603050405020304" pitchFamily="18" charset="0"/>
                <a:cs typeface="Times New Roman" panose="02020603050405020304" pitchFamily="18" charset="0"/>
              </a:rPr>
              <a:t>Emp_id</a:t>
            </a:r>
            <a:r>
              <a:rPr lang="en-IN" dirty="0">
                <a:latin typeface="Times New Roman" panose="02020603050405020304" pitchFamily="18" charset="0"/>
                <a:cs typeface="Times New Roman" panose="02020603050405020304" pitchFamily="18" charset="0"/>
              </a:rPr>
              <a:t>"]. " - Name: ". $row["</a:t>
            </a:r>
            <a:r>
              <a:rPr lang="en-IN" dirty="0" err="1">
                <a:latin typeface="Times New Roman" panose="02020603050405020304" pitchFamily="18" charset="0"/>
                <a:cs typeface="Times New Roman" panose="02020603050405020304" pitchFamily="18" charset="0"/>
              </a:rPr>
              <a:t>Emp_name</a:t>
            </a:r>
            <a:r>
              <a:rPr lang="en-IN" dirty="0">
                <a:latin typeface="Times New Roman" panose="02020603050405020304" pitchFamily="18" charset="0"/>
                <a:cs typeface="Times New Roman" panose="02020603050405020304" pitchFamily="18" charset="0"/>
              </a:rPr>
              <a:t>"]. "  - Salary: " . $row["Salary"] . "&lt;</a:t>
            </a:r>
            <a:r>
              <a:rPr lang="en-IN" dirty="0" err="1">
                <a:latin typeface="Times New Roman" panose="02020603050405020304" pitchFamily="18" charset="0"/>
                <a:cs typeface="Times New Roman" panose="02020603050405020304" pitchFamily="18" charset="0"/>
              </a:rPr>
              <a:t>br</a:t>
            </a:r>
            <a:r>
              <a:rPr lang="en-IN" dirty="0">
                <a:latin typeface="Times New Roman" panose="02020603050405020304" pitchFamily="18" charset="0"/>
                <a:cs typeface="Times New Roman" panose="02020603050405020304" pitchFamily="18" charset="0"/>
              </a:rPr>
              <a:t>&gt;";</a:t>
            </a:r>
          </a:p>
          <a:p>
            <a:pPr marL="0" indent="0">
              <a:buNone/>
            </a:pPr>
            <a:r>
              <a:rPr lang="en-IN" dirty="0">
                <a:latin typeface="Times New Roman" panose="02020603050405020304" pitchFamily="18" charset="0"/>
                <a:cs typeface="Times New Roman" panose="02020603050405020304" pitchFamily="18" charset="0"/>
              </a:rPr>
              <a:t>    }</a:t>
            </a:r>
          </a:p>
          <a:p>
            <a:pPr marL="0" indent="0">
              <a:buNone/>
            </a:pPr>
            <a:r>
              <a:rPr lang="en-IN" dirty="0">
                <a:latin typeface="Times New Roman" panose="02020603050405020304" pitchFamily="18" charset="0"/>
                <a:cs typeface="Times New Roman" panose="02020603050405020304" pitchFamily="18" charset="0"/>
              </a:rPr>
              <a:t>} else {</a:t>
            </a:r>
          </a:p>
          <a:p>
            <a:pPr marL="0" indent="0">
              <a:buNone/>
            </a:pPr>
            <a:r>
              <a:rPr lang="en-IN" dirty="0">
                <a:latin typeface="Times New Roman" panose="02020603050405020304" pitchFamily="18" charset="0"/>
                <a:cs typeface="Times New Roman" panose="02020603050405020304" pitchFamily="18" charset="0"/>
              </a:rPr>
              <a:t>    echo "0 results";</a:t>
            </a:r>
          </a:p>
          <a:p>
            <a:pPr marL="0" indent="0">
              <a:buNone/>
            </a:pPr>
            <a:r>
              <a:rPr lang="en-IN" dirty="0">
                <a:latin typeface="Times New Roman" panose="02020603050405020304" pitchFamily="18" charset="0"/>
                <a:cs typeface="Times New Roman" panose="02020603050405020304" pitchFamily="18" charset="0"/>
              </a:rPr>
              <a:t>}</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$conn-&gt;close();</a:t>
            </a:r>
          </a:p>
          <a:p>
            <a:pPr marL="0" indent="0">
              <a:buNone/>
            </a:pPr>
            <a:r>
              <a:rPr lang="en-IN" dirty="0">
                <a:latin typeface="Times New Roman" panose="02020603050405020304" pitchFamily="18" charset="0"/>
                <a:cs typeface="Times New Roman" panose="02020603050405020304" pitchFamily="18" charset="0"/>
              </a:rPr>
              <a:t>?&gt;</a:t>
            </a:r>
          </a:p>
        </p:txBody>
      </p:sp>
    </p:spTree>
    <p:extLst>
      <p:ext uri="{BB962C8B-B14F-4D97-AF65-F5344CB8AC3E}">
        <p14:creationId xmlns:p14="http://schemas.microsoft.com/office/powerpoint/2010/main" val="605766426"/>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900A1B-F9AB-8429-A6E8-BBC2ED0852CA}"/>
              </a:ext>
            </a:extLst>
          </p:cNvPr>
          <p:cNvSpPr>
            <a:spLocks noGrp="1"/>
          </p:cNvSpPr>
          <p:nvPr>
            <p:ph idx="1"/>
          </p:nvPr>
        </p:nvSpPr>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First, we set up an SQL query that selects the </a:t>
            </a:r>
            <a:r>
              <a:rPr lang="en-US" dirty="0" err="1">
                <a:latin typeface="Times New Roman" panose="02020603050405020304" pitchFamily="18" charset="0"/>
                <a:cs typeface="Times New Roman" panose="02020603050405020304" pitchFamily="18" charset="0"/>
              </a:rPr>
              <a:t>Emp_id</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Emp_name</a:t>
            </a:r>
            <a:r>
              <a:rPr lang="en-US" dirty="0">
                <a:latin typeface="Times New Roman" panose="02020603050405020304" pitchFamily="18" charset="0"/>
                <a:cs typeface="Times New Roman" panose="02020603050405020304" pitchFamily="18" charset="0"/>
              </a:rPr>
              <a:t> and Salary columns from the Employee table. </a:t>
            </a:r>
          </a:p>
          <a:p>
            <a:pPr algn="just"/>
            <a:r>
              <a:rPr lang="en-US" dirty="0">
                <a:latin typeface="Times New Roman" panose="02020603050405020304" pitchFamily="18" charset="0"/>
                <a:cs typeface="Times New Roman" panose="02020603050405020304" pitchFamily="18" charset="0"/>
              </a:rPr>
              <a:t>The next line of code runs the query and puts the resulting data into a variable called $result.</a:t>
            </a:r>
          </a:p>
          <a:p>
            <a:pPr algn="just"/>
            <a:r>
              <a:rPr lang="en-US" dirty="0">
                <a:latin typeface="Times New Roman" panose="02020603050405020304" pitchFamily="18" charset="0"/>
                <a:cs typeface="Times New Roman" panose="02020603050405020304" pitchFamily="18" charset="0"/>
              </a:rPr>
              <a:t>The function </a:t>
            </a:r>
            <a:r>
              <a:rPr lang="en-US" b="1" dirty="0" err="1">
                <a:latin typeface="Times New Roman" panose="02020603050405020304" pitchFamily="18" charset="0"/>
                <a:cs typeface="Times New Roman" panose="02020603050405020304" pitchFamily="18" charset="0"/>
              </a:rPr>
              <a:t>num_rows</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checks if there are more than zero rows returned.</a:t>
            </a:r>
          </a:p>
          <a:p>
            <a:pPr algn="just"/>
            <a:r>
              <a:rPr lang="en-US" dirty="0">
                <a:latin typeface="Times New Roman" panose="02020603050405020304" pitchFamily="18" charset="0"/>
                <a:cs typeface="Times New Roman" panose="02020603050405020304" pitchFamily="18" charset="0"/>
              </a:rPr>
              <a:t>If there are more than zero rows returned, the function </a:t>
            </a:r>
            <a:r>
              <a:rPr lang="en-US" b="1" dirty="0" err="1">
                <a:latin typeface="Times New Roman" panose="02020603050405020304" pitchFamily="18" charset="0"/>
                <a:cs typeface="Times New Roman" panose="02020603050405020304" pitchFamily="18" charset="0"/>
              </a:rPr>
              <a:t>fetch_assoc</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puts all the results into an associative array that we can loop through. </a:t>
            </a:r>
          </a:p>
          <a:p>
            <a:pPr algn="just"/>
            <a:r>
              <a:rPr lang="en-US" dirty="0">
                <a:latin typeface="Times New Roman" panose="02020603050405020304" pitchFamily="18" charset="0"/>
                <a:cs typeface="Times New Roman" panose="02020603050405020304" pitchFamily="18" charset="0"/>
              </a:rPr>
              <a:t>The while() loop loops through the result set and outputs the data from the </a:t>
            </a:r>
            <a:r>
              <a:rPr lang="en-US" dirty="0" err="1">
                <a:latin typeface="Times New Roman" panose="02020603050405020304" pitchFamily="18" charset="0"/>
                <a:cs typeface="Times New Roman" panose="02020603050405020304" pitchFamily="18" charset="0"/>
              </a:rPr>
              <a:t>Emp_id</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Emp_name</a:t>
            </a:r>
            <a:r>
              <a:rPr lang="en-US" dirty="0">
                <a:latin typeface="Times New Roman" panose="02020603050405020304" pitchFamily="18" charset="0"/>
                <a:cs typeface="Times New Roman" panose="02020603050405020304" pitchFamily="18" charset="0"/>
              </a:rPr>
              <a:t> and Salary columns.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5259137"/>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2796A-64C6-5E23-8E6E-08ED3C9FA017}"/>
              </a:ext>
            </a:extLst>
          </p:cNvPr>
          <p:cNvSpPr>
            <a:spLocks noGrp="1"/>
          </p:cNvSpPr>
          <p:nvPr>
            <p:ph type="title"/>
          </p:nvPr>
        </p:nvSpPr>
        <p:spPr/>
        <p:txBody>
          <a:bodyPr/>
          <a:lstStyle/>
          <a:p>
            <a:r>
              <a:rPr lang="en-US" b="0" i="0" dirty="0">
                <a:solidFill>
                  <a:srgbClr val="000000"/>
                </a:solidFill>
                <a:effectLst/>
                <a:latin typeface="Times New Roman" panose="02020603050405020304" pitchFamily="18" charset="0"/>
                <a:cs typeface="Times New Roman" panose="02020603050405020304" pitchFamily="18" charset="0"/>
              </a:rPr>
              <a:t>PHP MySQL Use The WHERE Clause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728A0AA-04EE-10EB-264D-5B68B7D4FFDD}"/>
              </a:ext>
            </a:extLst>
          </p:cNvPr>
          <p:cNvSpPr>
            <a:spLocks noGrp="1"/>
          </p:cNvSpPr>
          <p:nvPr>
            <p:ph idx="1"/>
          </p:nvPr>
        </p:nvSpPr>
        <p:spPr/>
        <p:txBody>
          <a:bodyPr/>
          <a:lstStyle/>
          <a:p>
            <a:pPr algn="l"/>
            <a:r>
              <a:rPr lang="en-US" b="0" i="0" dirty="0">
                <a:solidFill>
                  <a:srgbClr val="000000"/>
                </a:solidFill>
                <a:effectLst/>
                <a:latin typeface="Times New Roman" panose="02020603050405020304" pitchFamily="18" charset="0"/>
                <a:cs typeface="Times New Roman" panose="02020603050405020304" pitchFamily="18" charset="0"/>
              </a:rPr>
              <a:t>The WHERE clause is used to filter records.</a:t>
            </a:r>
          </a:p>
          <a:p>
            <a:pPr algn="l"/>
            <a:r>
              <a:rPr lang="en-US" b="0" i="0" dirty="0">
                <a:solidFill>
                  <a:srgbClr val="000000"/>
                </a:solidFill>
                <a:effectLst/>
                <a:latin typeface="Times New Roman" panose="02020603050405020304" pitchFamily="18" charset="0"/>
                <a:cs typeface="Times New Roman" panose="02020603050405020304" pitchFamily="18" charset="0"/>
              </a:rPr>
              <a:t>The WHERE clause is used to extract only those records that fulfill a specified condition.</a:t>
            </a:r>
          </a:p>
          <a:p>
            <a:pPr marL="0" indent="0">
              <a:buNone/>
            </a:pPr>
            <a:r>
              <a:rPr lang="en-US" b="0" i="0" dirty="0">
                <a:solidFill>
                  <a:srgbClr val="7030A0"/>
                </a:solidFill>
                <a:effectLst/>
                <a:latin typeface="Times New Roman" panose="02020603050405020304" pitchFamily="18" charset="0"/>
                <a:cs typeface="Times New Roman" panose="02020603050405020304" pitchFamily="18" charset="0"/>
              </a:rPr>
              <a:t>SELECT </a:t>
            </a:r>
            <a:r>
              <a:rPr lang="en-US" b="0" i="0" dirty="0" err="1">
                <a:solidFill>
                  <a:srgbClr val="7030A0"/>
                </a:solidFill>
                <a:effectLst/>
                <a:latin typeface="Times New Roman" panose="02020603050405020304" pitchFamily="18" charset="0"/>
                <a:cs typeface="Times New Roman" panose="02020603050405020304" pitchFamily="18" charset="0"/>
              </a:rPr>
              <a:t>column_name</a:t>
            </a:r>
            <a:r>
              <a:rPr lang="en-US" b="0" i="0" dirty="0">
                <a:solidFill>
                  <a:srgbClr val="7030A0"/>
                </a:solidFill>
                <a:effectLst/>
                <a:latin typeface="Times New Roman" panose="02020603050405020304" pitchFamily="18" charset="0"/>
                <a:cs typeface="Times New Roman" panose="02020603050405020304" pitchFamily="18" charset="0"/>
              </a:rPr>
              <a:t>(s) FROM </a:t>
            </a:r>
            <a:r>
              <a:rPr lang="en-US" b="0" i="0" dirty="0" err="1">
                <a:solidFill>
                  <a:srgbClr val="7030A0"/>
                </a:solidFill>
                <a:effectLst/>
                <a:latin typeface="Times New Roman" panose="02020603050405020304" pitchFamily="18" charset="0"/>
                <a:cs typeface="Times New Roman" panose="02020603050405020304" pitchFamily="18" charset="0"/>
              </a:rPr>
              <a:t>table_name</a:t>
            </a:r>
            <a:r>
              <a:rPr lang="en-US" b="0" i="0" dirty="0">
                <a:solidFill>
                  <a:srgbClr val="7030A0"/>
                </a:solidFill>
                <a:effectLst/>
                <a:latin typeface="Times New Roman" panose="02020603050405020304" pitchFamily="18" charset="0"/>
                <a:cs typeface="Times New Roman" panose="02020603050405020304" pitchFamily="18" charset="0"/>
              </a:rPr>
              <a:t> WHERE </a:t>
            </a:r>
            <a:r>
              <a:rPr lang="en-US" b="0" i="0" dirty="0" err="1">
                <a:solidFill>
                  <a:srgbClr val="7030A0"/>
                </a:solidFill>
                <a:effectLst/>
                <a:latin typeface="Times New Roman" panose="02020603050405020304" pitchFamily="18" charset="0"/>
                <a:cs typeface="Times New Roman" panose="02020603050405020304" pitchFamily="18" charset="0"/>
              </a:rPr>
              <a:t>column_name</a:t>
            </a:r>
            <a:r>
              <a:rPr lang="en-US" b="0" i="0" dirty="0">
                <a:solidFill>
                  <a:srgbClr val="7030A0"/>
                </a:solidFill>
                <a:effectLst/>
                <a:latin typeface="Times New Roman" panose="02020603050405020304" pitchFamily="18" charset="0"/>
                <a:cs typeface="Times New Roman" panose="02020603050405020304" pitchFamily="18" charset="0"/>
              </a:rPr>
              <a:t> operator value </a:t>
            </a:r>
            <a:endParaRPr lang="en-IN"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9957554"/>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4D415-F7A2-C79A-1964-EEE39CA0EBE1}"/>
              </a:ext>
            </a:extLst>
          </p:cNvPr>
          <p:cNvSpPr>
            <a:spLocks noGrp="1"/>
          </p:cNvSpPr>
          <p:nvPr>
            <p:ph type="title"/>
          </p:nvPr>
        </p:nvSpPr>
        <p:spPr>
          <a:xfrm>
            <a:off x="838200" y="365125"/>
            <a:ext cx="10515600" cy="785249"/>
          </a:xfrm>
        </p:spPr>
        <p:txBody>
          <a:bodyPr/>
          <a:lstStyle/>
          <a:p>
            <a:r>
              <a:rPr lang="en-IN" dirty="0">
                <a:latin typeface="Times New Roman" panose="02020603050405020304" pitchFamily="18" charset="0"/>
                <a:cs typeface="Times New Roman" panose="02020603050405020304" pitchFamily="18" charset="0"/>
              </a:rPr>
              <a:t>Example</a:t>
            </a:r>
          </a:p>
        </p:txBody>
      </p:sp>
      <p:sp>
        <p:nvSpPr>
          <p:cNvPr id="3" name="Content Placeholder 2">
            <a:extLst>
              <a:ext uri="{FF2B5EF4-FFF2-40B4-BE49-F238E27FC236}">
                <a16:creationId xmlns:a16="http://schemas.microsoft.com/office/drawing/2014/main" id="{420A7855-43B2-59C5-E596-CC96707C4BAE}"/>
              </a:ext>
            </a:extLst>
          </p:cNvPr>
          <p:cNvSpPr>
            <a:spLocks noGrp="1"/>
          </p:cNvSpPr>
          <p:nvPr>
            <p:ph idx="1"/>
          </p:nvPr>
        </p:nvSpPr>
        <p:spPr>
          <a:xfrm>
            <a:off x="838200" y="1061884"/>
            <a:ext cx="10515600" cy="5115079"/>
          </a:xfrm>
        </p:spPr>
        <p:txBody>
          <a:bodyPr>
            <a:normAutofit fontScale="77500" lnSpcReduction="20000"/>
          </a:bodyPr>
          <a:lstStyle/>
          <a:p>
            <a:pPr marL="0" indent="0">
              <a:buNone/>
            </a:pPr>
            <a:r>
              <a:rPr lang="en-IN" dirty="0">
                <a:latin typeface="Times New Roman" panose="02020603050405020304" pitchFamily="18" charset="0"/>
                <a:cs typeface="Times New Roman" panose="02020603050405020304" pitchFamily="18" charset="0"/>
              </a:rPr>
              <a:t>&lt;!DOCTYPE html&gt;</a:t>
            </a:r>
          </a:p>
          <a:p>
            <a:pPr marL="0" indent="0">
              <a:buNone/>
            </a:pPr>
            <a:r>
              <a:rPr lang="en-IN" dirty="0">
                <a:latin typeface="Times New Roman" panose="02020603050405020304" pitchFamily="18" charset="0"/>
                <a:cs typeface="Times New Roman" panose="02020603050405020304" pitchFamily="18" charset="0"/>
              </a:rPr>
              <a:t>&lt;html&gt;</a:t>
            </a:r>
          </a:p>
          <a:p>
            <a:pPr marL="0" indent="0">
              <a:buNone/>
            </a:pPr>
            <a:r>
              <a:rPr lang="en-IN" dirty="0">
                <a:latin typeface="Times New Roman" panose="02020603050405020304" pitchFamily="18" charset="0"/>
                <a:cs typeface="Times New Roman" panose="02020603050405020304" pitchFamily="18" charset="0"/>
              </a:rPr>
              <a:t>&lt;body&gt;</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&lt;?</a:t>
            </a:r>
            <a:r>
              <a:rPr lang="en-IN" dirty="0" err="1">
                <a:latin typeface="Times New Roman" panose="02020603050405020304" pitchFamily="18" charset="0"/>
                <a:cs typeface="Times New Roman" panose="02020603050405020304" pitchFamily="18" charset="0"/>
              </a:rPr>
              <a:t>php</a:t>
            </a: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servername</a:t>
            </a:r>
            <a:r>
              <a:rPr lang="en-IN" dirty="0">
                <a:latin typeface="Times New Roman" panose="02020603050405020304" pitchFamily="18" charset="0"/>
                <a:cs typeface="Times New Roman" panose="02020603050405020304" pitchFamily="18" charset="0"/>
              </a:rPr>
              <a:t> = "localhost";</a:t>
            </a:r>
          </a:p>
          <a:p>
            <a:pPr marL="0" indent="0">
              <a:buNone/>
            </a:pPr>
            <a:r>
              <a:rPr lang="en-IN" dirty="0">
                <a:latin typeface="Times New Roman" panose="02020603050405020304" pitchFamily="18" charset="0"/>
                <a:cs typeface="Times New Roman" panose="02020603050405020304" pitchFamily="18" charset="0"/>
              </a:rPr>
              <a:t>$username = "root";</a:t>
            </a:r>
          </a:p>
          <a:p>
            <a:pPr marL="0" indent="0">
              <a:buNone/>
            </a:pPr>
            <a:r>
              <a:rPr lang="en-IN" dirty="0">
                <a:latin typeface="Times New Roman" panose="02020603050405020304" pitchFamily="18" charset="0"/>
                <a:cs typeface="Times New Roman" panose="02020603050405020304" pitchFamily="18" charset="0"/>
              </a:rPr>
              <a:t>$password = "";</a:t>
            </a:r>
          </a:p>
          <a:p>
            <a:pPr marL="0" indent="0">
              <a:buNone/>
            </a:pP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dbname</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myDB</a:t>
            </a:r>
            <a:r>
              <a:rPr lang="en-IN" dirty="0">
                <a:latin typeface="Times New Roman" panose="02020603050405020304" pitchFamily="18" charset="0"/>
                <a:cs typeface="Times New Roman" panose="02020603050405020304" pitchFamily="18" charset="0"/>
              </a:rPr>
              <a:t>";</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$conn = new </a:t>
            </a:r>
            <a:r>
              <a:rPr lang="en-IN" dirty="0" err="1">
                <a:latin typeface="Times New Roman" panose="02020603050405020304" pitchFamily="18" charset="0"/>
                <a:cs typeface="Times New Roman" panose="02020603050405020304" pitchFamily="18" charset="0"/>
              </a:rPr>
              <a:t>mysqli</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servername</a:t>
            </a:r>
            <a:r>
              <a:rPr lang="en-IN" dirty="0">
                <a:latin typeface="Times New Roman" panose="02020603050405020304" pitchFamily="18" charset="0"/>
                <a:cs typeface="Times New Roman" panose="02020603050405020304" pitchFamily="18" charset="0"/>
              </a:rPr>
              <a:t>, $username, $password, $</a:t>
            </a:r>
            <a:r>
              <a:rPr lang="en-IN" dirty="0" err="1">
                <a:latin typeface="Times New Roman" panose="02020603050405020304" pitchFamily="18" charset="0"/>
                <a:cs typeface="Times New Roman" panose="02020603050405020304" pitchFamily="18" charset="0"/>
              </a:rPr>
              <a:t>dbname</a:t>
            </a:r>
            <a:r>
              <a:rPr lang="en-IN" dirty="0">
                <a:latin typeface="Times New Roman" panose="02020603050405020304" pitchFamily="18" charset="0"/>
                <a:cs typeface="Times New Roman" panose="02020603050405020304" pitchFamily="18" charset="0"/>
              </a:rPr>
              <a:t>);</a:t>
            </a:r>
          </a:p>
          <a:p>
            <a:pPr marL="0" indent="0">
              <a:buNone/>
            </a:pPr>
            <a:r>
              <a:rPr lang="en-IN" dirty="0">
                <a:latin typeface="Times New Roman" panose="02020603050405020304" pitchFamily="18" charset="0"/>
                <a:cs typeface="Times New Roman" panose="02020603050405020304" pitchFamily="18" charset="0"/>
              </a:rPr>
              <a:t>if ($conn-&gt;</a:t>
            </a:r>
            <a:r>
              <a:rPr lang="en-IN" dirty="0" err="1">
                <a:latin typeface="Times New Roman" panose="02020603050405020304" pitchFamily="18" charset="0"/>
                <a:cs typeface="Times New Roman" panose="02020603050405020304" pitchFamily="18" charset="0"/>
              </a:rPr>
              <a:t>connect_error</a:t>
            </a:r>
            <a:r>
              <a:rPr lang="en-IN" dirty="0">
                <a:latin typeface="Times New Roman" panose="02020603050405020304" pitchFamily="18" charset="0"/>
                <a:cs typeface="Times New Roman" panose="02020603050405020304" pitchFamily="18" charset="0"/>
              </a:rPr>
              <a:t>) {</a:t>
            </a:r>
          </a:p>
          <a:p>
            <a:pPr marL="0" indent="0">
              <a:buNone/>
            </a:pPr>
            <a:r>
              <a:rPr lang="en-IN" dirty="0">
                <a:latin typeface="Times New Roman" panose="02020603050405020304" pitchFamily="18" charset="0"/>
                <a:cs typeface="Times New Roman" panose="02020603050405020304" pitchFamily="18" charset="0"/>
              </a:rPr>
              <a:t>  die("Connection failed: " . $conn-&gt;</a:t>
            </a:r>
            <a:r>
              <a:rPr lang="en-IN" dirty="0" err="1">
                <a:latin typeface="Times New Roman" panose="02020603050405020304" pitchFamily="18" charset="0"/>
                <a:cs typeface="Times New Roman" panose="02020603050405020304" pitchFamily="18" charset="0"/>
              </a:rPr>
              <a:t>connect_error</a:t>
            </a:r>
            <a:r>
              <a:rPr lang="en-IN" dirty="0">
                <a:latin typeface="Times New Roman" panose="02020603050405020304" pitchFamily="18" charset="0"/>
                <a:cs typeface="Times New Roman" panose="02020603050405020304" pitchFamily="18" charset="0"/>
              </a:rPr>
              <a:t>);</a:t>
            </a:r>
          </a:p>
          <a:p>
            <a:pPr marL="0" indent="0">
              <a:buNone/>
            </a:pPr>
            <a:r>
              <a:rPr lang="en-IN"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400318034"/>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D2E912-AA5F-53AC-66AA-21E7806CB5D9}"/>
              </a:ext>
            </a:extLst>
          </p:cNvPr>
          <p:cNvSpPr>
            <a:spLocks noGrp="1"/>
          </p:cNvSpPr>
          <p:nvPr>
            <p:ph idx="1"/>
          </p:nvPr>
        </p:nvSpPr>
        <p:spPr>
          <a:xfrm>
            <a:off x="1197964" y="523081"/>
            <a:ext cx="10515600" cy="5811838"/>
          </a:xfrm>
        </p:spPr>
        <p:txBody>
          <a:bodyPr>
            <a:normAutofit fontScale="85000" lnSpcReduction="20000"/>
          </a:bodyPr>
          <a:lstStyle/>
          <a:p>
            <a:pPr marL="0" indent="0">
              <a:buNone/>
            </a:pP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sql</a:t>
            </a:r>
            <a:r>
              <a:rPr lang="en-IN" dirty="0">
                <a:latin typeface="Times New Roman" panose="02020603050405020304" pitchFamily="18" charset="0"/>
                <a:cs typeface="Times New Roman" panose="02020603050405020304" pitchFamily="18" charset="0"/>
              </a:rPr>
              <a:t> = "SELECT * FROM Employee WHERE Salary &gt;= 50000";</a:t>
            </a:r>
          </a:p>
          <a:p>
            <a:pPr marL="0" indent="0">
              <a:buNone/>
            </a:pPr>
            <a:r>
              <a:rPr lang="en-IN" dirty="0">
                <a:latin typeface="Times New Roman" panose="02020603050405020304" pitchFamily="18" charset="0"/>
                <a:cs typeface="Times New Roman" panose="02020603050405020304" pitchFamily="18" charset="0"/>
              </a:rPr>
              <a:t>$result = $conn-&gt;query($</a:t>
            </a:r>
            <a:r>
              <a:rPr lang="en-IN" dirty="0" err="1">
                <a:latin typeface="Times New Roman" panose="02020603050405020304" pitchFamily="18" charset="0"/>
                <a:cs typeface="Times New Roman" panose="02020603050405020304" pitchFamily="18" charset="0"/>
              </a:rPr>
              <a:t>sql</a:t>
            </a:r>
            <a:r>
              <a:rPr lang="en-IN" dirty="0">
                <a:latin typeface="Times New Roman" panose="02020603050405020304" pitchFamily="18" charset="0"/>
                <a:cs typeface="Times New Roman" panose="02020603050405020304" pitchFamily="18" charset="0"/>
              </a:rPr>
              <a:t>);</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if ($result-&gt;</a:t>
            </a:r>
            <a:r>
              <a:rPr lang="en-IN" dirty="0" err="1">
                <a:latin typeface="Times New Roman" panose="02020603050405020304" pitchFamily="18" charset="0"/>
                <a:cs typeface="Times New Roman" panose="02020603050405020304" pitchFamily="18" charset="0"/>
              </a:rPr>
              <a:t>num_rows</a:t>
            </a:r>
            <a:r>
              <a:rPr lang="en-IN" dirty="0">
                <a:latin typeface="Times New Roman" panose="02020603050405020304" pitchFamily="18" charset="0"/>
                <a:cs typeface="Times New Roman" panose="02020603050405020304" pitchFamily="18" charset="0"/>
              </a:rPr>
              <a:t> &gt; 0) {</a:t>
            </a:r>
          </a:p>
          <a:p>
            <a:pPr marL="0" indent="0">
              <a:buNone/>
            </a:pPr>
            <a:r>
              <a:rPr lang="en-IN" dirty="0">
                <a:latin typeface="Times New Roman" panose="02020603050405020304" pitchFamily="18" charset="0"/>
                <a:cs typeface="Times New Roman" panose="02020603050405020304" pitchFamily="18" charset="0"/>
              </a:rPr>
              <a:t>  // output data of each row</a:t>
            </a:r>
          </a:p>
          <a:p>
            <a:pPr marL="0" indent="0">
              <a:buNone/>
            </a:pPr>
            <a:r>
              <a:rPr lang="en-IN" dirty="0">
                <a:latin typeface="Times New Roman" panose="02020603050405020304" pitchFamily="18" charset="0"/>
                <a:cs typeface="Times New Roman" panose="02020603050405020304" pitchFamily="18" charset="0"/>
              </a:rPr>
              <a:t>  while($row = $result-&gt;</a:t>
            </a:r>
            <a:r>
              <a:rPr lang="en-IN" dirty="0" err="1">
                <a:latin typeface="Times New Roman" panose="02020603050405020304" pitchFamily="18" charset="0"/>
                <a:cs typeface="Times New Roman" panose="02020603050405020304" pitchFamily="18" charset="0"/>
              </a:rPr>
              <a:t>fetch_assoc</a:t>
            </a:r>
            <a:r>
              <a:rPr lang="en-IN" dirty="0">
                <a:latin typeface="Times New Roman" panose="02020603050405020304" pitchFamily="18" charset="0"/>
                <a:cs typeface="Times New Roman" panose="02020603050405020304" pitchFamily="18" charset="0"/>
              </a:rPr>
              <a:t>()) {</a:t>
            </a:r>
          </a:p>
          <a:p>
            <a:pPr marL="0" indent="0">
              <a:buNone/>
            </a:pPr>
            <a:r>
              <a:rPr lang="en-IN" dirty="0">
                <a:latin typeface="Times New Roman" panose="02020603050405020304" pitchFamily="18" charset="0"/>
                <a:cs typeface="Times New Roman" panose="02020603050405020304" pitchFamily="18" charset="0"/>
              </a:rPr>
              <a:t>    echo "&lt;</a:t>
            </a:r>
            <a:r>
              <a:rPr lang="en-IN" dirty="0" err="1">
                <a:latin typeface="Times New Roman" panose="02020603050405020304" pitchFamily="18" charset="0"/>
                <a:cs typeface="Times New Roman" panose="02020603050405020304" pitchFamily="18" charset="0"/>
              </a:rPr>
              <a:t>br</a:t>
            </a:r>
            <a:r>
              <a:rPr lang="en-IN" dirty="0">
                <a:latin typeface="Times New Roman" panose="02020603050405020304" pitchFamily="18" charset="0"/>
                <a:cs typeface="Times New Roman" panose="02020603050405020304" pitchFamily="18" charset="0"/>
              </a:rPr>
              <a:t>&gt; id: ". $row["</a:t>
            </a:r>
            <a:r>
              <a:rPr lang="en-IN" dirty="0" err="1">
                <a:latin typeface="Times New Roman" panose="02020603050405020304" pitchFamily="18" charset="0"/>
                <a:cs typeface="Times New Roman" panose="02020603050405020304" pitchFamily="18" charset="0"/>
              </a:rPr>
              <a:t>Emp_id</a:t>
            </a:r>
            <a:r>
              <a:rPr lang="en-IN" dirty="0">
                <a:latin typeface="Times New Roman" panose="02020603050405020304" pitchFamily="18" charset="0"/>
                <a:cs typeface="Times New Roman" panose="02020603050405020304" pitchFamily="18" charset="0"/>
              </a:rPr>
              <a:t>"]. " - Name: ". $row["</a:t>
            </a:r>
            <a:r>
              <a:rPr lang="en-IN" dirty="0" err="1">
                <a:latin typeface="Times New Roman" panose="02020603050405020304" pitchFamily="18" charset="0"/>
                <a:cs typeface="Times New Roman" panose="02020603050405020304" pitchFamily="18" charset="0"/>
              </a:rPr>
              <a:t>Emp_name</a:t>
            </a:r>
            <a:r>
              <a:rPr lang="en-IN" dirty="0">
                <a:latin typeface="Times New Roman" panose="02020603050405020304" pitchFamily="18" charset="0"/>
                <a:cs typeface="Times New Roman" panose="02020603050405020304" pitchFamily="18" charset="0"/>
              </a:rPr>
              <a:t>"]. " - Salary " . $row["Salary"] . "&lt;</a:t>
            </a:r>
            <a:r>
              <a:rPr lang="en-IN" dirty="0" err="1">
                <a:latin typeface="Times New Roman" panose="02020603050405020304" pitchFamily="18" charset="0"/>
                <a:cs typeface="Times New Roman" panose="02020603050405020304" pitchFamily="18" charset="0"/>
              </a:rPr>
              <a:t>br</a:t>
            </a:r>
            <a:r>
              <a:rPr lang="en-IN" dirty="0">
                <a:latin typeface="Times New Roman" panose="02020603050405020304" pitchFamily="18" charset="0"/>
                <a:cs typeface="Times New Roman" panose="02020603050405020304" pitchFamily="18" charset="0"/>
              </a:rPr>
              <a:t>&gt;";</a:t>
            </a:r>
          </a:p>
          <a:p>
            <a:pPr marL="0" indent="0">
              <a:buNone/>
            </a:pPr>
            <a:r>
              <a:rPr lang="en-IN" dirty="0">
                <a:latin typeface="Times New Roman" panose="02020603050405020304" pitchFamily="18" charset="0"/>
                <a:cs typeface="Times New Roman" panose="02020603050405020304" pitchFamily="18" charset="0"/>
              </a:rPr>
              <a:t>  }</a:t>
            </a:r>
          </a:p>
          <a:p>
            <a:pPr marL="0" indent="0">
              <a:buNone/>
            </a:pPr>
            <a:r>
              <a:rPr lang="en-IN" dirty="0">
                <a:latin typeface="Times New Roman" panose="02020603050405020304" pitchFamily="18" charset="0"/>
                <a:cs typeface="Times New Roman" panose="02020603050405020304" pitchFamily="18" charset="0"/>
              </a:rPr>
              <a:t>} else {</a:t>
            </a:r>
          </a:p>
          <a:p>
            <a:pPr marL="0" indent="0">
              <a:buNone/>
            </a:pPr>
            <a:r>
              <a:rPr lang="en-IN" dirty="0">
                <a:latin typeface="Times New Roman" panose="02020603050405020304" pitchFamily="18" charset="0"/>
                <a:cs typeface="Times New Roman" panose="02020603050405020304" pitchFamily="18" charset="0"/>
              </a:rPr>
              <a:t>  echo "0 results";</a:t>
            </a:r>
          </a:p>
          <a:p>
            <a:pPr marL="0" indent="0">
              <a:buNone/>
            </a:pPr>
            <a:r>
              <a:rPr lang="en-IN" dirty="0">
                <a:latin typeface="Times New Roman" panose="02020603050405020304" pitchFamily="18" charset="0"/>
                <a:cs typeface="Times New Roman" panose="02020603050405020304" pitchFamily="18" charset="0"/>
              </a:rPr>
              <a:t>}</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$conn-&gt;close();</a:t>
            </a:r>
          </a:p>
          <a:p>
            <a:pPr marL="0" indent="0">
              <a:buNone/>
            </a:pPr>
            <a:r>
              <a:rPr lang="en-IN" dirty="0">
                <a:latin typeface="Times New Roman" panose="02020603050405020304" pitchFamily="18" charset="0"/>
                <a:cs typeface="Times New Roman" panose="02020603050405020304" pitchFamily="18" charset="0"/>
              </a:rPr>
              <a:t>?&gt;</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923834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F5D0F-339F-5D27-BAF5-2482CE0E0CD2}"/>
              </a:ext>
            </a:extLst>
          </p:cNvPr>
          <p:cNvSpPr>
            <a:spLocks noGrp="1"/>
          </p:cNvSpPr>
          <p:nvPr>
            <p:ph type="title"/>
          </p:nvPr>
        </p:nvSpPr>
        <p:spPr/>
        <p:txBody>
          <a:bodyPr/>
          <a:lstStyle/>
          <a:p>
            <a:r>
              <a:rPr lang="en-IN" b="0" i="0" dirty="0">
                <a:solidFill>
                  <a:srgbClr val="000000"/>
                </a:solidFill>
                <a:effectLst/>
                <a:latin typeface="Times New Roman" panose="02020603050405020304" pitchFamily="18" charset="0"/>
                <a:cs typeface="Times New Roman" panose="02020603050405020304" pitchFamily="18" charset="0"/>
              </a:rPr>
              <a:t>PHP MySQL Delete Data</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4E28408-B11A-6338-ACFE-230079EBB214}"/>
              </a:ext>
            </a:extLst>
          </p:cNvPr>
          <p:cNvSpPr>
            <a:spLocks noGrp="1"/>
          </p:cNvSpPr>
          <p:nvPr>
            <p:ph idx="1"/>
          </p:nvPr>
        </p:nvSpPr>
        <p:spPr>
          <a:xfrm>
            <a:off x="838200" y="1953445"/>
            <a:ext cx="10515600" cy="4351338"/>
          </a:xfrm>
        </p:spPr>
        <p:txBody>
          <a:bodyPr/>
          <a:lstStyle/>
          <a:p>
            <a:r>
              <a:rPr lang="en-US" b="0" i="0" dirty="0">
                <a:solidFill>
                  <a:srgbClr val="000000"/>
                </a:solidFill>
                <a:effectLst/>
                <a:latin typeface="Times New Roman" panose="02020603050405020304" pitchFamily="18" charset="0"/>
                <a:cs typeface="Times New Roman" panose="02020603050405020304" pitchFamily="18" charset="0"/>
              </a:rPr>
              <a:t>The DELETE statement is used to delete records from a table:</a:t>
            </a:r>
          </a:p>
          <a:p>
            <a:pPr marL="0" indent="0">
              <a:buNone/>
            </a:pPr>
            <a:endParaRPr lang="en-US" b="0" i="0" dirty="0">
              <a:solidFill>
                <a:srgbClr val="000000"/>
              </a:solidFill>
              <a:effectLst/>
              <a:latin typeface="Times New Roman" panose="02020603050405020304" pitchFamily="18" charset="0"/>
              <a:cs typeface="Times New Roman" panose="02020603050405020304" pitchFamily="18" charset="0"/>
            </a:endParaRPr>
          </a:p>
          <a:p>
            <a:pPr marL="0" indent="0">
              <a:buNone/>
            </a:pPr>
            <a:r>
              <a:rPr lang="en-US" b="1" i="0" dirty="0">
                <a:solidFill>
                  <a:srgbClr val="7030A0"/>
                </a:solidFill>
                <a:effectLst/>
                <a:latin typeface="Times New Roman" panose="02020603050405020304" pitchFamily="18" charset="0"/>
                <a:cs typeface="Times New Roman" panose="02020603050405020304" pitchFamily="18" charset="0"/>
              </a:rPr>
              <a:t>DELETE FROM </a:t>
            </a:r>
            <a:r>
              <a:rPr lang="en-US" b="1" i="0" dirty="0" err="1">
                <a:solidFill>
                  <a:srgbClr val="7030A0"/>
                </a:solidFill>
                <a:effectLst/>
                <a:latin typeface="Times New Roman" panose="02020603050405020304" pitchFamily="18" charset="0"/>
                <a:cs typeface="Times New Roman" panose="02020603050405020304" pitchFamily="18" charset="0"/>
              </a:rPr>
              <a:t>table_name</a:t>
            </a:r>
            <a:r>
              <a:rPr lang="en-US" b="1" i="0" dirty="0">
                <a:solidFill>
                  <a:srgbClr val="7030A0"/>
                </a:solidFill>
                <a:effectLst/>
                <a:latin typeface="Times New Roman" panose="02020603050405020304" pitchFamily="18" charset="0"/>
                <a:cs typeface="Times New Roman" panose="02020603050405020304" pitchFamily="18" charset="0"/>
              </a:rPr>
              <a:t> WHERE </a:t>
            </a:r>
            <a:r>
              <a:rPr lang="en-US" b="1" i="0" dirty="0" err="1">
                <a:solidFill>
                  <a:srgbClr val="7030A0"/>
                </a:solidFill>
                <a:effectLst/>
                <a:latin typeface="Times New Roman" panose="02020603050405020304" pitchFamily="18" charset="0"/>
                <a:cs typeface="Times New Roman" panose="02020603050405020304" pitchFamily="18" charset="0"/>
              </a:rPr>
              <a:t>some_column</a:t>
            </a:r>
            <a:r>
              <a:rPr lang="en-US" b="1" i="0" dirty="0">
                <a:solidFill>
                  <a:srgbClr val="7030A0"/>
                </a:solidFill>
                <a:effectLst/>
                <a:latin typeface="Times New Roman" panose="02020603050405020304" pitchFamily="18" charset="0"/>
                <a:cs typeface="Times New Roman" panose="02020603050405020304" pitchFamily="18" charset="0"/>
              </a:rPr>
              <a:t> = </a:t>
            </a:r>
            <a:r>
              <a:rPr lang="en-US" b="1" i="0" dirty="0" err="1">
                <a:solidFill>
                  <a:srgbClr val="7030A0"/>
                </a:solidFill>
                <a:effectLst/>
                <a:latin typeface="Times New Roman" panose="02020603050405020304" pitchFamily="18" charset="0"/>
                <a:cs typeface="Times New Roman" panose="02020603050405020304" pitchFamily="18" charset="0"/>
              </a:rPr>
              <a:t>some_value</a:t>
            </a:r>
            <a:endParaRPr lang="en-IN" b="1"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371641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4F3D6-787B-1946-A54C-89880CA57432}"/>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Example</a:t>
            </a:r>
          </a:p>
        </p:txBody>
      </p:sp>
      <p:sp>
        <p:nvSpPr>
          <p:cNvPr id="3" name="Content Placeholder 2">
            <a:extLst>
              <a:ext uri="{FF2B5EF4-FFF2-40B4-BE49-F238E27FC236}">
                <a16:creationId xmlns:a16="http://schemas.microsoft.com/office/drawing/2014/main" id="{B564AB23-E8AD-0F1E-CCF5-DCAB09095E3D}"/>
              </a:ext>
            </a:extLst>
          </p:cNvPr>
          <p:cNvSpPr>
            <a:spLocks noGrp="1"/>
          </p:cNvSpPr>
          <p:nvPr>
            <p:ph idx="1"/>
          </p:nvPr>
        </p:nvSpPr>
        <p:spPr/>
        <p:txBody>
          <a:bodyPr>
            <a:normAutofit fontScale="77500" lnSpcReduction="20000"/>
          </a:bodyPr>
          <a:lstStyle/>
          <a:p>
            <a:pPr marL="0" indent="0">
              <a:buNone/>
            </a:pPr>
            <a:r>
              <a:rPr lang="en-IN" dirty="0">
                <a:latin typeface="Times New Roman" panose="02020603050405020304" pitchFamily="18" charset="0"/>
                <a:cs typeface="Times New Roman" panose="02020603050405020304" pitchFamily="18" charset="0"/>
              </a:rPr>
              <a:t>&lt;?</a:t>
            </a:r>
            <a:r>
              <a:rPr lang="en-IN" dirty="0" err="1">
                <a:latin typeface="Times New Roman" panose="02020603050405020304" pitchFamily="18" charset="0"/>
                <a:cs typeface="Times New Roman" panose="02020603050405020304" pitchFamily="18" charset="0"/>
              </a:rPr>
              <a:t>php</a:t>
            </a: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servername</a:t>
            </a:r>
            <a:r>
              <a:rPr lang="en-IN" dirty="0">
                <a:latin typeface="Times New Roman" panose="02020603050405020304" pitchFamily="18" charset="0"/>
                <a:cs typeface="Times New Roman" panose="02020603050405020304" pitchFamily="18" charset="0"/>
              </a:rPr>
              <a:t> = "localhost";</a:t>
            </a:r>
          </a:p>
          <a:p>
            <a:pPr marL="0" indent="0">
              <a:buNone/>
            </a:pPr>
            <a:r>
              <a:rPr lang="en-IN" dirty="0">
                <a:latin typeface="Times New Roman" panose="02020603050405020304" pitchFamily="18" charset="0"/>
                <a:cs typeface="Times New Roman" panose="02020603050405020304" pitchFamily="18" charset="0"/>
              </a:rPr>
              <a:t>$username = "root";</a:t>
            </a:r>
          </a:p>
          <a:p>
            <a:pPr marL="0" indent="0">
              <a:buNone/>
            </a:pPr>
            <a:r>
              <a:rPr lang="en-IN" dirty="0">
                <a:latin typeface="Times New Roman" panose="02020603050405020304" pitchFamily="18" charset="0"/>
                <a:cs typeface="Times New Roman" panose="02020603050405020304" pitchFamily="18" charset="0"/>
              </a:rPr>
              <a:t>$password = "";</a:t>
            </a:r>
          </a:p>
          <a:p>
            <a:pPr marL="0" indent="0">
              <a:buNone/>
            </a:pP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dbname</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myDB</a:t>
            </a:r>
            <a:r>
              <a:rPr lang="en-IN" dirty="0">
                <a:latin typeface="Times New Roman" panose="02020603050405020304" pitchFamily="18" charset="0"/>
                <a:cs typeface="Times New Roman" panose="02020603050405020304" pitchFamily="18" charset="0"/>
              </a:rPr>
              <a:t>";</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 Create connection</a:t>
            </a:r>
          </a:p>
          <a:p>
            <a:pPr marL="0" indent="0">
              <a:buNone/>
            </a:pPr>
            <a:r>
              <a:rPr lang="en-IN" dirty="0">
                <a:latin typeface="Times New Roman" panose="02020603050405020304" pitchFamily="18" charset="0"/>
                <a:cs typeface="Times New Roman" panose="02020603050405020304" pitchFamily="18" charset="0"/>
              </a:rPr>
              <a:t>$conn = new </a:t>
            </a:r>
            <a:r>
              <a:rPr lang="en-IN" dirty="0" err="1">
                <a:latin typeface="Times New Roman" panose="02020603050405020304" pitchFamily="18" charset="0"/>
                <a:cs typeface="Times New Roman" panose="02020603050405020304" pitchFamily="18" charset="0"/>
              </a:rPr>
              <a:t>mysqli</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servername</a:t>
            </a:r>
            <a:r>
              <a:rPr lang="en-IN" dirty="0">
                <a:latin typeface="Times New Roman" panose="02020603050405020304" pitchFamily="18" charset="0"/>
                <a:cs typeface="Times New Roman" panose="02020603050405020304" pitchFamily="18" charset="0"/>
              </a:rPr>
              <a:t>, $username, $password, $</a:t>
            </a:r>
            <a:r>
              <a:rPr lang="en-IN" dirty="0" err="1">
                <a:latin typeface="Times New Roman" panose="02020603050405020304" pitchFamily="18" charset="0"/>
                <a:cs typeface="Times New Roman" panose="02020603050405020304" pitchFamily="18" charset="0"/>
              </a:rPr>
              <a:t>dbname</a:t>
            </a:r>
            <a:r>
              <a:rPr lang="en-IN" dirty="0">
                <a:latin typeface="Times New Roman" panose="02020603050405020304" pitchFamily="18" charset="0"/>
                <a:cs typeface="Times New Roman" panose="02020603050405020304" pitchFamily="18" charset="0"/>
              </a:rPr>
              <a:t>);</a:t>
            </a:r>
          </a:p>
          <a:p>
            <a:pPr marL="0" indent="0">
              <a:buNone/>
            </a:pPr>
            <a:r>
              <a:rPr lang="en-IN" dirty="0">
                <a:latin typeface="Times New Roman" panose="02020603050405020304" pitchFamily="18" charset="0"/>
                <a:cs typeface="Times New Roman" panose="02020603050405020304" pitchFamily="18" charset="0"/>
              </a:rPr>
              <a:t>// Check connection</a:t>
            </a:r>
          </a:p>
          <a:p>
            <a:pPr marL="0" indent="0">
              <a:buNone/>
            </a:pPr>
            <a:r>
              <a:rPr lang="en-IN" dirty="0">
                <a:latin typeface="Times New Roman" panose="02020603050405020304" pitchFamily="18" charset="0"/>
                <a:cs typeface="Times New Roman" panose="02020603050405020304" pitchFamily="18" charset="0"/>
              </a:rPr>
              <a:t>if ($conn-&gt;</a:t>
            </a:r>
            <a:r>
              <a:rPr lang="en-IN" dirty="0" err="1">
                <a:latin typeface="Times New Roman" panose="02020603050405020304" pitchFamily="18" charset="0"/>
                <a:cs typeface="Times New Roman" panose="02020603050405020304" pitchFamily="18" charset="0"/>
              </a:rPr>
              <a:t>connect_error</a:t>
            </a:r>
            <a:r>
              <a:rPr lang="en-IN" dirty="0">
                <a:latin typeface="Times New Roman" panose="02020603050405020304" pitchFamily="18" charset="0"/>
                <a:cs typeface="Times New Roman" panose="02020603050405020304" pitchFamily="18" charset="0"/>
              </a:rPr>
              <a:t>) {</a:t>
            </a:r>
          </a:p>
          <a:p>
            <a:pPr marL="0" indent="0">
              <a:buNone/>
            </a:pPr>
            <a:r>
              <a:rPr lang="en-IN" dirty="0">
                <a:latin typeface="Times New Roman" panose="02020603050405020304" pitchFamily="18" charset="0"/>
                <a:cs typeface="Times New Roman" panose="02020603050405020304" pitchFamily="18" charset="0"/>
              </a:rPr>
              <a:t>  die("Connection failed: " . $conn-&gt;</a:t>
            </a:r>
            <a:r>
              <a:rPr lang="en-IN" dirty="0" err="1">
                <a:latin typeface="Times New Roman" panose="02020603050405020304" pitchFamily="18" charset="0"/>
                <a:cs typeface="Times New Roman" panose="02020603050405020304" pitchFamily="18" charset="0"/>
              </a:rPr>
              <a:t>connect_error</a:t>
            </a:r>
            <a:r>
              <a:rPr lang="en-IN" dirty="0">
                <a:latin typeface="Times New Roman" panose="02020603050405020304" pitchFamily="18" charset="0"/>
                <a:cs typeface="Times New Roman" panose="02020603050405020304" pitchFamily="18" charset="0"/>
              </a:rPr>
              <a:t>);</a:t>
            </a:r>
          </a:p>
          <a:p>
            <a:pPr marL="0" indent="0">
              <a:buNone/>
            </a:pPr>
            <a:r>
              <a:rPr lang="en-IN"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8814008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0E1AA7-5530-BD06-7717-F40C5910E946}"/>
              </a:ext>
            </a:extLst>
          </p:cNvPr>
          <p:cNvSpPr>
            <a:spLocks noGrp="1"/>
          </p:cNvSpPr>
          <p:nvPr>
            <p:ph idx="1"/>
          </p:nvPr>
        </p:nvSpPr>
        <p:spPr/>
        <p:txBody>
          <a:bodyPr>
            <a:normAutofit fontScale="77500" lnSpcReduction="20000"/>
          </a:bodyPr>
          <a:lstStyle/>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sql</a:t>
            </a:r>
            <a:r>
              <a:rPr lang="en-IN" dirty="0">
                <a:latin typeface="Times New Roman" panose="02020603050405020304" pitchFamily="18" charset="0"/>
                <a:cs typeface="Times New Roman" panose="02020603050405020304" pitchFamily="18" charset="0"/>
              </a:rPr>
              <a:t> to delete a record</a:t>
            </a:r>
          </a:p>
          <a:p>
            <a:pPr marL="0" indent="0">
              <a:buNone/>
            </a:pP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sql</a:t>
            </a:r>
            <a:r>
              <a:rPr lang="en-IN" dirty="0">
                <a:latin typeface="Times New Roman" panose="02020603050405020304" pitchFamily="18" charset="0"/>
                <a:cs typeface="Times New Roman" panose="02020603050405020304" pitchFamily="18" charset="0"/>
              </a:rPr>
              <a:t> = "DELETE FROM Employee WHERE </a:t>
            </a:r>
            <a:r>
              <a:rPr lang="en-IN" dirty="0" err="1">
                <a:latin typeface="Times New Roman" panose="02020603050405020304" pitchFamily="18" charset="0"/>
                <a:cs typeface="Times New Roman" panose="02020603050405020304" pitchFamily="18" charset="0"/>
              </a:rPr>
              <a:t>Emp_id</a:t>
            </a:r>
            <a:r>
              <a:rPr lang="en-IN" dirty="0">
                <a:latin typeface="Times New Roman" panose="02020603050405020304" pitchFamily="18" charset="0"/>
                <a:cs typeface="Times New Roman" panose="02020603050405020304" pitchFamily="18" charset="0"/>
              </a:rPr>
              <a:t>=3";</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if ($conn-&gt;query($</a:t>
            </a:r>
            <a:r>
              <a:rPr lang="en-IN" dirty="0" err="1">
                <a:latin typeface="Times New Roman" panose="02020603050405020304" pitchFamily="18" charset="0"/>
                <a:cs typeface="Times New Roman" panose="02020603050405020304" pitchFamily="18" charset="0"/>
              </a:rPr>
              <a:t>sql</a:t>
            </a:r>
            <a:r>
              <a:rPr lang="en-IN" dirty="0">
                <a:latin typeface="Times New Roman" panose="02020603050405020304" pitchFamily="18" charset="0"/>
                <a:cs typeface="Times New Roman" panose="02020603050405020304" pitchFamily="18" charset="0"/>
              </a:rPr>
              <a:t>) === TRUE) {</a:t>
            </a:r>
          </a:p>
          <a:p>
            <a:pPr marL="0" indent="0">
              <a:buNone/>
            </a:pPr>
            <a:r>
              <a:rPr lang="en-IN" dirty="0">
                <a:latin typeface="Times New Roman" panose="02020603050405020304" pitchFamily="18" charset="0"/>
                <a:cs typeface="Times New Roman" panose="02020603050405020304" pitchFamily="18" charset="0"/>
              </a:rPr>
              <a:t>  echo "Record deleted successfully";</a:t>
            </a:r>
          </a:p>
          <a:p>
            <a:pPr marL="0" indent="0">
              <a:buNone/>
            </a:pPr>
            <a:r>
              <a:rPr lang="en-IN" dirty="0">
                <a:latin typeface="Times New Roman" panose="02020603050405020304" pitchFamily="18" charset="0"/>
                <a:cs typeface="Times New Roman" panose="02020603050405020304" pitchFamily="18" charset="0"/>
              </a:rPr>
              <a:t>} else {</a:t>
            </a:r>
          </a:p>
          <a:p>
            <a:pPr marL="0" indent="0">
              <a:buNone/>
            </a:pPr>
            <a:r>
              <a:rPr lang="en-IN" dirty="0">
                <a:latin typeface="Times New Roman" panose="02020603050405020304" pitchFamily="18" charset="0"/>
                <a:cs typeface="Times New Roman" panose="02020603050405020304" pitchFamily="18" charset="0"/>
              </a:rPr>
              <a:t>  echo "Error deleting record: " . $conn-&gt;error;</a:t>
            </a:r>
          </a:p>
          <a:p>
            <a:pPr marL="0" indent="0">
              <a:buNone/>
            </a:pPr>
            <a:r>
              <a:rPr lang="en-IN" dirty="0">
                <a:latin typeface="Times New Roman" panose="02020603050405020304" pitchFamily="18" charset="0"/>
                <a:cs typeface="Times New Roman" panose="02020603050405020304" pitchFamily="18" charset="0"/>
              </a:rPr>
              <a:t>}</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$conn-&gt;close();</a:t>
            </a:r>
          </a:p>
          <a:p>
            <a:pPr marL="0" indent="0">
              <a:buNone/>
            </a:pPr>
            <a:r>
              <a:rPr lang="en-IN" dirty="0">
                <a:latin typeface="Times New Roman" panose="02020603050405020304" pitchFamily="18" charset="0"/>
                <a:cs typeface="Times New Roman" panose="02020603050405020304" pitchFamily="18" charset="0"/>
              </a:rPr>
              <a:t>?&gt;</a:t>
            </a:r>
          </a:p>
        </p:txBody>
      </p:sp>
    </p:spTree>
    <p:extLst>
      <p:ext uri="{BB962C8B-B14F-4D97-AF65-F5344CB8AC3E}">
        <p14:creationId xmlns:p14="http://schemas.microsoft.com/office/powerpoint/2010/main" val="13779071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ACAE9-13B3-AE17-31CE-EC601D33EF68}"/>
              </a:ext>
            </a:extLst>
          </p:cNvPr>
          <p:cNvSpPr>
            <a:spLocks noGrp="1"/>
          </p:cNvSpPr>
          <p:nvPr>
            <p:ph type="title"/>
          </p:nvPr>
        </p:nvSpPr>
        <p:spPr/>
        <p:txBody>
          <a:bodyPr/>
          <a:lstStyle/>
          <a:p>
            <a:r>
              <a:rPr lang="en-IN" b="0" i="0" dirty="0">
                <a:solidFill>
                  <a:srgbClr val="000000"/>
                </a:solidFill>
                <a:effectLst/>
                <a:latin typeface="Times New Roman" panose="02020603050405020304" pitchFamily="18" charset="0"/>
                <a:cs typeface="Times New Roman" panose="02020603050405020304" pitchFamily="18" charset="0"/>
              </a:rPr>
              <a:t>PHP MySQL Update Data</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0C61E1B-DE7B-5038-ED61-C52B004C9614}"/>
              </a:ext>
            </a:extLst>
          </p:cNvPr>
          <p:cNvSpPr>
            <a:spLocks noGrp="1"/>
          </p:cNvSpPr>
          <p:nvPr>
            <p:ph idx="1"/>
          </p:nvPr>
        </p:nvSpPr>
        <p:spPr/>
        <p:txBody>
          <a:bodyPr/>
          <a:lstStyle/>
          <a:p>
            <a:r>
              <a:rPr lang="en-US" b="0" i="0" dirty="0">
                <a:solidFill>
                  <a:srgbClr val="000000"/>
                </a:solidFill>
                <a:effectLst/>
                <a:latin typeface="Times New Roman" panose="02020603050405020304" pitchFamily="18" charset="0"/>
                <a:cs typeface="Times New Roman" panose="02020603050405020304" pitchFamily="18" charset="0"/>
              </a:rPr>
              <a:t>The UPDATE statement is used to update existing records in a table: </a:t>
            </a:r>
          </a:p>
          <a:p>
            <a:pPr marL="0" indent="0">
              <a:buNone/>
            </a:pPr>
            <a:r>
              <a:rPr lang="en-US" b="0" i="0" dirty="0">
                <a:solidFill>
                  <a:srgbClr val="000000"/>
                </a:solidFill>
                <a:effectLst/>
                <a:latin typeface="Times New Roman" panose="02020603050405020304" pitchFamily="18" charset="0"/>
                <a:cs typeface="Times New Roman" panose="02020603050405020304" pitchFamily="18" charset="0"/>
              </a:rPr>
              <a:t>UPDATE </a:t>
            </a:r>
            <a:r>
              <a:rPr lang="en-US" b="0" i="0" dirty="0" err="1">
                <a:solidFill>
                  <a:srgbClr val="000000"/>
                </a:solidFill>
                <a:effectLst/>
                <a:latin typeface="Times New Roman" panose="02020603050405020304" pitchFamily="18" charset="0"/>
                <a:cs typeface="Times New Roman" panose="02020603050405020304" pitchFamily="18" charset="0"/>
              </a:rPr>
              <a:t>table_name</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SET column1=value, column2=value2,...</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WHERE </a:t>
            </a:r>
            <a:r>
              <a:rPr lang="en-US" b="0" i="0" dirty="0" err="1">
                <a:solidFill>
                  <a:srgbClr val="000000"/>
                </a:solidFill>
                <a:effectLst/>
                <a:latin typeface="Times New Roman" panose="02020603050405020304" pitchFamily="18" charset="0"/>
                <a:cs typeface="Times New Roman" panose="02020603050405020304" pitchFamily="18" charset="0"/>
              </a:rPr>
              <a:t>some_column</a:t>
            </a:r>
            <a:r>
              <a:rPr lang="en-US" b="0" i="0" dirty="0">
                <a:solidFill>
                  <a:srgbClr val="000000"/>
                </a:solidFill>
                <a:effectLst/>
                <a:latin typeface="Times New Roman" panose="02020603050405020304" pitchFamily="18" charset="0"/>
                <a:cs typeface="Times New Roman" panose="02020603050405020304" pitchFamily="18" charset="0"/>
              </a:rPr>
              <a:t>=</a:t>
            </a:r>
            <a:r>
              <a:rPr lang="en-US" b="0" i="0" dirty="0" err="1">
                <a:solidFill>
                  <a:srgbClr val="000000"/>
                </a:solidFill>
                <a:effectLst/>
                <a:latin typeface="Times New Roman" panose="02020603050405020304" pitchFamily="18" charset="0"/>
                <a:cs typeface="Times New Roman" panose="02020603050405020304" pitchFamily="18" charset="0"/>
              </a:rPr>
              <a:t>some_value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546250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73CB7-A3A5-3218-ACA7-92B892242BA3}"/>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Example</a:t>
            </a:r>
          </a:p>
        </p:txBody>
      </p:sp>
      <p:sp>
        <p:nvSpPr>
          <p:cNvPr id="3" name="Content Placeholder 2">
            <a:extLst>
              <a:ext uri="{FF2B5EF4-FFF2-40B4-BE49-F238E27FC236}">
                <a16:creationId xmlns:a16="http://schemas.microsoft.com/office/drawing/2014/main" id="{E14C9D1C-401D-585C-D145-22054F0DD60D}"/>
              </a:ext>
            </a:extLst>
          </p:cNvPr>
          <p:cNvSpPr>
            <a:spLocks noGrp="1"/>
          </p:cNvSpPr>
          <p:nvPr>
            <p:ph idx="1"/>
          </p:nvPr>
        </p:nvSpPr>
        <p:spPr/>
        <p:txBody>
          <a:bodyPr>
            <a:normAutofit fontScale="77500" lnSpcReduction="20000"/>
          </a:bodyPr>
          <a:lstStyle/>
          <a:p>
            <a:pPr marL="0" indent="0">
              <a:buNone/>
            </a:pPr>
            <a:r>
              <a:rPr lang="en-IN" dirty="0">
                <a:latin typeface="Times New Roman" panose="02020603050405020304" pitchFamily="18" charset="0"/>
                <a:cs typeface="Times New Roman" panose="02020603050405020304" pitchFamily="18" charset="0"/>
              </a:rPr>
              <a:t>&lt;?</a:t>
            </a:r>
            <a:r>
              <a:rPr lang="en-IN" dirty="0" err="1">
                <a:latin typeface="Times New Roman" panose="02020603050405020304" pitchFamily="18" charset="0"/>
                <a:cs typeface="Times New Roman" panose="02020603050405020304" pitchFamily="18" charset="0"/>
              </a:rPr>
              <a:t>php</a:t>
            </a: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servername</a:t>
            </a:r>
            <a:r>
              <a:rPr lang="en-IN" dirty="0">
                <a:latin typeface="Times New Roman" panose="02020603050405020304" pitchFamily="18" charset="0"/>
                <a:cs typeface="Times New Roman" panose="02020603050405020304" pitchFamily="18" charset="0"/>
              </a:rPr>
              <a:t> = "localhost";</a:t>
            </a:r>
          </a:p>
          <a:p>
            <a:pPr marL="0" indent="0">
              <a:buNone/>
            </a:pPr>
            <a:r>
              <a:rPr lang="en-IN" dirty="0">
                <a:latin typeface="Times New Roman" panose="02020603050405020304" pitchFamily="18" charset="0"/>
                <a:cs typeface="Times New Roman" panose="02020603050405020304" pitchFamily="18" charset="0"/>
              </a:rPr>
              <a:t>$username = "root";</a:t>
            </a:r>
          </a:p>
          <a:p>
            <a:pPr marL="0" indent="0">
              <a:buNone/>
            </a:pPr>
            <a:r>
              <a:rPr lang="en-IN" dirty="0">
                <a:latin typeface="Times New Roman" panose="02020603050405020304" pitchFamily="18" charset="0"/>
                <a:cs typeface="Times New Roman" panose="02020603050405020304" pitchFamily="18" charset="0"/>
              </a:rPr>
              <a:t>$password = "";</a:t>
            </a:r>
          </a:p>
          <a:p>
            <a:pPr marL="0" indent="0">
              <a:buNone/>
            </a:pP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dbname</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myDB</a:t>
            </a:r>
            <a:r>
              <a:rPr lang="en-IN" dirty="0">
                <a:latin typeface="Times New Roman" panose="02020603050405020304" pitchFamily="18" charset="0"/>
                <a:cs typeface="Times New Roman" panose="02020603050405020304" pitchFamily="18" charset="0"/>
              </a:rPr>
              <a:t>";</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 Create connection</a:t>
            </a:r>
          </a:p>
          <a:p>
            <a:pPr marL="0" indent="0">
              <a:buNone/>
            </a:pPr>
            <a:r>
              <a:rPr lang="en-IN" dirty="0">
                <a:latin typeface="Times New Roman" panose="02020603050405020304" pitchFamily="18" charset="0"/>
                <a:cs typeface="Times New Roman" panose="02020603050405020304" pitchFamily="18" charset="0"/>
              </a:rPr>
              <a:t>$conn = new </a:t>
            </a:r>
            <a:r>
              <a:rPr lang="en-IN" dirty="0" err="1">
                <a:latin typeface="Times New Roman" panose="02020603050405020304" pitchFamily="18" charset="0"/>
                <a:cs typeface="Times New Roman" panose="02020603050405020304" pitchFamily="18" charset="0"/>
              </a:rPr>
              <a:t>mysqli</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servername</a:t>
            </a:r>
            <a:r>
              <a:rPr lang="en-IN" dirty="0">
                <a:latin typeface="Times New Roman" panose="02020603050405020304" pitchFamily="18" charset="0"/>
                <a:cs typeface="Times New Roman" panose="02020603050405020304" pitchFamily="18" charset="0"/>
              </a:rPr>
              <a:t>, $username, $password, $</a:t>
            </a:r>
            <a:r>
              <a:rPr lang="en-IN" dirty="0" err="1">
                <a:latin typeface="Times New Roman" panose="02020603050405020304" pitchFamily="18" charset="0"/>
                <a:cs typeface="Times New Roman" panose="02020603050405020304" pitchFamily="18" charset="0"/>
              </a:rPr>
              <a:t>dbname</a:t>
            </a:r>
            <a:r>
              <a:rPr lang="en-IN" dirty="0">
                <a:latin typeface="Times New Roman" panose="02020603050405020304" pitchFamily="18" charset="0"/>
                <a:cs typeface="Times New Roman" panose="02020603050405020304" pitchFamily="18" charset="0"/>
              </a:rPr>
              <a:t>);</a:t>
            </a:r>
          </a:p>
          <a:p>
            <a:pPr marL="0" indent="0">
              <a:buNone/>
            </a:pPr>
            <a:r>
              <a:rPr lang="en-IN" dirty="0">
                <a:latin typeface="Times New Roman" panose="02020603050405020304" pitchFamily="18" charset="0"/>
                <a:cs typeface="Times New Roman" panose="02020603050405020304" pitchFamily="18" charset="0"/>
              </a:rPr>
              <a:t>// Check connection</a:t>
            </a:r>
          </a:p>
          <a:p>
            <a:pPr marL="0" indent="0">
              <a:buNone/>
            </a:pPr>
            <a:r>
              <a:rPr lang="en-IN" dirty="0">
                <a:latin typeface="Times New Roman" panose="02020603050405020304" pitchFamily="18" charset="0"/>
                <a:cs typeface="Times New Roman" panose="02020603050405020304" pitchFamily="18" charset="0"/>
              </a:rPr>
              <a:t>if ($conn-&gt;</a:t>
            </a:r>
            <a:r>
              <a:rPr lang="en-IN" dirty="0" err="1">
                <a:latin typeface="Times New Roman" panose="02020603050405020304" pitchFamily="18" charset="0"/>
                <a:cs typeface="Times New Roman" panose="02020603050405020304" pitchFamily="18" charset="0"/>
              </a:rPr>
              <a:t>connect_error</a:t>
            </a:r>
            <a:r>
              <a:rPr lang="en-IN" dirty="0">
                <a:latin typeface="Times New Roman" panose="02020603050405020304" pitchFamily="18" charset="0"/>
                <a:cs typeface="Times New Roman" panose="02020603050405020304" pitchFamily="18" charset="0"/>
              </a:rPr>
              <a:t>) {</a:t>
            </a:r>
          </a:p>
          <a:p>
            <a:pPr marL="0" indent="0">
              <a:buNone/>
            </a:pPr>
            <a:r>
              <a:rPr lang="en-IN" dirty="0">
                <a:latin typeface="Times New Roman" panose="02020603050405020304" pitchFamily="18" charset="0"/>
                <a:cs typeface="Times New Roman" panose="02020603050405020304" pitchFamily="18" charset="0"/>
              </a:rPr>
              <a:t>  die("Connection failed: " . $conn-&gt;</a:t>
            </a:r>
            <a:r>
              <a:rPr lang="en-IN" dirty="0" err="1">
                <a:latin typeface="Times New Roman" panose="02020603050405020304" pitchFamily="18" charset="0"/>
                <a:cs typeface="Times New Roman" panose="02020603050405020304" pitchFamily="18" charset="0"/>
              </a:rPr>
              <a:t>connect_error</a:t>
            </a:r>
            <a:r>
              <a:rPr lang="en-IN" dirty="0">
                <a:latin typeface="Times New Roman" panose="02020603050405020304" pitchFamily="18" charset="0"/>
                <a:cs typeface="Times New Roman" panose="02020603050405020304" pitchFamily="18" charset="0"/>
              </a:rPr>
              <a:t>);</a:t>
            </a:r>
          </a:p>
          <a:p>
            <a:pPr marL="0" indent="0">
              <a:buNone/>
            </a:pPr>
            <a:r>
              <a:rPr lang="en-IN" dirty="0">
                <a:latin typeface="Times New Roman" panose="02020603050405020304" pitchFamily="18" charset="0"/>
                <a:cs typeface="Times New Roman" panose="02020603050405020304" pitchFamily="18" charset="0"/>
              </a:rPr>
              <a:t>}</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287730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61C56E-336B-1917-B453-2F0CBFB4E600}"/>
              </a:ext>
            </a:extLst>
          </p:cNvPr>
          <p:cNvSpPr>
            <a:spLocks noGrp="1"/>
          </p:cNvSpPr>
          <p:nvPr>
            <p:ph idx="1"/>
          </p:nvPr>
        </p:nvSpPr>
        <p:spPr/>
        <p:txBody>
          <a:bodyPr>
            <a:normAutofit fontScale="92500" lnSpcReduction="20000"/>
          </a:bodyPr>
          <a:lstStyle/>
          <a:p>
            <a:pPr marL="0" indent="0">
              <a:buNone/>
            </a:pP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sql</a:t>
            </a:r>
            <a:r>
              <a:rPr lang="en-IN" dirty="0">
                <a:latin typeface="Times New Roman" panose="02020603050405020304" pitchFamily="18" charset="0"/>
                <a:cs typeface="Times New Roman" panose="02020603050405020304" pitchFamily="18" charset="0"/>
              </a:rPr>
              <a:t> = "UPDATE Employee SET Salary=90000 WHERE </a:t>
            </a:r>
            <a:r>
              <a:rPr lang="en-IN" dirty="0" err="1">
                <a:latin typeface="Times New Roman" panose="02020603050405020304" pitchFamily="18" charset="0"/>
                <a:cs typeface="Times New Roman" panose="02020603050405020304" pitchFamily="18" charset="0"/>
              </a:rPr>
              <a:t>Emp_id</a:t>
            </a:r>
            <a:r>
              <a:rPr lang="en-IN" dirty="0">
                <a:latin typeface="Times New Roman" panose="02020603050405020304" pitchFamily="18" charset="0"/>
                <a:cs typeface="Times New Roman" panose="02020603050405020304" pitchFamily="18" charset="0"/>
              </a:rPr>
              <a:t>=2";</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if ($conn-&gt;query($</a:t>
            </a:r>
            <a:r>
              <a:rPr lang="en-IN" dirty="0" err="1">
                <a:latin typeface="Times New Roman" panose="02020603050405020304" pitchFamily="18" charset="0"/>
                <a:cs typeface="Times New Roman" panose="02020603050405020304" pitchFamily="18" charset="0"/>
              </a:rPr>
              <a:t>sql</a:t>
            </a:r>
            <a:r>
              <a:rPr lang="en-IN" dirty="0">
                <a:latin typeface="Times New Roman" panose="02020603050405020304" pitchFamily="18" charset="0"/>
                <a:cs typeface="Times New Roman" panose="02020603050405020304" pitchFamily="18" charset="0"/>
              </a:rPr>
              <a:t>) === TRUE) {</a:t>
            </a:r>
          </a:p>
          <a:p>
            <a:pPr marL="0" indent="0">
              <a:buNone/>
            </a:pPr>
            <a:r>
              <a:rPr lang="en-IN" dirty="0">
                <a:latin typeface="Times New Roman" panose="02020603050405020304" pitchFamily="18" charset="0"/>
                <a:cs typeface="Times New Roman" panose="02020603050405020304" pitchFamily="18" charset="0"/>
              </a:rPr>
              <a:t>  echo "Record updated successfully";</a:t>
            </a:r>
          </a:p>
          <a:p>
            <a:pPr marL="0" indent="0">
              <a:buNone/>
            </a:pPr>
            <a:r>
              <a:rPr lang="en-IN" dirty="0">
                <a:latin typeface="Times New Roman" panose="02020603050405020304" pitchFamily="18" charset="0"/>
                <a:cs typeface="Times New Roman" panose="02020603050405020304" pitchFamily="18" charset="0"/>
              </a:rPr>
              <a:t>} else {</a:t>
            </a:r>
          </a:p>
          <a:p>
            <a:pPr marL="0" indent="0">
              <a:buNone/>
            </a:pPr>
            <a:r>
              <a:rPr lang="en-IN" dirty="0">
                <a:latin typeface="Times New Roman" panose="02020603050405020304" pitchFamily="18" charset="0"/>
                <a:cs typeface="Times New Roman" panose="02020603050405020304" pitchFamily="18" charset="0"/>
              </a:rPr>
              <a:t>  echo "Error updating record: " . $conn-&gt;error;</a:t>
            </a:r>
          </a:p>
          <a:p>
            <a:pPr marL="0" indent="0">
              <a:buNone/>
            </a:pPr>
            <a:r>
              <a:rPr lang="en-IN" dirty="0">
                <a:latin typeface="Times New Roman" panose="02020603050405020304" pitchFamily="18" charset="0"/>
                <a:cs typeface="Times New Roman" panose="02020603050405020304" pitchFamily="18" charset="0"/>
              </a:rPr>
              <a:t>}</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$conn-&gt;close();</a:t>
            </a:r>
          </a:p>
          <a:p>
            <a:pPr marL="0" indent="0">
              <a:buNone/>
            </a:pPr>
            <a:r>
              <a:rPr lang="en-IN" dirty="0">
                <a:latin typeface="Times New Roman" panose="02020603050405020304" pitchFamily="18" charset="0"/>
                <a:cs typeface="Times New Roman" panose="02020603050405020304" pitchFamily="18" charset="0"/>
              </a:rPr>
              <a:t>?&gt;</a:t>
            </a:r>
          </a:p>
        </p:txBody>
      </p:sp>
    </p:spTree>
    <p:extLst>
      <p:ext uri="{BB962C8B-B14F-4D97-AF65-F5344CB8AC3E}">
        <p14:creationId xmlns:p14="http://schemas.microsoft.com/office/powerpoint/2010/main" val="373401189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0C29D-8D75-20DD-6C74-37E10514D7AC}"/>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Example</a:t>
            </a:r>
            <a:r>
              <a:rPr lang="en-IN">
                <a:latin typeface="Times New Roman" panose="02020603050405020304" pitchFamily="18" charset="0"/>
                <a:cs typeface="Times New Roman" panose="02020603050405020304" pitchFamily="18" charset="0"/>
              </a:rPr>
              <a:t>: </a:t>
            </a:r>
            <a:br>
              <a:rPr lang="en-IN">
                <a:latin typeface="Times New Roman" panose="02020603050405020304" pitchFamily="18" charset="0"/>
                <a:cs typeface="Times New Roman" panose="02020603050405020304" pitchFamily="18" charset="0"/>
              </a:rPr>
            </a:br>
            <a:r>
              <a:rPr lang="en-IN">
                <a:latin typeface="Times New Roman" panose="02020603050405020304" pitchFamily="18" charset="0"/>
                <a:cs typeface="Times New Roman" panose="02020603050405020304" pitchFamily="18" charset="0"/>
              </a:rPr>
              <a:t>student</a:t>
            </a:r>
            <a:r>
              <a:rPr lang="en-IN" dirty="0">
                <a:latin typeface="Times New Roman" panose="02020603050405020304" pitchFamily="18" charset="0"/>
                <a:cs typeface="Times New Roman" panose="02020603050405020304" pitchFamily="18" charset="0"/>
              </a:rPr>
              <a:t>.html</a:t>
            </a:r>
          </a:p>
        </p:txBody>
      </p:sp>
      <p:sp>
        <p:nvSpPr>
          <p:cNvPr id="3" name="Content Placeholder 2">
            <a:extLst>
              <a:ext uri="{FF2B5EF4-FFF2-40B4-BE49-F238E27FC236}">
                <a16:creationId xmlns:a16="http://schemas.microsoft.com/office/drawing/2014/main" id="{661612A2-9CD7-8BA6-CD9F-A33AEB2CBD6D}"/>
              </a:ext>
            </a:extLst>
          </p:cNvPr>
          <p:cNvSpPr>
            <a:spLocks noGrp="1"/>
          </p:cNvSpPr>
          <p:nvPr>
            <p:ph idx="1"/>
          </p:nvPr>
        </p:nvSpPr>
        <p:spPr/>
        <p:txBody>
          <a:bodyPr>
            <a:normAutofit fontScale="85000" lnSpcReduction="20000"/>
          </a:bodyPr>
          <a:lstStyle/>
          <a:p>
            <a:pPr marL="0" indent="0">
              <a:buNone/>
            </a:pPr>
            <a:r>
              <a:rPr lang="en-IN" dirty="0">
                <a:latin typeface="Times New Roman" panose="02020603050405020304" pitchFamily="18" charset="0"/>
                <a:cs typeface="Times New Roman" panose="02020603050405020304" pitchFamily="18" charset="0"/>
              </a:rPr>
              <a:t>&lt;html&gt;</a:t>
            </a:r>
          </a:p>
          <a:p>
            <a:pPr marL="0" indent="0">
              <a:buNone/>
            </a:pPr>
            <a:r>
              <a:rPr lang="en-IN" dirty="0">
                <a:latin typeface="Times New Roman" panose="02020603050405020304" pitchFamily="18" charset="0"/>
                <a:cs typeface="Times New Roman" panose="02020603050405020304" pitchFamily="18" charset="0"/>
              </a:rPr>
              <a:t>&lt;body&gt;</a:t>
            </a:r>
          </a:p>
          <a:p>
            <a:pPr marL="0" indent="0">
              <a:buNone/>
            </a:pPr>
            <a:r>
              <a:rPr lang="en-IN" dirty="0">
                <a:latin typeface="Times New Roman" panose="02020603050405020304" pitchFamily="18" charset="0"/>
                <a:cs typeface="Times New Roman" panose="02020603050405020304" pitchFamily="18" charset="0"/>
              </a:rPr>
              <a:t>&lt;h1&gt; Student Information&lt;/h1&gt;</a:t>
            </a:r>
          </a:p>
          <a:p>
            <a:pPr marL="0" indent="0">
              <a:buNone/>
            </a:pPr>
            <a:r>
              <a:rPr lang="en-IN" dirty="0">
                <a:latin typeface="Times New Roman" panose="02020603050405020304" pitchFamily="18" charset="0"/>
                <a:cs typeface="Times New Roman" panose="02020603050405020304" pitchFamily="18" charset="0"/>
              </a:rPr>
              <a:t>&lt;form action="</a:t>
            </a:r>
            <a:r>
              <a:rPr lang="en-IN" dirty="0" err="1">
                <a:latin typeface="Times New Roman" panose="02020603050405020304" pitchFamily="18" charset="0"/>
                <a:cs typeface="Times New Roman" panose="02020603050405020304" pitchFamily="18" charset="0"/>
              </a:rPr>
              <a:t>student.php</a:t>
            </a:r>
            <a:r>
              <a:rPr lang="en-IN" dirty="0">
                <a:latin typeface="Times New Roman" panose="02020603050405020304" pitchFamily="18" charset="0"/>
                <a:cs typeface="Times New Roman" panose="02020603050405020304" pitchFamily="18" charset="0"/>
              </a:rPr>
              <a:t>" method="post"&gt;</a:t>
            </a:r>
          </a:p>
          <a:p>
            <a:pPr marL="0" indent="0">
              <a:buNone/>
            </a:pPr>
            <a:r>
              <a:rPr lang="en-IN" dirty="0">
                <a:latin typeface="Times New Roman" panose="02020603050405020304" pitchFamily="18" charset="0"/>
                <a:cs typeface="Times New Roman" panose="02020603050405020304" pitchFamily="18" charset="0"/>
              </a:rPr>
              <a:t>Name: &lt;input type="text" name="name"&gt;&lt;</a:t>
            </a:r>
            <a:r>
              <a:rPr lang="en-IN" dirty="0" err="1">
                <a:latin typeface="Times New Roman" panose="02020603050405020304" pitchFamily="18" charset="0"/>
                <a:cs typeface="Times New Roman" panose="02020603050405020304" pitchFamily="18" charset="0"/>
              </a:rPr>
              <a:t>br</a:t>
            </a:r>
            <a:r>
              <a:rPr lang="en-IN" dirty="0">
                <a:latin typeface="Times New Roman" panose="02020603050405020304" pitchFamily="18" charset="0"/>
                <a:cs typeface="Times New Roman" panose="02020603050405020304" pitchFamily="18" charset="0"/>
              </a:rPr>
              <a:t>&gt;</a:t>
            </a:r>
          </a:p>
          <a:p>
            <a:pPr marL="0" indent="0">
              <a:buNone/>
            </a:pPr>
            <a:r>
              <a:rPr lang="en-IN" dirty="0">
                <a:latin typeface="Times New Roman" panose="02020603050405020304" pitchFamily="18" charset="0"/>
                <a:cs typeface="Times New Roman" panose="02020603050405020304" pitchFamily="18" charset="0"/>
              </a:rPr>
              <a:t>E-mail: &lt;input type="text" name="email"&gt;&lt;</a:t>
            </a:r>
            <a:r>
              <a:rPr lang="en-IN" dirty="0" err="1">
                <a:latin typeface="Times New Roman" panose="02020603050405020304" pitchFamily="18" charset="0"/>
                <a:cs typeface="Times New Roman" panose="02020603050405020304" pitchFamily="18" charset="0"/>
              </a:rPr>
              <a:t>br</a:t>
            </a:r>
            <a:r>
              <a:rPr lang="en-IN" dirty="0">
                <a:latin typeface="Times New Roman" panose="02020603050405020304" pitchFamily="18" charset="0"/>
                <a:cs typeface="Times New Roman" panose="02020603050405020304" pitchFamily="18" charset="0"/>
              </a:rPr>
              <a:t>&gt;</a:t>
            </a:r>
          </a:p>
          <a:p>
            <a:pPr marL="0" indent="0">
              <a:buNone/>
            </a:pPr>
            <a:r>
              <a:rPr lang="en-IN" dirty="0">
                <a:latin typeface="Times New Roman" panose="02020603050405020304" pitchFamily="18" charset="0"/>
                <a:cs typeface="Times New Roman" panose="02020603050405020304" pitchFamily="18" charset="0"/>
              </a:rPr>
              <a:t>&lt;input type="submit"&gt;</a:t>
            </a:r>
          </a:p>
          <a:p>
            <a:pPr marL="0" indent="0">
              <a:buNone/>
            </a:pPr>
            <a:r>
              <a:rPr lang="en-IN" dirty="0">
                <a:latin typeface="Times New Roman" panose="02020603050405020304" pitchFamily="18" charset="0"/>
                <a:cs typeface="Times New Roman" panose="02020603050405020304" pitchFamily="18" charset="0"/>
              </a:rPr>
              <a:t>&lt;/form&gt;</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&lt;/body&gt;</a:t>
            </a:r>
          </a:p>
          <a:p>
            <a:pPr marL="0" indent="0">
              <a:buNone/>
            </a:pPr>
            <a:r>
              <a:rPr lang="en-IN" dirty="0">
                <a:latin typeface="Times New Roman" panose="02020603050405020304" pitchFamily="18" charset="0"/>
                <a:cs typeface="Times New Roman" panose="02020603050405020304" pitchFamily="18" charset="0"/>
              </a:rPr>
              <a:t>&lt;/html&gt;</a:t>
            </a:r>
          </a:p>
        </p:txBody>
      </p:sp>
    </p:spTree>
    <p:extLst>
      <p:ext uri="{BB962C8B-B14F-4D97-AF65-F5344CB8AC3E}">
        <p14:creationId xmlns:p14="http://schemas.microsoft.com/office/powerpoint/2010/main" val="426060377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8D3A6-0AA4-9BCC-5763-83437844EBB4}"/>
              </a:ext>
            </a:extLst>
          </p:cNvPr>
          <p:cNvSpPr>
            <a:spLocks noGrp="1"/>
          </p:cNvSpPr>
          <p:nvPr>
            <p:ph type="title"/>
          </p:nvPr>
        </p:nvSpPr>
        <p:spPr/>
        <p:txBody>
          <a:bodyPr/>
          <a:lstStyle/>
          <a:p>
            <a:r>
              <a:rPr lang="en-IN" dirty="0" err="1">
                <a:latin typeface="Times New Roman" panose="02020603050405020304" pitchFamily="18" charset="0"/>
                <a:cs typeface="Times New Roman" panose="02020603050405020304" pitchFamily="18" charset="0"/>
              </a:rPr>
              <a:t>Student.php</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1C99F1C-D3A7-268F-7D53-4F6993B667D2}"/>
              </a:ext>
            </a:extLst>
          </p:cNvPr>
          <p:cNvSpPr>
            <a:spLocks noGrp="1"/>
          </p:cNvSpPr>
          <p:nvPr>
            <p:ph idx="1"/>
          </p:nvPr>
        </p:nvSpPr>
        <p:spPr/>
        <p:txBody>
          <a:bodyPr>
            <a:normAutofit fontScale="55000" lnSpcReduction="20000"/>
          </a:bodyPr>
          <a:lstStyle/>
          <a:p>
            <a:pPr marL="0" indent="0">
              <a:buNone/>
            </a:pPr>
            <a:r>
              <a:rPr lang="en-IN" dirty="0">
                <a:latin typeface="Times New Roman" panose="02020603050405020304" pitchFamily="18" charset="0"/>
                <a:cs typeface="Times New Roman" panose="02020603050405020304" pitchFamily="18" charset="0"/>
              </a:rPr>
              <a:t>&lt;?</a:t>
            </a:r>
            <a:r>
              <a:rPr lang="en-IN" dirty="0" err="1">
                <a:latin typeface="Times New Roman" panose="02020603050405020304" pitchFamily="18" charset="0"/>
                <a:cs typeface="Times New Roman" panose="02020603050405020304" pitchFamily="18" charset="0"/>
              </a:rPr>
              <a:t>php</a:t>
            </a: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servername</a:t>
            </a:r>
            <a:r>
              <a:rPr lang="en-IN" dirty="0">
                <a:latin typeface="Times New Roman" panose="02020603050405020304" pitchFamily="18" charset="0"/>
                <a:cs typeface="Times New Roman" panose="02020603050405020304" pitchFamily="18" charset="0"/>
              </a:rPr>
              <a:t> = "localhost";</a:t>
            </a:r>
          </a:p>
          <a:p>
            <a:pPr marL="0" indent="0">
              <a:buNone/>
            </a:pPr>
            <a:r>
              <a:rPr lang="en-IN" dirty="0">
                <a:latin typeface="Times New Roman" panose="02020603050405020304" pitchFamily="18" charset="0"/>
                <a:cs typeface="Times New Roman" panose="02020603050405020304" pitchFamily="18" charset="0"/>
              </a:rPr>
              <a:t>$username = "root";</a:t>
            </a:r>
          </a:p>
          <a:p>
            <a:pPr marL="0" indent="0">
              <a:buNone/>
            </a:pPr>
            <a:r>
              <a:rPr lang="en-IN" dirty="0">
                <a:latin typeface="Times New Roman" panose="02020603050405020304" pitchFamily="18" charset="0"/>
                <a:cs typeface="Times New Roman" panose="02020603050405020304" pitchFamily="18" charset="0"/>
              </a:rPr>
              <a:t>$password = "";</a:t>
            </a:r>
          </a:p>
          <a:p>
            <a:pPr marL="0" indent="0">
              <a:buNone/>
            </a:pP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dbname</a:t>
            </a:r>
            <a:r>
              <a:rPr lang="en-IN" dirty="0">
                <a:latin typeface="Times New Roman" panose="02020603050405020304" pitchFamily="18" charset="0"/>
                <a:cs typeface="Times New Roman" panose="02020603050405020304" pitchFamily="18" charset="0"/>
              </a:rPr>
              <a:t> = "login";</a:t>
            </a:r>
          </a:p>
          <a:p>
            <a:pPr marL="0" indent="0">
              <a:buNone/>
            </a:pPr>
            <a:r>
              <a:rPr lang="en-IN" dirty="0">
                <a:latin typeface="Times New Roman" panose="02020603050405020304" pitchFamily="18" charset="0"/>
                <a:cs typeface="Times New Roman" panose="02020603050405020304" pitchFamily="18" charset="0"/>
              </a:rPr>
              <a:t>$x=$_POST['name'];</a:t>
            </a:r>
          </a:p>
          <a:p>
            <a:pPr marL="0" indent="0">
              <a:buNone/>
            </a:pPr>
            <a:r>
              <a:rPr lang="en-IN" dirty="0">
                <a:latin typeface="Times New Roman" panose="02020603050405020304" pitchFamily="18" charset="0"/>
                <a:cs typeface="Times New Roman" panose="02020603050405020304" pitchFamily="18" charset="0"/>
              </a:rPr>
              <a:t>$y=$_POST['email'];</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 Create connection</a:t>
            </a:r>
          </a:p>
          <a:p>
            <a:pPr marL="0" indent="0">
              <a:buNone/>
            </a:pPr>
            <a:r>
              <a:rPr lang="en-IN" dirty="0">
                <a:latin typeface="Times New Roman" panose="02020603050405020304" pitchFamily="18" charset="0"/>
                <a:cs typeface="Times New Roman" panose="02020603050405020304" pitchFamily="18" charset="0"/>
              </a:rPr>
              <a:t>$conn = new </a:t>
            </a:r>
            <a:r>
              <a:rPr lang="en-IN" dirty="0" err="1">
                <a:latin typeface="Times New Roman" panose="02020603050405020304" pitchFamily="18" charset="0"/>
                <a:cs typeface="Times New Roman" panose="02020603050405020304" pitchFamily="18" charset="0"/>
              </a:rPr>
              <a:t>mysqli</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servername</a:t>
            </a:r>
            <a:r>
              <a:rPr lang="en-IN" dirty="0">
                <a:latin typeface="Times New Roman" panose="02020603050405020304" pitchFamily="18" charset="0"/>
                <a:cs typeface="Times New Roman" panose="02020603050405020304" pitchFamily="18" charset="0"/>
              </a:rPr>
              <a:t>, $username, $password, $</a:t>
            </a:r>
            <a:r>
              <a:rPr lang="en-IN" dirty="0" err="1">
                <a:latin typeface="Times New Roman" panose="02020603050405020304" pitchFamily="18" charset="0"/>
                <a:cs typeface="Times New Roman" panose="02020603050405020304" pitchFamily="18" charset="0"/>
              </a:rPr>
              <a:t>dbname</a:t>
            </a:r>
            <a:r>
              <a:rPr lang="en-IN" dirty="0">
                <a:latin typeface="Times New Roman" panose="02020603050405020304" pitchFamily="18" charset="0"/>
                <a:cs typeface="Times New Roman" panose="02020603050405020304" pitchFamily="18" charset="0"/>
              </a:rPr>
              <a:t>);</a:t>
            </a:r>
          </a:p>
          <a:p>
            <a:pPr marL="0" indent="0">
              <a:buNone/>
            </a:pPr>
            <a:r>
              <a:rPr lang="en-IN" dirty="0">
                <a:latin typeface="Times New Roman" panose="02020603050405020304" pitchFamily="18" charset="0"/>
                <a:cs typeface="Times New Roman" panose="02020603050405020304" pitchFamily="18" charset="0"/>
              </a:rPr>
              <a:t>// Check connection</a:t>
            </a:r>
          </a:p>
          <a:p>
            <a:pPr marL="0" indent="0">
              <a:buNone/>
            </a:pPr>
            <a:r>
              <a:rPr lang="en-IN" dirty="0">
                <a:latin typeface="Times New Roman" panose="02020603050405020304" pitchFamily="18" charset="0"/>
                <a:cs typeface="Times New Roman" panose="02020603050405020304" pitchFamily="18" charset="0"/>
              </a:rPr>
              <a:t>if ($conn-&gt;</a:t>
            </a:r>
            <a:r>
              <a:rPr lang="en-IN" dirty="0" err="1">
                <a:latin typeface="Times New Roman" panose="02020603050405020304" pitchFamily="18" charset="0"/>
                <a:cs typeface="Times New Roman" panose="02020603050405020304" pitchFamily="18" charset="0"/>
              </a:rPr>
              <a:t>connect_error</a:t>
            </a:r>
            <a:r>
              <a:rPr lang="en-IN" dirty="0">
                <a:latin typeface="Times New Roman" panose="02020603050405020304" pitchFamily="18" charset="0"/>
                <a:cs typeface="Times New Roman" panose="02020603050405020304" pitchFamily="18" charset="0"/>
              </a:rPr>
              <a:t>) {</a:t>
            </a:r>
          </a:p>
          <a:p>
            <a:pPr marL="0" indent="0">
              <a:buNone/>
            </a:pPr>
            <a:r>
              <a:rPr lang="en-IN" dirty="0">
                <a:latin typeface="Times New Roman" panose="02020603050405020304" pitchFamily="18" charset="0"/>
                <a:cs typeface="Times New Roman" panose="02020603050405020304" pitchFamily="18" charset="0"/>
              </a:rPr>
              <a:t>  die("Connection failed: " . $conn-&gt;</a:t>
            </a:r>
            <a:r>
              <a:rPr lang="en-IN" dirty="0" err="1">
                <a:latin typeface="Times New Roman" panose="02020603050405020304" pitchFamily="18" charset="0"/>
                <a:cs typeface="Times New Roman" panose="02020603050405020304" pitchFamily="18" charset="0"/>
              </a:rPr>
              <a:t>connect_error</a:t>
            </a:r>
            <a:r>
              <a:rPr lang="en-IN" dirty="0">
                <a:latin typeface="Times New Roman" panose="02020603050405020304" pitchFamily="18" charset="0"/>
                <a:cs typeface="Times New Roman" panose="02020603050405020304" pitchFamily="18" charset="0"/>
              </a:rPr>
              <a:t>);</a:t>
            </a:r>
          </a:p>
          <a:p>
            <a:pPr marL="0" indent="0">
              <a:buNone/>
            </a:pPr>
            <a:r>
              <a:rPr lang="en-IN" dirty="0">
                <a:latin typeface="Times New Roman" panose="02020603050405020304" pitchFamily="18" charset="0"/>
                <a:cs typeface="Times New Roman" panose="02020603050405020304" pitchFamily="18" charset="0"/>
              </a:rPr>
              <a:t>}</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649073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ECD7A6-2884-E277-13BE-8B8AC50B0411}"/>
              </a:ext>
            </a:extLst>
          </p:cNvPr>
          <p:cNvSpPr>
            <a:spLocks noGrp="1"/>
          </p:cNvSpPr>
          <p:nvPr>
            <p:ph idx="1"/>
          </p:nvPr>
        </p:nvSpPr>
        <p:spPr/>
        <p:txBody>
          <a:bodyPr>
            <a:normAutofit fontScale="85000" lnSpcReduction="20000"/>
          </a:bodyPr>
          <a:lstStyle/>
          <a:p>
            <a:pPr marL="0" indent="0">
              <a:buNone/>
            </a:pP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sql</a:t>
            </a:r>
            <a:r>
              <a:rPr lang="en-IN" dirty="0">
                <a:latin typeface="Times New Roman" panose="02020603050405020304" pitchFamily="18" charset="0"/>
                <a:cs typeface="Times New Roman" panose="02020603050405020304" pitchFamily="18" charset="0"/>
              </a:rPr>
              <a:t> = "INSERT INTO login (Name, email)</a:t>
            </a:r>
          </a:p>
          <a:p>
            <a:pPr marL="0" indent="0">
              <a:buNone/>
            </a:pPr>
            <a:r>
              <a:rPr lang="en-IN" dirty="0">
                <a:latin typeface="Times New Roman" panose="02020603050405020304" pitchFamily="18" charset="0"/>
                <a:cs typeface="Times New Roman" panose="02020603050405020304" pitchFamily="18" charset="0"/>
              </a:rPr>
              <a:t>VALUES ('$</a:t>
            </a:r>
            <a:r>
              <a:rPr lang="en-IN" dirty="0" err="1">
                <a:latin typeface="Times New Roman" panose="02020603050405020304" pitchFamily="18" charset="0"/>
                <a:cs typeface="Times New Roman" panose="02020603050405020304" pitchFamily="18" charset="0"/>
              </a:rPr>
              <a:t>x','$y</a:t>
            </a:r>
            <a:r>
              <a:rPr lang="en-IN" dirty="0">
                <a:latin typeface="Times New Roman" panose="02020603050405020304" pitchFamily="18" charset="0"/>
                <a:cs typeface="Times New Roman" panose="02020603050405020304" pitchFamily="18" charset="0"/>
              </a:rPr>
              <a:t>')";</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if ($conn-&gt;query($</a:t>
            </a:r>
            <a:r>
              <a:rPr lang="en-IN" dirty="0" err="1">
                <a:latin typeface="Times New Roman" panose="02020603050405020304" pitchFamily="18" charset="0"/>
                <a:cs typeface="Times New Roman" panose="02020603050405020304" pitchFamily="18" charset="0"/>
              </a:rPr>
              <a:t>sql</a:t>
            </a:r>
            <a:r>
              <a:rPr lang="en-IN" dirty="0">
                <a:latin typeface="Times New Roman" panose="02020603050405020304" pitchFamily="18" charset="0"/>
                <a:cs typeface="Times New Roman" panose="02020603050405020304" pitchFamily="18" charset="0"/>
              </a:rPr>
              <a:t>) === TRUE) {</a:t>
            </a:r>
          </a:p>
          <a:p>
            <a:pPr marL="0" indent="0">
              <a:buNone/>
            </a:pPr>
            <a:r>
              <a:rPr lang="en-IN" dirty="0">
                <a:latin typeface="Times New Roman" panose="02020603050405020304" pitchFamily="18" charset="0"/>
                <a:cs typeface="Times New Roman" panose="02020603050405020304" pitchFamily="18" charset="0"/>
              </a:rPr>
              <a:t>  echo "New record created successfully";</a:t>
            </a:r>
          </a:p>
          <a:p>
            <a:pPr marL="0" indent="0">
              <a:buNone/>
            </a:pPr>
            <a:r>
              <a:rPr lang="en-IN" dirty="0">
                <a:latin typeface="Times New Roman" panose="02020603050405020304" pitchFamily="18" charset="0"/>
                <a:cs typeface="Times New Roman" panose="02020603050405020304" pitchFamily="18" charset="0"/>
              </a:rPr>
              <a:t>} else {</a:t>
            </a:r>
          </a:p>
          <a:p>
            <a:pPr marL="0" indent="0">
              <a:buNone/>
            </a:pPr>
            <a:r>
              <a:rPr lang="en-IN" dirty="0">
                <a:latin typeface="Times New Roman" panose="02020603050405020304" pitchFamily="18" charset="0"/>
                <a:cs typeface="Times New Roman" panose="02020603050405020304" pitchFamily="18" charset="0"/>
              </a:rPr>
              <a:t>  echo "Error: " . $</a:t>
            </a:r>
            <a:r>
              <a:rPr lang="en-IN" dirty="0" err="1">
                <a:latin typeface="Times New Roman" panose="02020603050405020304" pitchFamily="18" charset="0"/>
                <a:cs typeface="Times New Roman" panose="02020603050405020304" pitchFamily="18" charset="0"/>
              </a:rPr>
              <a:t>sql</a:t>
            </a:r>
            <a:r>
              <a:rPr lang="en-IN" dirty="0">
                <a:latin typeface="Times New Roman" panose="02020603050405020304" pitchFamily="18" charset="0"/>
                <a:cs typeface="Times New Roman" panose="02020603050405020304" pitchFamily="18" charset="0"/>
              </a:rPr>
              <a:t> . "&lt;</a:t>
            </a:r>
            <a:r>
              <a:rPr lang="en-IN" dirty="0" err="1">
                <a:latin typeface="Times New Roman" panose="02020603050405020304" pitchFamily="18" charset="0"/>
                <a:cs typeface="Times New Roman" panose="02020603050405020304" pitchFamily="18" charset="0"/>
              </a:rPr>
              <a:t>br</a:t>
            </a:r>
            <a:r>
              <a:rPr lang="en-IN" dirty="0">
                <a:latin typeface="Times New Roman" panose="02020603050405020304" pitchFamily="18" charset="0"/>
                <a:cs typeface="Times New Roman" panose="02020603050405020304" pitchFamily="18" charset="0"/>
              </a:rPr>
              <a:t>&gt;" . $conn-&gt;error;</a:t>
            </a:r>
          </a:p>
          <a:p>
            <a:pPr marL="0" indent="0">
              <a:buNone/>
            </a:pPr>
            <a:r>
              <a:rPr lang="en-IN" dirty="0">
                <a:latin typeface="Times New Roman" panose="02020603050405020304" pitchFamily="18" charset="0"/>
                <a:cs typeface="Times New Roman" panose="02020603050405020304" pitchFamily="18" charset="0"/>
              </a:rPr>
              <a:t>}</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$conn-&gt;close();</a:t>
            </a:r>
          </a:p>
          <a:p>
            <a:pPr marL="0" indent="0">
              <a:buNone/>
            </a:pPr>
            <a:r>
              <a:rPr lang="en-IN" dirty="0">
                <a:latin typeface="Times New Roman" panose="02020603050405020304" pitchFamily="18" charset="0"/>
                <a:cs typeface="Times New Roman" panose="02020603050405020304" pitchFamily="18" charset="0"/>
              </a:rPr>
              <a:t>?&gt;</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06301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88FA4A4A974D54E8EF3CF1F8921BA09" ma:contentTypeVersion="3" ma:contentTypeDescription="Create a new document." ma:contentTypeScope="" ma:versionID="d7ae88f0a332b40e5260dcdf0b06131e">
  <xsd:schema xmlns:xsd="http://www.w3.org/2001/XMLSchema" xmlns:xs="http://www.w3.org/2001/XMLSchema" xmlns:p="http://schemas.microsoft.com/office/2006/metadata/properties" xmlns:ns2="c1ac3b6e-c3ea-4cbf-a06a-c0c6c6a25c6e" targetNamespace="http://schemas.microsoft.com/office/2006/metadata/properties" ma:root="true" ma:fieldsID="e38513e3120375bb0272613386818226" ns2:_="">
    <xsd:import namespace="c1ac3b6e-c3ea-4cbf-a06a-c0c6c6a25c6e"/>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1ac3b6e-c3ea-4cbf-a06a-c0c6c6a25c6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1A54CDF-7A59-492C-855F-B7FB83882DCA}"/>
</file>

<file path=customXml/itemProps2.xml><?xml version="1.0" encoding="utf-8"?>
<ds:datastoreItem xmlns:ds="http://schemas.openxmlformats.org/officeDocument/2006/customXml" ds:itemID="{E2108AD8-7597-477C-A06D-B53B130DA2BB}"/>
</file>

<file path=customXml/itemProps3.xml><?xml version="1.0" encoding="utf-8"?>
<ds:datastoreItem xmlns:ds="http://schemas.openxmlformats.org/officeDocument/2006/customXml" ds:itemID="{4BEDF620-2386-4437-BD91-670A7C46D622}"/>
</file>

<file path=docProps/app.xml><?xml version="1.0" encoding="utf-8"?>
<Properties xmlns="http://schemas.openxmlformats.org/officeDocument/2006/extended-properties" xmlns:vt="http://schemas.openxmlformats.org/officeDocument/2006/docPropsVTypes">
  <TotalTime>6991</TotalTime>
  <Words>4423</Words>
  <Application>Microsoft Office PowerPoint</Application>
  <PresentationFormat>Widescreen</PresentationFormat>
  <Paragraphs>608</Paragraphs>
  <Slides>81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81</vt:i4>
      </vt:variant>
    </vt:vector>
  </HeadingPairs>
  <TitlesOfParts>
    <vt:vector size="87" baseType="lpstr">
      <vt:lpstr>Arial</vt:lpstr>
      <vt:lpstr>Calibri</vt:lpstr>
      <vt:lpstr>Calibri Light</vt:lpstr>
      <vt:lpstr>Noto Serif CJK SC</vt:lpstr>
      <vt:lpstr>Times New Roman</vt:lpstr>
      <vt:lpstr>Office Theme</vt:lpstr>
      <vt:lpstr>MODULE III:   PHP </vt:lpstr>
      <vt:lpstr>File Handling</vt:lpstr>
      <vt:lpstr>PowerPoint Presentation</vt:lpstr>
      <vt:lpstr>Example</vt:lpstr>
      <vt:lpstr>Output</vt:lpstr>
      <vt:lpstr>PHP Open File - fopen()</vt:lpstr>
      <vt:lpstr>Example</vt:lpstr>
      <vt:lpstr>The file may be opened in one of the following modes:</vt:lpstr>
      <vt:lpstr>PHP Read File - fread()</vt:lpstr>
      <vt:lpstr>PHP Close File - fclose()</vt:lpstr>
      <vt:lpstr>PHP Read Single Line - fgets()</vt:lpstr>
      <vt:lpstr>PHP Check End-Of-File - feof()</vt:lpstr>
      <vt:lpstr>PHP Read Single Character - fgetc()</vt:lpstr>
      <vt:lpstr>PHP Write to File - fwrite()</vt:lpstr>
      <vt:lpstr>PowerPoint Presentation</vt:lpstr>
      <vt:lpstr>PHP Overwriting</vt:lpstr>
      <vt:lpstr>PowerPoint Presentation</vt:lpstr>
      <vt:lpstr>PHP Append Text</vt:lpstr>
      <vt:lpstr>PowerPoint Presentation</vt:lpstr>
      <vt:lpstr>PowerPoint Presentation</vt:lpstr>
      <vt:lpstr>PHP What is OOP?</vt:lpstr>
      <vt:lpstr>Object-oriented programming has several advantages over procedural programming:</vt:lpstr>
      <vt:lpstr>PHP - What are Classes and Objects?</vt:lpstr>
      <vt:lpstr>PowerPoint Presentation</vt:lpstr>
      <vt:lpstr>OOP Case</vt:lpstr>
      <vt:lpstr>Define a Class</vt:lpstr>
      <vt:lpstr>Example</vt:lpstr>
      <vt:lpstr>PowerPoint Presentation</vt:lpstr>
      <vt:lpstr>Define Objects</vt:lpstr>
      <vt:lpstr>Example</vt:lpstr>
      <vt:lpstr>In the example below, we add two more methods to class Fruit, for setting and getting the $color property:</vt:lpstr>
      <vt:lpstr>The $this Keyword</vt:lpstr>
      <vt:lpstr>PowerPoint Presentation</vt:lpstr>
      <vt:lpstr>PowerPoint Presentation</vt:lpstr>
      <vt:lpstr>PHP – instanceof : keyword to check if an object belongs to a specific class:</vt:lpstr>
      <vt:lpstr>The __construct Function</vt:lpstr>
      <vt:lpstr>PowerPoint Presentation</vt:lpstr>
      <vt:lpstr>The __destruct Function</vt:lpstr>
      <vt:lpstr>Example:</vt:lpstr>
      <vt:lpstr>Access Modifiers</vt:lpstr>
      <vt:lpstr>Example</vt:lpstr>
      <vt:lpstr>OOP - Inheritance</vt:lpstr>
      <vt:lpstr>Example</vt:lpstr>
      <vt:lpstr>PowerPoint Presentation</vt:lpstr>
      <vt:lpstr>Inheritance and the Protected Access Modifier</vt:lpstr>
      <vt:lpstr>Example: 1</vt:lpstr>
      <vt:lpstr>PowerPoint Presentation</vt:lpstr>
      <vt:lpstr>PowerPoint Presentation</vt:lpstr>
      <vt:lpstr>Example: 2</vt:lpstr>
      <vt:lpstr>PowerPoint Presentation</vt:lpstr>
      <vt:lpstr>PHP MySQL Database</vt:lpstr>
      <vt:lpstr>PowerPoint Presentation</vt:lpstr>
      <vt:lpstr>PHP Connect to MySQL</vt:lpstr>
      <vt:lpstr>Example (MySQLi Object-Oriented)</vt:lpstr>
      <vt:lpstr>PHP Create a MySQL Database</vt:lpstr>
      <vt:lpstr>PowerPoint Presentation</vt:lpstr>
      <vt:lpstr>PHP MySQL Create Table</vt:lpstr>
      <vt:lpstr>PowerPoint Presentation</vt:lpstr>
      <vt:lpstr>PowerPoint Presentation</vt:lpstr>
      <vt:lpstr>PHP MySQL Insert Data</vt:lpstr>
      <vt:lpstr>PowerPoint Presentation</vt:lpstr>
      <vt:lpstr>Example</vt:lpstr>
      <vt:lpstr>PowerPoint Presentation</vt:lpstr>
      <vt:lpstr>PHP MySQL Insert Multiple Records</vt:lpstr>
      <vt:lpstr>PowerPoint Presentation</vt:lpstr>
      <vt:lpstr>PHP MySQL Select Data</vt:lpstr>
      <vt:lpstr>Example</vt:lpstr>
      <vt:lpstr>PowerPoint Presentation</vt:lpstr>
      <vt:lpstr>PowerPoint Presentation</vt:lpstr>
      <vt:lpstr>PHP MySQL Use The WHERE Clause</vt:lpstr>
      <vt:lpstr>Example</vt:lpstr>
      <vt:lpstr>PowerPoint Presentation</vt:lpstr>
      <vt:lpstr>PHP MySQL Delete Data</vt:lpstr>
      <vt:lpstr>Example</vt:lpstr>
      <vt:lpstr>PowerPoint Presentation</vt:lpstr>
      <vt:lpstr>PHP MySQL Update Data</vt:lpstr>
      <vt:lpstr>Example</vt:lpstr>
      <vt:lpstr>PowerPoint Presentation</vt:lpstr>
      <vt:lpstr>Example:  student.html</vt:lpstr>
      <vt:lpstr>Student.php</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III:   PHP</dc:title>
  <dc:creator>Gnanakumar Ganesan</dc:creator>
  <cp:lastModifiedBy>Admin</cp:lastModifiedBy>
  <cp:revision>3</cp:revision>
  <dcterms:created xsi:type="dcterms:W3CDTF">2022-11-15T03:29:31Z</dcterms:created>
  <dcterms:modified xsi:type="dcterms:W3CDTF">2024-12-16T05:04:55Z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0x010100888FA4A4A974D54E8EF3CF1F8921BA09</vt:lpwstr>
  </property>
</Properties>
</file>